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F3F3F3"/>
                </a:solidFill>
                <a:latin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F3F3F3"/>
                </a:solidFill>
                <a:latin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F3F3F3"/>
                </a:solidFill>
                <a:latin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F3F3F3"/>
                </a:solidFill>
                <a:latin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090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578421" y="0"/>
            <a:ext cx="4613910" cy="4690745"/>
          </a:xfrm>
          <a:custGeom>
            <a:avLst/>
            <a:gdLst/>
            <a:ahLst/>
            <a:cxnLst/>
            <a:rect l="l" t="t" r="r" b="b"/>
            <a:pathLst>
              <a:path w="4613909" h="4690745">
                <a:moveTo>
                  <a:pt x="4613577" y="0"/>
                </a:moveTo>
                <a:lnTo>
                  <a:pt x="1095962" y="0"/>
                </a:lnTo>
                <a:lnTo>
                  <a:pt x="0" y="3011125"/>
                </a:lnTo>
                <a:lnTo>
                  <a:pt x="4613577" y="4690334"/>
                </a:lnTo>
                <a:lnTo>
                  <a:pt x="4613577" y="0"/>
                </a:lnTo>
                <a:close/>
              </a:path>
            </a:pathLst>
          </a:custGeom>
          <a:solidFill>
            <a:srgbClr val="6B0F15">
              <a:alpha val="2196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3911648"/>
            <a:ext cx="3257550" cy="2946400"/>
          </a:xfrm>
          <a:custGeom>
            <a:avLst/>
            <a:gdLst/>
            <a:ahLst/>
            <a:cxnLst/>
            <a:rect l="l" t="t" r="r" b="b"/>
            <a:pathLst>
              <a:path w="3257550" h="2946400">
                <a:moveTo>
                  <a:pt x="3256935" y="872668"/>
                </a:moveTo>
                <a:lnTo>
                  <a:pt x="0" y="0"/>
                </a:lnTo>
                <a:lnTo>
                  <a:pt x="0" y="2946351"/>
                </a:lnTo>
                <a:lnTo>
                  <a:pt x="2701309" y="2946351"/>
                </a:lnTo>
                <a:lnTo>
                  <a:pt x="3256935" y="872668"/>
                </a:lnTo>
                <a:close/>
              </a:path>
            </a:pathLst>
          </a:custGeom>
          <a:solidFill>
            <a:srgbClr val="6B0F15">
              <a:alpha val="1490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7380" y="782663"/>
            <a:ext cx="10937239" cy="666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F3F3F3"/>
                </a:solidFill>
                <a:latin typeface="Arial" panose="020B0604020202090204"/>
                <a:cs typeface="Arial" panose="020B060402020209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7700" y="1685290"/>
            <a:ext cx="6477000" cy="2270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21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73100" y="1485747"/>
            <a:ext cx="41281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H</a:t>
            </a:r>
            <a:r>
              <a:rPr sz="1000" b="1" spc="-3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000" b="1" spc="48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000" b="1" spc="-3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000" b="1" spc="-3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G</a:t>
            </a:r>
            <a:r>
              <a:rPr sz="1000" b="1" spc="47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000" b="1" spc="-3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B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-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F</a:t>
            </a:r>
            <a:r>
              <a:rPr sz="1000" b="1" spc="-3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000" b="1" spc="48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X</a:t>
            </a:r>
            <a:r>
              <a:rPr sz="1000" b="1" spc="-3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000" b="1" spc="-3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000" b="1" spc="-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000" b="1" spc="-3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spc="-5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N</a:t>
            </a:r>
            <a:endParaRPr sz="1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27380" y="1939836"/>
            <a:ext cx="4210050" cy="15646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6120"/>
              </a:lnSpc>
              <a:spcBef>
                <a:spcPts val="80"/>
              </a:spcBef>
            </a:pPr>
            <a:r>
              <a:rPr sz="5000" spc="55" dirty="0"/>
              <a:t>CREDIT</a:t>
            </a:r>
            <a:r>
              <a:rPr sz="5000" spc="225" dirty="0"/>
              <a:t> </a:t>
            </a:r>
            <a:r>
              <a:rPr sz="5000" spc="-20" dirty="0"/>
              <a:t>RISK </a:t>
            </a:r>
            <a:r>
              <a:rPr sz="5000" spc="55" dirty="0">
                <a:solidFill>
                  <a:srgbClr val="E1001A"/>
                </a:solidFill>
              </a:rPr>
              <a:t>PREDICTION</a:t>
            </a:r>
            <a:endParaRPr sz="5000"/>
          </a:p>
        </p:txBody>
      </p:sp>
      <p:sp>
        <p:nvSpPr>
          <p:cNvPr id="6" name="object 6"/>
          <p:cNvSpPr/>
          <p:nvPr/>
        </p:nvSpPr>
        <p:spPr>
          <a:xfrm>
            <a:off x="713231" y="3794759"/>
            <a:ext cx="1280160" cy="41275"/>
          </a:xfrm>
          <a:custGeom>
            <a:avLst/>
            <a:gdLst/>
            <a:ahLst/>
            <a:cxnLst/>
            <a:rect l="l" t="t" r="r" b="b"/>
            <a:pathLst>
              <a:path w="1280160" h="41275">
                <a:moveTo>
                  <a:pt x="1280160" y="0"/>
                </a:moveTo>
                <a:lnTo>
                  <a:pt x="0" y="0"/>
                </a:lnTo>
                <a:lnTo>
                  <a:pt x="0" y="41148"/>
                </a:lnTo>
                <a:lnTo>
                  <a:pt x="1280160" y="41148"/>
                </a:lnTo>
                <a:lnTo>
                  <a:pt x="1280160" y="0"/>
                </a:lnTo>
                <a:close/>
              </a:path>
            </a:pathLst>
          </a:custGeom>
          <a:solidFill>
            <a:srgbClr val="E100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73100" y="4021607"/>
            <a:ext cx="13201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G</a:t>
            </a:r>
            <a:r>
              <a:rPr sz="1600" b="1" spc="-145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600" b="1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600" b="1" spc="-145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600" b="1" spc="-2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600" b="1" spc="-14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600" b="1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600" b="1" spc="-145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600" b="1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P</a:t>
            </a:r>
            <a:r>
              <a:rPr sz="1600" b="1" spc="8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 </a:t>
            </a:r>
            <a:r>
              <a:rPr sz="1600" b="1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0</a:t>
            </a:r>
            <a:r>
              <a:rPr sz="1600" b="1" spc="-14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600" b="1" spc="-5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9</a:t>
            </a:r>
            <a:endParaRPr sz="16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0531" y="4539767"/>
            <a:ext cx="1289685" cy="10134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600" spc="-1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241BCADA01</a:t>
            </a:r>
            <a:endParaRPr sz="1600">
              <a:latin typeface="Arial" panose="020B0604020202090204"/>
              <a:cs typeface="Arial" panose="020B0604020202090204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600" spc="-1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241BCADA27</a:t>
            </a:r>
            <a:endParaRPr sz="1600">
              <a:latin typeface="Arial" panose="020B0604020202090204"/>
              <a:cs typeface="Arial" panose="020B0604020202090204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600" spc="-1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241BCADA38</a:t>
            </a:r>
            <a:endParaRPr sz="16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03651" y="4539767"/>
            <a:ext cx="1289685" cy="10134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600" spc="-1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241BCADA41</a:t>
            </a:r>
            <a:endParaRPr sz="1600">
              <a:latin typeface="Arial" panose="020B0604020202090204"/>
              <a:cs typeface="Arial" panose="020B0604020202090204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600" spc="-1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241BCADA49</a:t>
            </a:r>
            <a:endParaRPr sz="1600">
              <a:latin typeface="Arial" panose="020B0604020202090204"/>
              <a:cs typeface="Arial" panose="020B0604020202090204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600" spc="-1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241BCADA65</a:t>
            </a:r>
            <a:endParaRPr sz="16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110935" y="822960"/>
            <a:ext cx="0" cy="5212080"/>
          </a:xfrm>
          <a:custGeom>
            <a:avLst/>
            <a:gdLst/>
            <a:ahLst/>
            <a:cxnLst/>
            <a:rect l="l" t="t" r="r" b="b"/>
            <a:pathLst>
              <a:path h="5212080">
                <a:moveTo>
                  <a:pt x="0" y="0"/>
                </a:moveTo>
                <a:lnTo>
                  <a:pt x="0" y="5212080"/>
                </a:lnTo>
              </a:path>
            </a:pathLst>
          </a:custGeom>
          <a:ln w="12699">
            <a:solidFill>
              <a:srgbClr val="2C2C3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476695" y="640080"/>
            <a:ext cx="5577839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530351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4">
                <a:moveTo>
                  <a:pt x="146304" y="0"/>
                </a:moveTo>
                <a:lnTo>
                  <a:pt x="0" y="0"/>
                </a:lnTo>
                <a:lnTo>
                  <a:pt x="0" y="146303"/>
                </a:lnTo>
                <a:lnTo>
                  <a:pt x="146304" y="146303"/>
                </a:lnTo>
                <a:lnTo>
                  <a:pt x="146304" y="0"/>
                </a:lnTo>
                <a:close/>
              </a:path>
            </a:pathLst>
          </a:custGeom>
          <a:solidFill>
            <a:srgbClr val="E100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29132" y="513169"/>
            <a:ext cx="27895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100" b="1" spc="-2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100" b="1" spc="-2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G</a:t>
            </a:r>
            <a:r>
              <a:rPr sz="1100" b="1" spc="1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H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100" b="1" spc="13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100" b="1" spc="-1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-5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K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90" dirty="0"/>
              <a:t> </a:t>
            </a:r>
            <a:r>
              <a:rPr dirty="0"/>
              <a:t>STATEMENT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spc="-10" dirty="0"/>
              <a:t>OBJECTIVE</a:t>
            </a:r>
            <a:endParaRPr spc="-10" dirty="0"/>
          </a:p>
        </p:txBody>
      </p:sp>
      <p:grpSp>
        <p:nvGrpSpPr>
          <p:cNvPr id="5" name="object 5"/>
          <p:cNvGrpSpPr/>
          <p:nvPr/>
        </p:nvGrpSpPr>
        <p:grpSpPr>
          <a:xfrm>
            <a:off x="679450" y="1685289"/>
            <a:ext cx="3449320" cy="4676140"/>
            <a:chOff x="679450" y="1685289"/>
            <a:chExt cx="3449320" cy="4676140"/>
          </a:xfrm>
        </p:grpSpPr>
        <p:sp>
          <p:nvSpPr>
            <p:cNvPr id="6" name="object 6"/>
            <p:cNvSpPr/>
            <p:nvPr/>
          </p:nvSpPr>
          <p:spPr>
            <a:xfrm>
              <a:off x="685800" y="1691639"/>
              <a:ext cx="3436620" cy="4663440"/>
            </a:xfrm>
            <a:custGeom>
              <a:avLst/>
              <a:gdLst/>
              <a:ahLst/>
              <a:cxnLst/>
              <a:rect l="l" t="t" r="r" b="b"/>
              <a:pathLst>
                <a:path w="3436620" h="4663440">
                  <a:moveTo>
                    <a:pt x="3362858" y="0"/>
                  </a:moveTo>
                  <a:lnTo>
                    <a:pt x="73152" y="0"/>
                  </a:lnTo>
                  <a:lnTo>
                    <a:pt x="44792" y="5786"/>
                  </a:lnTo>
                  <a:lnTo>
                    <a:pt x="21527" y="21526"/>
                  </a:lnTo>
                  <a:lnTo>
                    <a:pt x="5786" y="44791"/>
                  </a:lnTo>
                  <a:lnTo>
                    <a:pt x="0" y="73151"/>
                  </a:lnTo>
                  <a:lnTo>
                    <a:pt x="0" y="4590288"/>
                  </a:lnTo>
                  <a:lnTo>
                    <a:pt x="5786" y="4618648"/>
                  </a:lnTo>
                  <a:lnTo>
                    <a:pt x="21527" y="4641913"/>
                  </a:lnTo>
                  <a:lnTo>
                    <a:pt x="44792" y="4657653"/>
                  </a:lnTo>
                  <a:lnTo>
                    <a:pt x="73152" y="4663440"/>
                  </a:lnTo>
                  <a:lnTo>
                    <a:pt x="3362858" y="4663440"/>
                  </a:lnTo>
                  <a:lnTo>
                    <a:pt x="3391219" y="4657653"/>
                  </a:lnTo>
                  <a:lnTo>
                    <a:pt x="3414483" y="4641913"/>
                  </a:lnTo>
                  <a:lnTo>
                    <a:pt x="3430223" y="4618648"/>
                  </a:lnTo>
                  <a:lnTo>
                    <a:pt x="3436010" y="4590288"/>
                  </a:lnTo>
                  <a:lnTo>
                    <a:pt x="3436010" y="73151"/>
                  </a:lnTo>
                  <a:lnTo>
                    <a:pt x="3430223" y="44791"/>
                  </a:lnTo>
                  <a:lnTo>
                    <a:pt x="3414483" y="21526"/>
                  </a:lnTo>
                  <a:lnTo>
                    <a:pt x="3391219" y="5786"/>
                  </a:lnTo>
                  <a:lnTo>
                    <a:pt x="3362858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800" y="1691639"/>
              <a:ext cx="3436620" cy="4663440"/>
            </a:xfrm>
            <a:custGeom>
              <a:avLst/>
              <a:gdLst/>
              <a:ahLst/>
              <a:cxnLst/>
              <a:rect l="l" t="t" r="r" b="b"/>
              <a:pathLst>
                <a:path w="3436620" h="4663440">
                  <a:moveTo>
                    <a:pt x="0" y="73151"/>
                  </a:moveTo>
                  <a:lnTo>
                    <a:pt x="5786" y="44791"/>
                  </a:lnTo>
                  <a:lnTo>
                    <a:pt x="21527" y="21526"/>
                  </a:lnTo>
                  <a:lnTo>
                    <a:pt x="44792" y="5786"/>
                  </a:lnTo>
                  <a:lnTo>
                    <a:pt x="73152" y="0"/>
                  </a:lnTo>
                  <a:lnTo>
                    <a:pt x="3362858" y="0"/>
                  </a:lnTo>
                  <a:lnTo>
                    <a:pt x="3391219" y="5786"/>
                  </a:lnTo>
                  <a:lnTo>
                    <a:pt x="3414483" y="21526"/>
                  </a:lnTo>
                  <a:lnTo>
                    <a:pt x="3430223" y="44791"/>
                  </a:lnTo>
                  <a:lnTo>
                    <a:pt x="3436010" y="73151"/>
                  </a:lnTo>
                  <a:lnTo>
                    <a:pt x="3436010" y="4590288"/>
                  </a:lnTo>
                  <a:lnTo>
                    <a:pt x="3430223" y="4618648"/>
                  </a:lnTo>
                  <a:lnTo>
                    <a:pt x="3414483" y="4641913"/>
                  </a:lnTo>
                  <a:lnTo>
                    <a:pt x="3391219" y="4657653"/>
                  </a:lnTo>
                  <a:lnTo>
                    <a:pt x="3362858" y="4663440"/>
                  </a:lnTo>
                  <a:lnTo>
                    <a:pt x="73152" y="4663440"/>
                  </a:lnTo>
                  <a:lnTo>
                    <a:pt x="44792" y="4657653"/>
                  </a:lnTo>
                  <a:lnTo>
                    <a:pt x="21527" y="4641913"/>
                  </a:lnTo>
                  <a:lnTo>
                    <a:pt x="5786" y="4618648"/>
                  </a:lnTo>
                  <a:lnTo>
                    <a:pt x="0" y="459028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78408" y="2002535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80" h="55244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65708" y="2159546"/>
            <a:ext cx="12407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PROBLEM STATEMENT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03452" y="2996857"/>
            <a:ext cx="2498725" cy="404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risk</a:t>
            </a:r>
            <a:r>
              <a:rPr sz="1150" spc="-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assessment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is</a:t>
            </a:r>
            <a:r>
              <a:rPr sz="1150" spc="-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an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important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task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in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retail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banking.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78408" y="3177539"/>
            <a:ext cx="82550" cy="2185670"/>
            <a:chOff x="978408" y="3177539"/>
            <a:chExt cx="82550" cy="2185670"/>
          </a:xfrm>
        </p:grpSpPr>
        <p:pic>
          <p:nvPicPr>
            <p:cNvPr id="11" name="object 1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78408" y="3177539"/>
              <a:ext cx="82295" cy="8229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78408" y="4229100"/>
              <a:ext cx="82295" cy="8229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78408" y="5280660"/>
              <a:ext cx="82295" cy="8229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203452" y="4048416"/>
            <a:ext cx="2548255" cy="593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The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project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aims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to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predict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whether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applicant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has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Good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or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Bad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 risk.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03452" y="5099977"/>
            <a:ext cx="2216150" cy="404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Incorrect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classification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can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lead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to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financial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losses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for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the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bank.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371492" y="1685289"/>
            <a:ext cx="3449320" cy="4676140"/>
            <a:chOff x="4371492" y="1685289"/>
            <a:chExt cx="3449320" cy="4676140"/>
          </a:xfrm>
        </p:grpSpPr>
        <p:sp>
          <p:nvSpPr>
            <p:cNvPr id="18" name="object 18"/>
            <p:cNvSpPr/>
            <p:nvPr/>
          </p:nvSpPr>
          <p:spPr>
            <a:xfrm>
              <a:off x="4377842" y="1691639"/>
              <a:ext cx="3436620" cy="4663440"/>
            </a:xfrm>
            <a:custGeom>
              <a:avLst/>
              <a:gdLst/>
              <a:ahLst/>
              <a:cxnLst/>
              <a:rect l="l" t="t" r="r" b="b"/>
              <a:pathLst>
                <a:path w="3436620" h="4663440">
                  <a:moveTo>
                    <a:pt x="3362858" y="0"/>
                  </a:moveTo>
                  <a:lnTo>
                    <a:pt x="73152" y="0"/>
                  </a:lnTo>
                  <a:lnTo>
                    <a:pt x="44792" y="5786"/>
                  </a:lnTo>
                  <a:lnTo>
                    <a:pt x="21527" y="21526"/>
                  </a:lnTo>
                  <a:lnTo>
                    <a:pt x="5786" y="44791"/>
                  </a:lnTo>
                  <a:lnTo>
                    <a:pt x="0" y="73151"/>
                  </a:lnTo>
                  <a:lnTo>
                    <a:pt x="0" y="4590288"/>
                  </a:lnTo>
                  <a:lnTo>
                    <a:pt x="5786" y="4618648"/>
                  </a:lnTo>
                  <a:lnTo>
                    <a:pt x="21527" y="4641913"/>
                  </a:lnTo>
                  <a:lnTo>
                    <a:pt x="44792" y="4657653"/>
                  </a:lnTo>
                  <a:lnTo>
                    <a:pt x="73152" y="4663440"/>
                  </a:lnTo>
                  <a:lnTo>
                    <a:pt x="3362858" y="4663440"/>
                  </a:lnTo>
                  <a:lnTo>
                    <a:pt x="3391219" y="4657653"/>
                  </a:lnTo>
                  <a:lnTo>
                    <a:pt x="3414483" y="4641913"/>
                  </a:lnTo>
                  <a:lnTo>
                    <a:pt x="3430223" y="4618648"/>
                  </a:lnTo>
                  <a:lnTo>
                    <a:pt x="3436010" y="4590288"/>
                  </a:lnTo>
                  <a:lnTo>
                    <a:pt x="3436010" y="73151"/>
                  </a:lnTo>
                  <a:lnTo>
                    <a:pt x="3430223" y="44791"/>
                  </a:lnTo>
                  <a:lnTo>
                    <a:pt x="3414483" y="21526"/>
                  </a:lnTo>
                  <a:lnTo>
                    <a:pt x="3391219" y="5786"/>
                  </a:lnTo>
                  <a:lnTo>
                    <a:pt x="3362858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77842" y="1691639"/>
              <a:ext cx="3436620" cy="4663440"/>
            </a:xfrm>
            <a:custGeom>
              <a:avLst/>
              <a:gdLst/>
              <a:ahLst/>
              <a:cxnLst/>
              <a:rect l="l" t="t" r="r" b="b"/>
              <a:pathLst>
                <a:path w="3436620" h="4663440">
                  <a:moveTo>
                    <a:pt x="0" y="73151"/>
                  </a:moveTo>
                  <a:lnTo>
                    <a:pt x="5786" y="44791"/>
                  </a:lnTo>
                  <a:lnTo>
                    <a:pt x="21527" y="21526"/>
                  </a:lnTo>
                  <a:lnTo>
                    <a:pt x="44792" y="5786"/>
                  </a:lnTo>
                  <a:lnTo>
                    <a:pt x="73152" y="0"/>
                  </a:lnTo>
                  <a:lnTo>
                    <a:pt x="3362858" y="0"/>
                  </a:lnTo>
                  <a:lnTo>
                    <a:pt x="3391219" y="5786"/>
                  </a:lnTo>
                  <a:lnTo>
                    <a:pt x="3414483" y="21526"/>
                  </a:lnTo>
                  <a:lnTo>
                    <a:pt x="3430223" y="44791"/>
                  </a:lnTo>
                  <a:lnTo>
                    <a:pt x="3436010" y="73151"/>
                  </a:lnTo>
                  <a:lnTo>
                    <a:pt x="3436010" y="4590288"/>
                  </a:lnTo>
                  <a:lnTo>
                    <a:pt x="3430223" y="4618648"/>
                  </a:lnTo>
                  <a:lnTo>
                    <a:pt x="3414483" y="4641913"/>
                  </a:lnTo>
                  <a:lnTo>
                    <a:pt x="3391219" y="4657653"/>
                  </a:lnTo>
                  <a:lnTo>
                    <a:pt x="3362858" y="4663440"/>
                  </a:lnTo>
                  <a:lnTo>
                    <a:pt x="73152" y="4663440"/>
                  </a:lnTo>
                  <a:lnTo>
                    <a:pt x="44792" y="4657653"/>
                  </a:lnTo>
                  <a:lnTo>
                    <a:pt x="21527" y="4641913"/>
                  </a:lnTo>
                  <a:lnTo>
                    <a:pt x="5786" y="4618648"/>
                  </a:lnTo>
                  <a:lnTo>
                    <a:pt x="0" y="459028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670450" y="2002535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79" h="55244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0450" y="2784347"/>
              <a:ext cx="82295" cy="8229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657750" y="2273846"/>
            <a:ext cx="2446020" cy="73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MAIN</a:t>
            </a:r>
            <a:r>
              <a:rPr sz="1500" b="1" spc="2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OBJECTIVES</a:t>
            </a:r>
            <a:endParaRPr sz="1500">
              <a:latin typeface="Arial" panose="020B0604020202090204"/>
              <a:cs typeface="Arial" panose="020B0604020202090204"/>
            </a:endParaRPr>
          </a:p>
          <a:p>
            <a:pPr marL="250190" marR="5080">
              <a:lnSpc>
                <a:spcPct val="108000"/>
              </a:lnSpc>
              <a:spcBef>
                <a:spcPts val="795"/>
              </a:spcBef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Develop</a:t>
            </a:r>
            <a:r>
              <a:rPr sz="115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an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ML-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based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Risk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Prediction</a:t>
            </a:r>
            <a:r>
              <a:rPr sz="1150" spc="-4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System.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95494" y="3463201"/>
            <a:ext cx="2264410" cy="404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Predict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Good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or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Bad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Risk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of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applicants.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063534" y="1685290"/>
            <a:ext cx="3449320" cy="2161540"/>
            <a:chOff x="8063534" y="1685290"/>
            <a:chExt cx="3449320" cy="2161540"/>
          </a:xfrm>
        </p:grpSpPr>
        <p:sp>
          <p:nvSpPr>
            <p:cNvPr id="31" name="object 31"/>
            <p:cNvSpPr/>
            <p:nvPr/>
          </p:nvSpPr>
          <p:spPr>
            <a:xfrm>
              <a:off x="8069884" y="1691640"/>
              <a:ext cx="3436620" cy="2148840"/>
            </a:xfrm>
            <a:custGeom>
              <a:avLst/>
              <a:gdLst/>
              <a:ahLst/>
              <a:cxnLst/>
              <a:rect l="l" t="t" r="r" b="b"/>
              <a:pathLst>
                <a:path w="3436620" h="2148840">
                  <a:moveTo>
                    <a:pt x="3362858" y="0"/>
                  </a:moveTo>
                  <a:lnTo>
                    <a:pt x="73146" y="0"/>
                  </a:lnTo>
                  <a:lnTo>
                    <a:pt x="44788" y="5786"/>
                  </a:lnTo>
                  <a:lnTo>
                    <a:pt x="21525" y="21524"/>
                  </a:lnTo>
                  <a:lnTo>
                    <a:pt x="5786" y="44785"/>
                  </a:lnTo>
                  <a:lnTo>
                    <a:pt x="0" y="73139"/>
                  </a:lnTo>
                  <a:lnTo>
                    <a:pt x="0" y="2075688"/>
                  </a:lnTo>
                  <a:lnTo>
                    <a:pt x="5786" y="2104048"/>
                  </a:lnTo>
                  <a:lnTo>
                    <a:pt x="21525" y="2127313"/>
                  </a:lnTo>
                  <a:lnTo>
                    <a:pt x="44788" y="2143053"/>
                  </a:lnTo>
                  <a:lnTo>
                    <a:pt x="73146" y="2148840"/>
                  </a:lnTo>
                  <a:lnTo>
                    <a:pt x="3362858" y="2148840"/>
                  </a:lnTo>
                  <a:lnTo>
                    <a:pt x="3391219" y="2143053"/>
                  </a:lnTo>
                  <a:lnTo>
                    <a:pt x="3414483" y="2127313"/>
                  </a:lnTo>
                  <a:lnTo>
                    <a:pt x="3430223" y="2104048"/>
                  </a:lnTo>
                  <a:lnTo>
                    <a:pt x="3436010" y="2075688"/>
                  </a:lnTo>
                  <a:lnTo>
                    <a:pt x="3436010" y="73139"/>
                  </a:lnTo>
                  <a:lnTo>
                    <a:pt x="3430223" y="44785"/>
                  </a:lnTo>
                  <a:lnTo>
                    <a:pt x="3414483" y="21524"/>
                  </a:lnTo>
                  <a:lnTo>
                    <a:pt x="3391219" y="5786"/>
                  </a:lnTo>
                  <a:lnTo>
                    <a:pt x="3362858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069884" y="1691640"/>
              <a:ext cx="3436620" cy="2148840"/>
            </a:xfrm>
            <a:custGeom>
              <a:avLst/>
              <a:gdLst/>
              <a:ahLst/>
              <a:cxnLst/>
              <a:rect l="l" t="t" r="r" b="b"/>
              <a:pathLst>
                <a:path w="3436620" h="2148840">
                  <a:moveTo>
                    <a:pt x="0" y="73139"/>
                  </a:moveTo>
                  <a:lnTo>
                    <a:pt x="5786" y="44785"/>
                  </a:lnTo>
                  <a:lnTo>
                    <a:pt x="21525" y="21524"/>
                  </a:lnTo>
                  <a:lnTo>
                    <a:pt x="44788" y="5786"/>
                  </a:lnTo>
                  <a:lnTo>
                    <a:pt x="73146" y="0"/>
                  </a:lnTo>
                  <a:lnTo>
                    <a:pt x="3362858" y="0"/>
                  </a:lnTo>
                  <a:lnTo>
                    <a:pt x="3391219" y="5786"/>
                  </a:lnTo>
                  <a:lnTo>
                    <a:pt x="3414483" y="21524"/>
                  </a:lnTo>
                  <a:lnTo>
                    <a:pt x="3430223" y="44785"/>
                  </a:lnTo>
                  <a:lnTo>
                    <a:pt x="3436010" y="73139"/>
                  </a:lnTo>
                  <a:lnTo>
                    <a:pt x="3436010" y="2075688"/>
                  </a:lnTo>
                  <a:lnTo>
                    <a:pt x="3430223" y="2104048"/>
                  </a:lnTo>
                  <a:lnTo>
                    <a:pt x="3414483" y="2127313"/>
                  </a:lnTo>
                  <a:lnTo>
                    <a:pt x="3391219" y="2143053"/>
                  </a:lnTo>
                  <a:lnTo>
                    <a:pt x="3362858" y="2148840"/>
                  </a:lnTo>
                  <a:lnTo>
                    <a:pt x="73146" y="2148840"/>
                  </a:lnTo>
                  <a:lnTo>
                    <a:pt x="44788" y="2143053"/>
                  </a:lnTo>
                  <a:lnTo>
                    <a:pt x="21525" y="2127313"/>
                  </a:lnTo>
                  <a:lnTo>
                    <a:pt x="5786" y="2104048"/>
                  </a:lnTo>
                  <a:lnTo>
                    <a:pt x="0" y="2075688"/>
                  </a:lnTo>
                  <a:lnTo>
                    <a:pt x="0" y="73139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362492" y="2002536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79" h="55244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8349792" y="2159546"/>
            <a:ext cx="17062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INPUT</a:t>
            </a:r>
            <a:r>
              <a:rPr sz="1500" b="1" spc="18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&amp;</a:t>
            </a:r>
            <a:r>
              <a:rPr sz="1500" b="1" spc="18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OUTPUT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349792" y="2628125"/>
            <a:ext cx="4635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50" b="1" spc="-114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b="1" spc="-10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950" b="1" spc="-114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b="1" spc="-10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P</a:t>
            </a:r>
            <a:r>
              <a:rPr sz="950" b="1" spc="-110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b="1" spc="-10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950" b="1" spc="-114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b="1" spc="-50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T</a:t>
            </a:r>
            <a:endParaRPr sz="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349792" y="2951188"/>
            <a:ext cx="25552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Applicant</a:t>
            </a:r>
            <a:r>
              <a:rPr sz="110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110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and</a:t>
            </a:r>
            <a:r>
              <a:rPr sz="110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personal information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349792" y="3335300"/>
            <a:ext cx="1786889" cy="489584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950" b="1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950" b="1" spc="-114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b="1" spc="-10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950" b="1" spc="-114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b="1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950" b="1" spc="-110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b="1" spc="-10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P</a:t>
            </a:r>
            <a:r>
              <a:rPr sz="950" b="1" spc="-114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b="1" spc="-10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950" b="1" spc="-114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b="1" spc="-50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T</a:t>
            </a:r>
            <a:endParaRPr sz="950">
              <a:latin typeface="Arial" panose="020B0604020202090204"/>
              <a:cs typeface="Arial" panose="020B0604020202090204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1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Credit_Risk</a:t>
            </a:r>
            <a:r>
              <a:rPr sz="1100" spc="26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→</a:t>
            </a:r>
            <a:r>
              <a:rPr sz="1100" b="1" spc="26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Good</a:t>
            </a:r>
            <a:r>
              <a:rPr sz="1100" b="1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/</a:t>
            </a:r>
            <a:r>
              <a:rPr sz="1100" b="1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Bad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670450" y="3643884"/>
            <a:ext cx="82550" cy="1801495"/>
            <a:chOff x="4670450" y="3643884"/>
            <a:chExt cx="82550" cy="180149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0450" y="3643884"/>
              <a:ext cx="82295" cy="8229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0450" y="4503420"/>
              <a:ext cx="82295" cy="8229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0450" y="5362956"/>
              <a:ext cx="82295" cy="82296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895494" y="4322737"/>
            <a:ext cx="2314575" cy="404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Preprocess</a:t>
            </a:r>
            <a:r>
              <a:rPr sz="1150" spc="-4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and</a:t>
            </a:r>
            <a:r>
              <a:rPr sz="1150" spc="-3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analyze</a:t>
            </a:r>
            <a:r>
              <a:rPr sz="1150" spc="-3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1150" spc="-3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data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effectively.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95494" y="5182273"/>
            <a:ext cx="1770380" cy="404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Compare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ML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models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using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classification</a:t>
            </a:r>
            <a:r>
              <a:rPr sz="1150" spc="-6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metrics.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063534" y="4108450"/>
            <a:ext cx="3449320" cy="2252980"/>
            <a:chOff x="8063534" y="4108450"/>
            <a:chExt cx="3449320" cy="2252980"/>
          </a:xfrm>
        </p:grpSpPr>
        <p:sp>
          <p:nvSpPr>
            <p:cNvPr id="39" name="object 39"/>
            <p:cNvSpPr/>
            <p:nvPr/>
          </p:nvSpPr>
          <p:spPr>
            <a:xfrm>
              <a:off x="8069884" y="4114800"/>
              <a:ext cx="3436620" cy="2240280"/>
            </a:xfrm>
            <a:custGeom>
              <a:avLst/>
              <a:gdLst/>
              <a:ahLst/>
              <a:cxnLst/>
              <a:rect l="l" t="t" r="r" b="b"/>
              <a:pathLst>
                <a:path w="3436620" h="2240279">
                  <a:moveTo>
                    <a:pt x="3362871" y="0"/>
                  </a:moveTo>
                  <a:lnTo>
                    <a:pt x="73144" y="0"/>
                  </a:lnTo>
                  <a:lnTo>
                    <a:pt x="44787" y="5786"/>
                  </a:lnTo>
                  <a:lnTo>
                    <a:pt x="21525" y="21524"/>
                  </a:lnTo>
                  <a:lnTo>
                    <a:pt x="5786" y="44785"/>
                  </a:lnTo>
                  <a:lnTo>
                    <a:pt x="0" y="73139"/>
                  </a:lnTo>
                  <a:lnTo>
                    <a:pt x="0" y="2167140"/>
                  </a:lnTo>
                  <a:lnTo>
                    <a:pt x="5786" y="2195494"/>
                  </a:lnTo>
                  <a:lnTo>
                    <a:pt x="21525" y="2218755"/>
                  </a:lnTo>
                  <a:lnTo>
                    <a:pt x="44787" y="2234493"/>
                  </a:lnTo>
                  <a:lnTo>
                    <a:pt x="73144" y="2240279"/>
                  </a:lnTo>
                  <a:lnTo>
                    <a:pt x="3362871" y="2240279"/>
                  </a:lnTo>
                  <a:lnTo>
                    <a:pt x="3391224" y="2234493"/>
                  </a:lnTo>
                  <a:lnTo>
                    <a:pt x="3414485" y="2218755"/>
                  </a:lnTo>
                  <a:lnTo>
                    <a:pt x="3430224" y="2195494"/>
                  </a:lnTo>
                  <a:lnTo>
                    <a:pt x="3436010" y="2167140"/>
                  </a:lnTo>
                  <a:lnTo>
                    <a:pt x="3436010" y="73139"/>
                  </a:lnTo>
                  <a:lnTo>
                    <a:pt x="3430224" y="44785"/>
                  </a:lnTo>
                  <a:lnTo>
                    <a:pt x="3414485" y="21524"/>
                  </a:lnTo>
                  <a:lnTo>
                    <a:pt x="3391224" y="5786"/>
                  </a:lnTo>
                  <a:lnTo>
                    <a:pt x="3362871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069884" y="4114800"/>
              <a:ext cx="3436620" cy="2240280"/>
            </a:xfrm>
            <a:custGeom>
              <a:avLst/>
              <a:gdLst/>
              <a:ahLst/>
              <a:cxnLst/>
              <a:rect l="l" t="t" r="r" b="b"/>
              <a:pathLst>
                <a:path w="3436620" h="2240279">
                  <a:moveTo>
                    <a:pt x="0" y="73139"/>
                  </a:moveTo>
                  <a:lnTo>
                    <a:pt x="5786" y="44785"/>
                  </a:lnTo>
                  <a:lnTo>
                    <a:pt x="21525" y="21524"/>
                  </a:lnTo>
                  <a:lnTo>
                    <a:pt x="44787" y="5786"/>
                  </a:lnTo>
                  <a:lnTo>
                    <a:pt x="73144" y="0"/>
                  </a:lnTo>
                  <a:lnTo>
                    <a:pt x="3362871" y="0"/>
                  </a:lnTo>
                  <a:lnTo>
                    <a:pt x="3391224" y="5786"/>
                  </a:lnTo>
                  <a:lnTo>
                    <a:pt x="3414485" y="21524"/>
                  </a:lnTo>
                  <a:lnTo>
                    <a:pt x="3430224" y="44785"/>
                  </a:lnTo>
                  <a:lnTo>
                    <a:pt x="3436010" y="73139"/>
                  </a:lnTo>
                  <a:lnTo>
                    <a:pt x="3436010" y="2167140"/>
                  </a:lnTo>
                  <a:lnTo>
                    <a:pt x="3430224" y="2195494"/>
                  </a:lnTo>
                  <a:lnTo>
                    <a:pt x="3414485" y="2218755"/>
                  </a:lnTo>
                  <a:lnTo>
                    <a:pt x="3391224" y="2234493"/>
                  </a:lnTo>
                  <a:lnTo>
                    <a:pt x="3362871" y="2240279"/>
                  </a:lnTo>
                  <a:lnTo>
                    <a:pt x="73144" y="2240279"/>
                  </a:lnTo>
                  <a:lnTo>
                    <a:pt x="44787" y="2234493"/>
                  </a:lnTo>
                  <a:lnTo>
                    <a:pt x="21525" y="2218755"/>
                  </a:lnTo>
                  <a:lnTo>
                    <a:pt x="5786" y="2195494"/>
                  </a:lnTo>
                  <a:lnTo>
                    <a:pt x="0" y="2167140"/>
                  </a:lnTo>
                  <a:lnTo>
                    <a:pt x="0" y="73139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362492" y="4407408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79" h="55245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8349792" y="4564418"/>
            <a:ext cx="19240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TARGET</a:t>
            </a:r>
            <a:r>
              <a:rPr sz="1500" b="1" spc="3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VARIABLE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356142" y="4977130"/>
            <a:ext cx="2863850" cy="515620"/>
            <a:chOff x="8356142" y="4977130"/>
            <a:chExt cx="2863850" cy="515620"/>
          </a:xfrm>
        </p:grpSpPr>
        <p:sp>
          <p:nvSpPr>
            <p:cNvPr id="44" name="object 44"/>
            <p:cNvSpPr/>
            <p:nvPr/>
          </p:nvSpPr>
          <p:spPr>
            <a:xfrm>
              <a:off x="8362492" y="4983480"/>
              <a:ext cx="2851150" cy="502920"/>
            </a:xfrm>
            <a:custGeom>
              <a:avLst/>
              <a:gdLst/>
              <a:ahLst/>
              <a:cxnLst/>
              <a:rect l="l" t="t" r="r" b="b"/>
              <a:pathLst>
                <a:path w="2851150" h="502920">
                  <a:moveTo>
                    <a:pt x="2599334" y="0"/>
                  </a:moveTo>
                  <a:lnTo>
                    <a:pt x="251460" y="0"/>
                  </a:lnTo>
                  <a:lnTo>
                    <a:pt x="206504" y="4081"/>
                  </a:lnTo>
                  <a:lnTo>
                    <a:pt x="164092" y="15839"/>
                  </a:lnTo>
                  <a:lnTo>
                    <a:pt x="124956" y="34538"/>
                  </a:lnTo>
                  <a:lnTo>
                    <a:pt x="89830" y="59446"/>
                  </a:lnTo>
                  <a:lnTo>
                    <a:pt x="59446" y="89830"/>
                  </a:lnTo>
                  <a:lnTo>
                    <a:pt x="34538" y="124956"/>
                  </a:lnTo>
                  <a:lnTo>
                    <a:pt x="15839" y="164092"/>
                  </a:lnTo>
                  <a:lnTo>
                    <a:pt x="4081" y="206504"/>
                  </a:lnTo>
                  <a:lnTo>
                    <a:pt x="0" y="251459"/>
                  </a:lnTo>
                  <a:lnTo>
                    <a:pt x="4081" y="296415"/>
                  </a:lnTo>
                  <a:lnTo>
                    <a:pt x="15839" y="338827"/>
                  </a:lnTo>
                  <a:lnTo>
                    <a:pt x="34538" y="377963"/>
                  </a:lnTo>
                  <a:lnTo>
                    <a:pt x="59446" y="413089"/>
                  </a:lnTo>
                  <a:lnTo>
                    <a:pt x="89830" y="443473"/>
                  </a:lnTo>
                  <a:lnTo>
                    <a:pt x="124956" y="468381"/>
                  </a:lnTo>
                  <a:lnTo>
                    <a:pt x="164092" y="487080"/>
                  </a:lnTo>
                  <a:lnTo>
                    <a:pt x="206504" y="498838"/>
                  </a:lnTo>
                  <a:lnTo>
                    <a:pt x="251460" y="502920"/>
                  </a:lnTo>
                  <a:lnTo>
                    <a:pt x="2599334" y="502920"/>
                  </a:lnTo>
                  <a:lnTo>
                    <a:pt x="2644289" y="498838"/>
                  </a:lnTo>
                  <a:lnTo>
                    <a:pt x="2686701" y="487080"/>
                  </a:lnTo>
                  <a:lnTo>
                    <a:pt x="2725837" y="468381"/>
                  </a:lnTo>
                  <a:lnTo>
                    <a:pt x="2760964" y="443473"/>
                  </a:lnTo>
                  <a:lnTo>
                    <a:pt x="2791347" y="413089"/>
                  </a:lnTo>
                  <a:lnTo>
                    <a:pt x="2816256" y="377963"/>
                  </a:lnTo>
                  <a:lnTo>
                    <a:pt x="2834955" y="338827"/>
                  </a:lnTo>
                  <a:lnTo>
                    <a:pt x="2846712" y="296415"/>
                  </a:lnTo>
                  <a:lnTo>
                    <a:pt x="2850794" y="251459"/>
                  </a:lnTo>
                  <a:lnTo>
                    <a:pt x="2846712" y="206504"/>
                  </a:lnTo>
                  <a:lnTo>
                    <a:pt x="2834955" y="164092"/>
                  </a:lnTo>
                  <a:lnTo>
                    <a:pt x="2816256" y="124956"/>
                  </a:lnTo>
                  <a:lnTo>
                    <a:pt x="2791347" y="89830"/>
                  </a:lnTo>
                  <a:lnTo>
                    <a:pt x="2760964" y="59446"/>
                  </a:lnTo>
                  <a:lnTo>
                    <a:pt x="2725837" y="34538"/>
                  </a:lnTo>
                  <a:lnTo>
                    <a:pt x="2686701" y="15839"/>
                  </a:lnTo>
                  <a:lnTo>
                    <a:pt x="2644289" y="4081"/>
                  </a:lnTo>
                  <a:lnTo>
                    <a:pt x="2599334" y="0"/>
                  </a:lnTo>
                  <a:close/>
                </a:path>
              </a:pathLst>
            </a:custGeom>
            <a:solidFill>
              <a:srgbClr val="1D1D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362492" y="4983480"/>
              <a:ext cx="2851150" cy="502920"/>
            </a:xfrm>
            <a:custGeom>
              <a:avLst/>
              <a:gdLst/>
              <a:ahLst/>
              <a:cxnLst/>
              <a:rect l="l" t="t" r="r" b="b"/>
              <a:pathLst>
                <a:path w="2851150" h="502920">
                  <a:moveTo>
                    <a:pt x="0" y="251459"/>
                  </a:moveTo>
                  <a:lnTo>
                    <a:pt x="4081" y="206504"/>
                  </a:lnTo>
                  <a:lnTo>
                    <a:pt x="15839" y="164092"/>
                  </a:lnTo>
                  <a:lnTo>
                    <a:pt x="34538" y="124956"/>
                  </a:lnTo>
                  <a:lnTo>
                    <a:pt x="59446" y="89830"/>
                  </a:lnTo>
                  <a:lnTo>
                    <a:pt x="89830" y="59446"/>
                  </a:lnTo>
                  <a:lnTo>
                    <a:pt x="124956" y="34538"/>
                  </a:lnTo>
                  <a:lnTo>
                    <a:pt x="164092" y="15839"/>
                  </a:lnTo>
                  <a:lnTo>
                    <a:pt x="206504" y="4081"/>
                  </a:lnTo>
                  <a:lnTo>
                    <a:pt x="251460" y="0"/>
                  </a:lnTo>
                  <a:lnTo>
                    <a:pt x="2599334" y="0"/>
                  </a:lnTo>
                  <a:lnTo>
                    <a:pt x="2644289" y="4081"/>
                  </a:lnTo>
                  <a:lnTo>
                    <a:pt x="2686701" y="15839"/>
                  </a:lnTo>
                  <a:lnTo>
                    <a:pt x="2725837" y="34538"/>
                  </a:lnTo>
                  <a:lnTo>
                    <a:pt x="2760964" y="59446"/>
                  </a:lnTo>
                  <a:lnTo>
                    <a:pt x="2791347" y="89830"/>
                  </a:lnTo>
                  <a:lnTo>
                    <a:pt x="2816256" y="124956"/>
                  </a:lnTo>
                  <a:lnTo>
                    <a:pt x="2834955" y="164092"/>
                  </a:lnTo>
                  <a:lnTo>
                    <a:pt x="2846712" y="206504"/>
                  </a:lnTo>
                  <a:lnTo>
                    <a:pt x="2850794" y="251459"/>
                  </a:lnTo>
                  <a:lnTo>
                    <a:pt x="2846712" y="296415"/>
                  </a:lnTo>
                  <a:lnTo>
                    <a:pt x="2834955" y="338827"/>
                  </a:lnTo>
                  <a:lnTo>
                    <a:pt x="2816256" y="377963"/>
                  </a:lnTo>
                  <a:lnTo>
                    <a:pt x="2791347" y="413089"/>
                  </a:lnTo>
                  <a:lnTo>
                    <a:pt x="2760964" y="443473"/>
                  </a:lnTo>
                  <a:lnTo>
                    <a:pt x="2725837" y="468381"/>
                  </a:lnTo>
                  <a:lnTo>
                    <a:pt x="2686701" y="487080"/>
                  </a:lnTo>
                  <a:lnTo>
                    <a:pt x="2644289" y="498838"/>
                  </a:lnTo>
                  <a:lnTo>
                    <a:pt x="2599334" y="502920"/>
                  </a:lnTo>
                  <a:lnTo>
                    <a:pt x="251460" y="502920"/>
                  </a:lnTo>
                  <a:lnTo>
                    <a:pt x="206504" y="498838"/>
                  </a:lnTo>
                  <a:lnTo>
                    <a:pt x="164092" y="487080"/>
                  </a:lnTo>
                  <a:lnTo>
                    <a:pt x="124956" y="468381"/>
                  </a:lnTo>
                  <a:lnTo>
                    <a:pt x="89830" y="443473"/>
                  </a:lnTo>
                  <a:lnTo>
                    <a:pt x="59446" y="413089"/>
                  </a:lnTo>
                  <a:lnTo>
                    <a:pt x="34538" y="377963"/>
                  </a:lnTo>
                  <a:lnTo>
                    <a:pt x="15839" y="338827"/>
                  </a:lnTo>
                  <a:lnTo>
                    <a:pt x="4081" y="296415"/>
                  </a:lnTo>
                  <a:lnTo>
                    <a:pt x="0" y="251459"/>
                  </a:lnTo>
                  <a:close/>
                </a:path>
              </a:pathLst>
            </a:custGeom>
            <a:ln w="12699">
              <a:solidFill>
                <a:srgbClr val="E100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9246012" y="5103914"/>
            <a:ext cx="10833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Credit_Risk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4500" y="6408546"/>
            <a:ext cx="20199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900" spc="-6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spc="-1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900" spc="-6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900" spc="39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K</a:t>
            </a:r>
            <a:r>
              <a:rPr sz="900" spc="39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P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900" spc="-5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N</a:t>
            </a:r>
            <a:endParaRPr sz="9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1749648" y="6392760"/>
            <a:ext cx="1809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02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530351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4">
                <a:moveTo>
                  <a:pt x="146304" y="0"/>
                </a:moveTo>
                <a:lnTo>
                  <a:pt x="0" y="0"/>
                </a:lnTo>
                <a:lnTo>
                  <a:pt x="0" y="146303"/>
                </a:lnTo>
                <a:lnTo>
                  <a:pt x="146304" y="146303"/>
                </a:lnTo>
                <a:lnTo>
                  <a:pt x="146304" y="0"/>
                </a:lnTo>
                <a:close/>
              </a:path>
            </a:pathLst>
          </a:custGeom>
          <a:solidFill>
            <a:srgbClr val="E100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29132" y="513169"/>
            <a:ext cx="14312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1100" b="1" spc="-2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100" b="1" spc="1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100" b="1" spc="-2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-5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DATASET</a:t>
            </a:r>
            <a:r>
              <a:rPr spc="-90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dirty="0"/>
              <a:t>DATA</a:t>
            </a:r>
            <a:r>
              <a:rPr spc="-85" dirty="0"/>
              <a:t> </a:t>
            </a:r>
            <a:r>
              <a:rPr spc="-10" dirty="0"/>
              <a:t>UNDERSTANDING</a:t>
            </a:r>
            <a:endParaRPr spc="-10" dirty="0"/>
          </a:p>
          <a:p>
            <a:pPr marL="30480">
              <a:lnSpc>
                <a:spcPct val="100000"/>
              </a:lnSpc>
              <a:spcBef>
                <a:spcPts val="65"/>
              </a:spcBef>
            </a:pPr>
            <a:r>
              <a:rPr sz="1250" b="0" i="1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UCI</a:t>
            </a:r>
            <a:r>
              <a:rPr sz="1250" b="0" i="1" spc="-5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250" b="0" i="1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Statlog</a:t>
            </a:r>
            <a:r>
              <a:rPr sz="1250" b="0" i="1" spc="-45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250" b="0" i="1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(German</a:t>
            </a:r>
            <a:r>
              <a:rPr sz="1250" b="0" i="1" spc="-45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250" b="0" i="1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1250" b="0" i="1" spc="-45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250" b="0" i="1" spc="-2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Data)</a:t>
            </a:r>
            <a:endParaRPr sz="12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9450" y="1566418"/>
            <a:ext cx="2618740" cy="927100"/>
            <a:chOff x="679450" y="1566418"/>
            <a:chExt cx="2618740" cy="927100"/>
          </a:xfrm>
        </p:grpSpPr>
        <p:sp>
          <p:nvSpPr>
            <p:cNvPr id="6" name="object 6"/>
            <p:cNvSpPr/>
            <p:nvPr/>
          </p:nvSpPr>
          <p:spPr>
            <a:xfrm>
              <a:off x="685800" y="1572768"/>
              <a:ext cx="2606040" cy="914400"/>
            </a:xfrm>
            <a:custGeom>
              <a:avLst/>
              <a:gdLst/>
              <a:ahLst/>
              <a:cxnLst/>
              <a:rect l="l" t="t" r="r" b="b"/>
              <a:pathLst>
                <a:path w="2606040" h="914400">
                  <a:moveTo>
                    <a:pt x="2542032" y="0"/>
                  </a:moveTo>
                  <a:lnTo>
                    <a:pt x="64007" y="0"/>
                  </a:lnTo>
                  <a:lnTo>
                    <a:pt x="39192" y="5063"/>
                  </a:lnTo>
                  <a:lnTo>
                    <a:pt x="18836" y="18835"/>
                  </a:lnTo>
                  <a:lnTo>
                    <a:pt x="5063" y="39192"/>
                  </a:lnTo>
                  <a:lnTo>
                    <a:pt x="0" y="64007"/>
                  </a:lnTo>
                  <a:lnTo>
                    <a:pt x="0" y="850391"/>
                  </a:lnTo>
                  <a:lnTo>
                    <a:pt x="5063" y="875207"/>
                  </a:lnTo>
                  <a:lnTo>
                    <a:pt x="18836" y="895564"/>
                  </a:lnTo>
                  <a:lnTo>
                    <a:pt x="39192" y="909336"/>
                  </a:lnTo>
                  <a:lnTo>
                    <a:pt x="64008" y="914400"/>
                  </a:lnTo>
                  <a:lnTo>
                    <a:pt x="2542032" y="914400"/>
                  </a:lnTo>
                  <a:lnTo>
                    <a:pt x="2566847" y="909336"/>
                  </a:lnTo>
                  <a:lnTo>
                    <a:pt x="2587204" y="895564"/>
                  </a:lnTo>
                  <a:lnTo>
                    <a:pt x="2600976" y="875207"/>
                  </a:lnTo>
                  <a:lnTo>
                    <a:pt x="2606040" y="850391"/>
                  </a:lnTo>
                  <a:lnTo>
                    <a:pt x="2606040" y="64007"/>
                  </a:lnTo>
                  <a:lnTo>
                    <a:pt x="2600976" y="39192"/>
                  </a:lnTo>
                  <a:lnTo>
                    <a:pt x="2587204" y="18835"/>
                  </a:lnTo>
                  <a:lnTo>
                    <a:pt x="2566847" y="5063"/>
                  </a:lnTo>
                  <a:lnTo>
                    <a:pt x="2542032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800" y="1572768"/>
              <a:ext cx="2606040" cy="914400"/>
            </a:xfrm>
            <a:custGeom>
              <a:avLst/>
              <a:gdLst/>
              <a:ahLst/>
              <a:cxnLst/>
              <a:rect l="l" t="t" r="r" b="b"/>
              <a:pathLst>
                <a:path w="2606040" h="914400">
                  <a:moveTo>
                    <a:pt x="0" y="64007"/>
                  </a:moveTo>
                  <a:lnTo>
                    <a:pt x="5063" y="39192"/>
                  </a:lnTo>
                  <a:lnTo>
                    <a:pt x="18836" y="18835"/>
                  </a:lnTo>
                  <a:lnTo>
                    <a:pt x="39192" y="5063"/>
                  </a:lnTo>
                  <a:lnTo>
                    <a:pt x="64007" y="0"/>
                  </a:lnTo>
                  <a:lnTo>
                    <a:pt x="2542032" y="0"/>
                  </a:lnTo>
                  <a:lnTo>
                    <a:pt x="2566847" y="5063"/>
                  </a:lnTo>
                  <a:lnTo>
                    <a:pt x="2587204" y="18835"/>
                  </a:lnTo>
                  <a:lnTo>
                    <a:pt x="2600976" y="39192"/>
                  </a:lnTo>
                  <a:lnTo>
                    <a:pt x="2606040" y="64007"/>
                  </a:lnTo>
                  <a:lnTo>
                    <a:pt x="2606040" y="850391"/>
                  </a:lnTo>
                  <a:lnTo>
                    <a:pt x="2600976" y="875207"/>
                  </a:lnTo>
                  <a:lnTo>
                    <a:pt x="2587204" y="895564"/>
                  </a:lnTo>
                  <a:lnTo>
                    <a:pt x="2566847" y="909336"/>
                  </a:lnTo>
                  <a:lnTo>
                    <a:pt x="2542032" y="914400"/>
                  </a:lnTo>
                  <a:lnTo>
                    <a:pt x="64008" y="914400"/>
                  </a:lnTo>
                  <a:lnTo>
                    <a:pt x="39192" y="909336"/>
                  </a:lnTo>
                  <a:lnTo>
                    <a:pt x="18836" y="895564"/>
                  </a:lnTo>
                  <a:lnTo>
                    <a:pt x="5063" y="875207"/>
                  </a:lnTo>
                  <a:lnTo>
                    <a:pt x="0" y="850391"/>
                  </a:lnTo>
                  <a:lnTo>
                    <a:pt x="0" y="64007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563149" y="1675003"/>
            <a:ext cx="85153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0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1,000</a:t>
            </a:r>
            <a:endParaRPr sz="2600">
              <a:latin typeface="Arial" panose="020B0604020202090204"/>
              <a:cs typeface="Arial" panose="020B0604020202090204"/>
            </a:endParaRPr>
          </a:p>
          <a:p>
            <a:pPr marL="79375">
              <a:lnSpc>
                <a:spcPct val="100000"/>
              </a:lnSpc>
              <a:spcBef>
                <a:spcPts val="1145"/>
              </a:spcBef>
            </a:pPr>
            <a:r>
              <a:rPr sz="950" b="1" spc="7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RECORDS</a:t>
            </a:r>
            <a:endParaRPr sz="9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68370" y="1566418"/>
            <a:ext cx="2618740" cy="927100"/>
            <a:chOff x="3468370" y="1566418"/>
            <a:chExt cx="2618740" cy="927100"/>
          </a:xfrm>
        </p:grpSpPr>
        <p:sp>
          <p:nvSpPr>
            <p:cNvPr id="10" name="object 10"/>
            <p:cNvSpPr/>
            <p:nvPr/>
          </p:nvSpPr>
          <p:spPr>
            <a:xfrm>
              <a:off x="3474719" y="1572768"/>
              <a:ext cx="2606040" cy="914400"/>
            </a:xfrm>
            <a:custGeom>
              <a:avLst/>
              <a:gdLst/>
              <a:ahLst/>
              <a:cxnLst/>
              <a:rect l="l" t="t" r="r" b="b"/>
              <a:pathLst>
                <a:path w="2606040" h="914400">
                  <a:moveTo>
                    <a:pt x="2542032" y="0"/>
                  </a:moveTo>
                  <a:lnTo>
                    <a:pt x="64007" y="0"/>
                  </a:lnTo>
                  <a:lnTo>
                    <a:pt x="39192" y="5063"/>
                  </a:lnTo>
                  <a:lnTo>
                    <a:pt x="18836" y="18835"/>
                  </a:lnTo>
                  <a:lnTo>
                    <a:pt x="5063" y="39192"/>
                  </a:lnTo>
                  <a:lnTo>
                    <a:pt x="0" y="64007"/>
                  </a:lnTo>
                  <a:lnTo>
                    <a:pt x="0" y="850391"/>
                  </a:lnTo>
                  <a:lnTo>
                    <a:pt x="5063" y="875207"/>
                  </a:lnTo>
                  <a:lnTo>
                    <a:pt x="18836" y="895564"/>
                  </a:lnTo>
                  <a:lnTo>
                    <a:pt x="39192" y="909336"/>
                  </a:lnTo>
                  <a:lnTo>
                    <a:pt x="64008" y="914400"/>
                  </a:lnTo>
                  <a:lnTo>
                    <a:pt x="2542032" y="914400"/>
                  </a:lnTo>
                  <a:lnTo>
                    <a:pt x="2566847" y="909336"/>
                  </a:lnTo>
                  <a:lnTo>
                    <a:pt x="2587204" y="895564"/>
                  </a:lnTo>
                  <a:lnTo>
                    <a:pt x="2600976" y="875207"/>
                  </a:lnTo>
                  <a:lnTo>
                    <a:pt x="2606040" y="850391"/>
                  </a:lnTo>
                  <a:lnTo>
                    <a:pt x="2606040" y="64007"/>
                  </a:lnTo>
                  <a:lnTo>
                    <a:pt x="2600976" y="39192"/>
                  </a:lnTo>
                  <a:lnTo>
                    <a:pt x="2587204" y="18835"/>
                  </a:lnTo>
                  <a:lnTo>
                    <a:pt x="2566847" y="5063"/>
                  </a:lnTo>
                  <a:lnTo>
                    <a:pt x="2542032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474719" y="1572768"/>
              <a:ext cx="2606040" cy="914400"/>
            </a:xfrm>
            <a:custGeom>
              <a:avLst/>
              <a:gdLst/>
              <a:ahLst/>
              <a:cxnLst/>
              <a:rect l="l" t="t" r="r" b="b"/>
              <a:pathLst>
                <a:path w="2606040" h="914400">
                  <a:moveTo>
                    <a:pt x="0" y="64007"/>
                  </a:moveTo>
                  <a:lnTo>
                    <a:pt x="5063" y="39192"/>
                  </a:lnTo>
                  <a:lnTo>
                    <a:pt x="18836" y="18835"/>
                  </a:lnTo>
                  <a:lnTo>
                    <a:pt x="39192" y="5063"/>
                  </a:lnTo>
                  <a:lnTo>
                    <a:pt x="64007" y="0"/>
                  </a:lnTo>
                  <a:lnTo>
                    <a:pt x="2542032" y="0"/>
                  </a:lnTo>
                  <a:lnTo>
                    <a:pt x="2566847" y="5063"/>
                  </a:lnTo>
                  <a:lnTo>
                    <a:pt x="2587204" y="18835"/>
                  </a:lnTo>
                  <a:lnTo>
                    <a:pt x="2600976" y="39192"/>
                  </a:lnTo>
                  <a:lnTo>
                    <a:pt x="2606040" y="64007"/>
                  </a:lnTo>
                  <a:lnTo>
                    <a:pt x="2606040" y="850391"/>
                  </a:lnTo>
                  <a:lnTo>
                    <a:pt x="2600976" y="875207"/>
                  </a:lnTo>
                  <a:lnTo>
                    <a:pt x="2587204" y="895564"/>
                  </a:lnTo>
                  <a:lnTo>
                    <a:pt x="2566847" y="909336"/>
                  </a:lnTo>
                  <a:lnTo>
                    <a:pt x="2542032" y="914400"/>
                  </a:lnTo>
                  <a:lnTo>
                    <a:pt x="64008" y="914400"/>
                  </a:lnTo>
                  <a:lnTo>
                    <a:pt x="39192" y="909336"/>
                  </a:lnTo>
                  <a:lnTo>
                    <a:pt x="18836" y="895564"/>
                  </a:lnTo>
                  <a:lnTo>
                    <a:pt x="5063" y="875207"/>
                  </a:lnTo>
                  <a:lnTo>
                    <a:pt x="0" y="850391"/>
                  </a:lnTo>
                  <a:lnTo>
                    <a:pt x="0" y="64007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153492" y="1675003"/>
            <a:ext cx="1236345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00"/>
              </a:spcBef>
            </a:pPr>
            <a:r>
              <a:rPr sz="2600" b="1" spc="-25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20</a:t>
            </a:r>
            <a:endParaRPr sz="2600">
              <a:latin typeface="Arial" panose="020B0604020202090204"/>
              <a:cs typeface="Arial" panose="020B0604020202090204"/>
            </a:endParaRPr>
          </a:p>
          <a:p>
            <a:pPr algn="ctr">
              <a:lnSpc>
                <a:spcPct val="100000"/>
              </a:lnSpc>
              <a:spcBef>
                <a:spcPts val="1145"/>
              </a:spcBef>
            </a:pPr>
            <a:r>
              <a:rPr sz="950" b="1" spc="75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INPUT</a:t>
            </a:r>
            <a:r>
              <a:rPr sz="950" b="1" spc="195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b="1" spc="7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FEATURES</a:t>
            </a:r>
            <a:endParaRPr sz="9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57290" y="1566418"/>
            <a:ext cx="2618740" cy="927100"/>
            <a:chOff x="6257290" y="1566418"/>
            <a:chExt cx="2618740" cy="927100"/>
          </a:xfrm>
        </p:grpSpPr>
        <p:sp>
          <p:nvSpPr>
            <p:cNvPr id="14" name="object 14"/>
            <p:cNvSpPr/>
            <p:nvPr/>
          </p:nvSpPr>
          <p:spPr>
            <a:xfrm>
              <a:off x="6263640" y="1572768"/>
              <a:ext cx="2606040" cy="914400"/>
            </a:xfrm>
            <a:custGeom>
              <a:avLst/>
              <a:gdLst/>
              <a:ahLst/>
              <a:cxnLst/>
              <a:rect l="l" t="t" r="r" b="b"/>
              <a:pathLst>
                <a:path w="2606040" h="914400">
                  <a:moveTo>
                    <a:pt x="2542032" y="0"/>
                  </a:moveTo>
                  <a:lnTo>
                    <a:pt x="64007" y="0"/>
                  </a:lnTo>
                  <a:lnTo>
                    <a:pt x="39192" y="5063"/>
                  </a:lnTo>
                  <a:lnTo>
                    <a:pt x="18836" y="18835"/>
                  </a:lnTo>
                  <a:lnTo>
                    <a:pt x="5063" y="39192"/>
                  </a:lnTo>
                  <a:lnTo>
                    <a:pt x="0" y="64007"/>
                  </a:lnTo>
                  <a:lnTo>
                    <a:pt x="0" y="850391"/>
                  </a:lnTo>
                  <a:lnTo>
                    <a:pt x="5063" y="875207"/>
                  </a:lnTo>
                  <a:lnTo>
                    <a:pt x="18836" y="895564"/>
                  </a:lnTo>
                  <a:lnTo>
                    <a:pt x="39192" y="909336"/>
                  </a:lnTo>
                  <a:lnTo>
                    <a:pt x="64008" y="914400"/>
                  </a:lnTo>
                  <a:lnTo>
                    <a:pt x="2542032" y="914400"/>
                  </a:lnTo>
                  <a:lnTo>
                    <a:pt x="2566847" y="909336"/>
                  </a:lnTo>
                  <a:lnTo>
                    <a:pt x="2587204" y="895564"/>
                  </a:lnTo>
                  <a:lnTo>
                    <a:pt x="2600976" y="875207"/>
                  </a:lnTo>
                  <a:lnTo>
                    <a:pt x="2606040" y="850391"/>
                  </a:lnTo>
                  <a:lnTo>
                    <a:pt x="2606040" y="64007"/>
                  </a:lnTo>
                  <a:lnTo>
                    <a:pt x="2600976" y="39192"/>
                  </a:lnTo>
                  <a:lnTo>
                    <a:pt x="2587204" y="18835"/>
                  </a:lnTo>
                  <a:lnTo>
                    <a:pt x="2566847" y="5063"/>
                  </a:lnTo>
                  <a:lnTo>
                    <a:pt x="2542032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263640" y="1572768"/>
              <a:ext cx="2606040" cy="914400"/>
            </a:xfrm>
            <a:custGeom>
              <a:avLst/>
              <a:gdLst/>
              <a:ahLst/>
              <a:cxnLst/>
              <a:rect l="l" t="t" r="r" b="b"/>
              <a:pathLst>
                <a:path w="2606040" h="914400">
                  <a:moveTo>
                    <a:pt x="0" y="64007"/>
                  </a:moveTo>
                  <a:lnTo>
                    <a:pt x="5063" y="39192"/>
                  </a:lnTo>
                  <a:lnTo>
                    <a:pt x="18836" y="18835"/>
                  </a:lnTo>
                  <a:lnTo>
                    <a:pt x="39192" y="5063"/>
                  </a:lnTo>
                  <a:lnTo>
                    <a:pt x="64007" y="0"/>
                  </a:lnTo>
                  <a:lnTo>
                    <a:pt x="2542032" y="0"/>
                  </a:lnTo>
                  <a:lnTo>
                    <a:pt x="2566847" y="5063"/>
                  </a:lnTo>
                  <a:lnTo>
                    <a:pt x="2587204" y="18835"/>
                  </a:lnTo>
                  <a:lnTo>
                    <a:pt x="2600976" y="39192"/>
                  </a:lnTo>
                  <a:lnTo>
                    <a:pt x="2606040" y="64007"/>
                  </a:lnTo>
                  <a:lnTo>
                    <a:pt x="2606040" y="850391"/>
                  </a:lnTo>
                  <a:lnTo>
                    <a:pt x="2600976" y="875207"/>
                  </a:lnTo>
                  <a:lnTo>
                    <a:pt x="2587204" y="895564"/>
                  </a:lnTo>
                  <a:lnTo>
                    <a:pt x="2566847" y="909336"/>
                  </a:lnTo>
                  <a:lnTo>
                    <a:pt x="2542032" y="914400"/>
                  </a:lnTo>
                  <a:lnTo>
                    <a:pt x="64008" y="914400"/>
                  </a:lnTo>
                  <a:lnTo>
                    <a:pt x="39192" y="909336"/>
                  </a:lnTo>
                  <a:lnTo>
                    <a:pt x="18836" y="895564"/>
                  </a:lnTo>
                  <a:lnTo>
                    <a:pt x="5063" y="875207"/>
                  </a:lnTo>
                  <a:lnTo>
                    <a:pt x="0" y="850391"/>
                  </a:lnTo>
                  <a:lnTo>
                    <a:pt x="0" y="64007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224772" y="1675003"/>
            <a:ext cx="67183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00"/>
              </a:spcBef>
            </a:pPr>
            <a:r>
              <a:rPr sz="2600" b="1" spc="-50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2</a:t>
            </a:r>
            <a:endParaRPr sz="2600">
              <a:latin typeface="Arial" panose="020B0604020202090204"/>
              <a:cs typeface="Arial" panose="020B0604020202090204"/>
            </a:endParaRPr>
          </a:p>
          <a:p>
            <a:pPr algn="ctr">
              <a:lnSpc>
                <a:spcPct val="100000"/>
              </a:lnSpc>
              <a:spcBef>
                <a:spcPts val="1145"/>
              </a:spcBef>
            </a:pPr>
            <a:r>
              <a:rPr sz="950" b="1" spc="7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CLASSES</a:t>
            </a:r>
            <a:endParaRPr sz="9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046209" y="1566418"/>
            <a:ext cx="2618740" cy="927100"/>
            <a:chOff x="9046209" y="1566418"/>
            <a:chExt cx="2618740" cy="927100"/>
          </a:xfrm>
        </p:grpSpPr>
        <p:sp>
          <p:nvSpPr>
            <p:cNvPr id="18" name="object 18"/>
            <p:cNvSpPr/>
            <p:nvPr/>
          </p:nvSpPr>
          <p:spPr>
            <a:xfrm>
              <a:off x="9052559" y="1572768"/>
              <a:ext cx="2606040" cy="914400"/>
            </a:xfrm>
            <a:custGeom>
              <a:avLst/>
              <a:gdLst/>
              <a:ahLst/>
              <a:cxnLst/>
              <a:rect l="l" t="t" r="r" b="b"/>
              <a:pathLst>
                <a:path w="2606040" h="914400">
                  <a:moveTo>
                    <a:pt x="2542032" y="0"/>
                  </a:moveTo>
                  <a:lnTo>
                    <a:pt x="64007" y="0"/>
                  </a:lnTo>
                  <a:lnTo>
                    <a:pt x="39192" y="5063"/>
                  </a:lnTo>
                  <a:lnTo>
                    <a:pt x="18836" y="18835"/>
                  </a:lnTo>
                  <a:lnTo>
                    <a:pt x="5063" y="39192"/>
                  </a:lnTo>
                  <a:lnTo>
                    <a:pt x="0" y="64007"/>
                  </a:lnTo>
                  <a:lnTo>
                    <a:pt x="0" y="850391"/>
                  </a:lnTo>
                  <a:lnTo>
                    <a:pt x="5063" y="875207"/>
                  </a:lnTo>
                  <a:lnTo>
                    <a:pt x="18836" y="895564"/>
                  </a:lnTo>
                  <a:lnTo>
                    <a:pt x="39192" y="909336"/>
                  </a:lnTo>
                  <a:lnTo>
                    <a:pt x="64008" y="914400"/>
                  </a:lnTo>
                  <a:lnTo>
                    <a:pt x="2542032" y="914400"/>
                  </a:lnTo>
                  <a:lnTo>
                    <a:pt x="2566847" y="909336"/>
                  </a:lnTo>
                  <a:lnTo>
                    <a:pt x="2587204" y="895564"/>
                  </a:lnTo>
                  <a:lnTo>
                    <a:pt x="2600976" y="875207"/>
                  </a:lnTo>
                  <a:lnTo>
                    <a:pt x="2606040" y="850391"/>
                  </a:lnTo>
                  <a:lnTo>
                    <a:pt x="2606040" y="64007"/>
                  </a:lnTo>
                  <a:lnTo>
                    <a:pt x="2600976" y="39192"/>
                  </a:lnTo>
                  <a:lnTo>
                    <a:pt x="2587204" y="18835"/>
                  </a:lnTo>
                  <a:lnTo>
                    <a:pt x="2566847" y="5063"/>
                  </a:lnTo>
                  <a:lnTo>
                    <a:pt x="2542032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052559" y="1572768"/>
              <a:ext cx="2606040" cy="914400"/>
            </a:xfrm>
            <a:custGeom>
              <a:avLst/>
              <a:gdLst/>
              <a:ahLst/>
              <a:cxnLst/>
              <a:rect l="l" t="t" r="r" b="b"/>
              <a:pathLst>
                <a:path w="2606040" h="914400">
                  <a:moveTo>
                    <a:pt x="0" y="64007"/>
                  </a:moveTo>
                  <a:lnTo>
                    <a:pt x="5063" y="39192"/>
                  </a:lnTo>
                  <a:lnTo>
                    <a:pt x="18836" y="18835"/>
                  </a:lnTo>
                  <a:lnTo>
                    <a:pt x="39192" y="5063"/>
                  </a:lnTo>
                  <a:lnTo>
                    <a:pt x="64007" y="0"/>
                  </a:lnTo>
                  <a:lnTo>
                    <a:pt x="2542032" y="0"/>
                  </a:lnTo>
                  <a:lnTo>
                    <a:pt x="2566847" y="5063"/>
                  </a:lnTo>
                  <a:lnTo>
                    <a:pt x="2587204" y="18835"/>
                  </a:lnTo>
                  <a:lnTo>
                    <a:pt x="2600976" y="39192"/>
                  </a:lnTo>
                  <a:lnTo>
                    <a:pt x="2606040" y="64007"/>
                  </a:lnTo>
                  <a:lnTo>
                    <a:pt x="2606040" y="850391"/>
                  </a:lnTo>
                  <a:lnTo>
                    <a:pt x="2600976" y="875207"/>
                  </a:lnTo>
                  <a:lnTo>
                    <a:pt x="2587204" y="895564"/>
                  </a:lnTo>
                  <a:lnTo>
                    <a:pt x="2566847" y="909336"/>
                  </a:lnTo>
                  <a:lnTo>
                    <a:pt x="2542032" y="914400"/>
                  </a:lnTo>
                  <a:lnTo>
                    <a:pt x="64008" y="914400"/>
                  </a:lnTo>
                  <a:lnTo>
                    <a:pt x="39192" y="909336"/>
                  </a:lnTo>
                  <a:lnTo>
                    <a:pt x="18836" y="895564"/>
                  </a:lnTo>
                  <a:lnTo>
                    <a:pt x="5063" y="875207"/>
                  </a:lnTo>
                  <a:lnTo>
                    <a:pt x="0" y="850391"/>
                  </a:lnTo>
                  <a:lnTo>
                    <a:pt x="0" y="64007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515588" y="1730222"/>
            <a:ext cx="1668145" cy="657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00"/>
              </a:spcBef>
            </a:pPr>
            <a:r>
              <a:rPr sz="1900" b="1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Good</a:t>
            </a:r>
            <a:r>
              <a:rPr sz="1900" b="1" spc="-20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900" b="1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/</a:t>
            </a:r>
            <a:r>
              <a:rPr sz="1900" b="1" spc="-15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900" b="1" spc="-25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Bad</a:t>
            </a:r>
            <a:endParaRPr sz="1900">
              <a:latin typeface="Arial" panose="020B0604020202090204"/>
              <a:cs typeface="Arial" panose="020B0604020202090204"/>
            </a:endParaRPr>
          </a:p>
          <a:p>
            <a:pPr algn="ctr">
              <a:lnSpc>
                <a:spcPct val="100000"/>
              </a:lnSpc>
              <a:spcBef>
                <a:spcPts val="1550"/>
              </a:spcBef>
            </a:pPr>
            <a:r>
              <a:rPr sz="950" b="1" spc="8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TARGET</a:t>
            </a:r>
            <a:r>
              <a:rPr sz="950" b="1" spc="165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b="1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·</a:t>
            </a:r>
            <a:r>
              <a:rPr sz="950" b="1" spc="17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b="1" spc="75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CREDIT_RISK</a:t>
            </a:r>
            <a:endParaRPr sz="9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79450" y="2718561"/>
            <a:ext cx="6184900" cy="3213100"/>
            <a:chOff x="679450" y="2718561"/>
            <a:chExt cx="6184900" cy="3213100"/>
          </a:xfrm>
        </p:grpSpPr>
        <p:sp>
          <p:nvSpPr>
            <p:cNvPr id="22" name="object 22"/>
            <p:cNvSpPr/>
            <p:nvPr/>
          </p:nvSpPr>
          <p:spPr>
            <a:xfrm>
              <a:off x="685800" y="2724911"/>
              <a:ext cx="6172200" cy="3200400"/>
            </a:xfrm>
            <a:custGeom>
              <a:avLst/>
              <a:gdLst/>
              <a:ahLst/>
              <a:cxnLst/>
              <a:rect l="l" t="t" r="r" b="b"/>
              <a:pathLst>
                <a:path w="6172200" h="3200400">
                  <a:moveTo>
                    <a:pt x="6099035" y="0"/>
                  </a:moveTo>
                  <a:lnTo>
                    <a:pt x="73161" y="0"/>
                  </a:lnTo>
                  <a:lnTo>
                    <a:pt x="44797" y="5786"/>
                  </a:lnTo>
                  <a:lnTo>
                    <a:pt x="21529" y="21528"/>
                  </a:lnTo>
                  <a:lnTo>
                    <a:pt x="5787" y="44796"/>
                  </a:lnTo>
                  <a:lnTo>
                    <a:pt x="0" y="73164"/>
                  </a:lnTo>
                  <a:lnTo>
                    <a:pt x="0" y="3127235"/>
                  </a:lnTo>
                  <a:lnTo>
                    <a:pt x="5787" y="3155597"/>
                  </a:lnTo>
                  <a:lnTo>
                    <a:pt x="21529" y="3178867"/>
                  </a:lnTo>
                  <a:lnTo>
                    <a:pt x="44797" y="3194611"/>
                  </a:lnTo>
                  <a:lnTo>
                    <a:pt x="73161" y="3200400"/>
                  </a:lnTo>
                  <a:lnTo>
                    <a:pt x="6099035" y="3200400"/>
                  </a:lnTo>
                  <a:lnTo>
                    <a:pt x="6127403" y="3194611"/>
                  </a:lnTo>
                  <a:lnTo>
                    <a:pt x="6150671" y="3178867"/>
                  </a:lnTo>
                  <a:lnTo>
                    <a:pt x="6166413" y="3155597"/>
                  </a:lnTo>
                  <a:lnTo>
                    <a:pt x="6172200" y="3127235"/>
                  </a:lnTo>
                  <a:lnTo>
                    <a:pt x="6172200" y="73164"/>
                  </a:lnTo>
                  <a:lnTo>
                    <a:pt x="6166413" y="44796"/>
                  </a:lnTo>
                  <a:lnTo>
                    <a:pt x="6150671" y="21528"/>
                  </a:lnTo>
                  <a:lnTo>
                    <a:pt x="6127403" y="5786"/>
                  </a:lnTo>
                  <a:lnTo>
                    <a:pt x="6099035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85800" y="2724911"/>
              <a:ext cx="6172200" cy="3200400"/>
            </a:xfrm>
            <a:custGeom>
              <a:avLst/>
              <a:gdLst/>
              <a:ahLst/>
              <a:cxnLst/>
              <a:rect l="l" t="t" r="r" b="b"/>
              <a:pathLst>
                <a:path w="6172200" h="3200400">
                  <a:moveTo>
                    <a:pt x="0" y="73164"/>
                  </a:moveTo>
                  <a:lnTo>
                    <a:pt x="5787" y="44796"/>
                  </a:lnTo>
                  <a:lnTo>
                    <a:pt x="21529" y="21528"/>
                  </a:lnTo>
                  <a:lnTo>
                    <a:pt x="44797" y="5786"/>
                  </a:lnTo>
                  <a:lnTo>
                    <a:pt x="73161" y="0"/>
                  </a:lnTo>
                  <a:lnTo>
                    <a:pt x="6099035" y="0"/>
                  </a:lnTo>
                  <a:lnTo>
                    <a:pt x="6127403" y="5786"/>
                  </a:lnTo>
                  <a:lnTo>
                    <a:pt x="6150671" y="21528"/>
                  </a:lnTo>
                  <a:lnTo>
                    <a:pt x="6166413" y="44796"/>
                  </a:lnTo>
                  <a:lnTo>
                    <a:pt x="6172200" y="73164"/>
                  </a:lnTo>
                  <a:lnTo>
                    <a:pt x="6172200" y="3127235"/>
                  </a:lnTo>
                  <a:lnTo>
                    <a:pt x="6166413" y="3155597"/>
                  </a:lnTo>
                  <a:lnTo>
                    <a:pt x="6150671" y="3178867"/>
                  </a:lnTo>
                  <a:lnTo>
                    <a:pt x="6127403" y="3194611"/>
                  </a:lnTo>
                  <a:lnTo>
                    <a:pt x="6099035" y="3200400"/>
                  </a:lnTo>
                  <a:lnTo>
                    <a:pt x="73161" y="3200400"/>
                  </a:lnTo>
                  <a:lnTo>
                    <a:pt x="44797" y="3194611"/>
                  </a:lnTo>
                  <a:lnTo>
                    <a:pt x="21529" y="3178867"/>
                  </a:lnTo>
                  <a:lnTo>
                    <a:pt x="5787" y="3155597"/>
                  </a:lnTo>
                  <a:lnTo>
                    <a:pt x="0" y="3127235"/>
                  </a:lnTo>
                  <a:lnTo>
                    <a:pt x="0" y="73164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947419" y="2989757"/>
            <a:ext cx="22320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8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IMPORTANT</a:t>
            </a:r>
            <a:r>
              <a:rPr sz="1350" b="1" spc="2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350" b="1" spc="7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FEATURES</a:t>
            </a:r>
            <a:endParaRPr sz="13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55357" y="3433381"/>
            <a:ext cx="2496820" cy="466725"/>
            <a:chOff x="955357" y="3433381"/>
            <a:chExt cx="2496820" cy="466725"/>
          </a:xfrm>
        </p:grpSpPr>
        <p:sp>
          <p:nvSpPr>
            <p:cNvPr id="26" name="object 26"/>
            <p:cNvSpPr/>
            <p:nvPr/>
          </p:nvSpPr>
          <p:spPr>
            <a:xfrm>
              <a:off x="960119" y="3438144"/>
              <a:ext cx="2487295" cy="457200"/>
            </a:xfrm>
            <a:custGeom>
              <a:avLst/>
              <a:gdLst/>
              <a:ahLst/>
              <a:cxnLst/>
              <a:rect l="l" t="t" r="r" b="b"/>
              <a:pathLst>
                <a:path w="2487295" h="457200">
                  <a:moveTo>
                    <a:pt x="2258568" y="0"/>
                  </a:moveTo>
                  <a:lnTo>
                    <a:pt x="228600" y="0"/>
                  </a:lnTo>
                  <a:lnTo>
                    <a:pt x="182771" y="4678"/>
                  </a:lnTo>
                  <a:lnTo>
                    <a:pt x="139975" y="18082"/>
                  </a:lnTo>
                  <a:lnTo>
                    <a:pt x="101159" y="39262"/>
                  </a:lnTo>
                  <a:lnTo>
                    <a:pt x="67272" y="67270"/>
                  </a:lnTo>
                  <a:lnTo>
                    <a:pt x="39264" y="101156"/>
                  </a:lnTo>
                  <a:lnTo>
                    <a:pt x="18083" y="139972"/>
                  </a:lnTo>
                  <a:lnTo>
                    <a:pt x="4679" y="182770"/>
                  </a:lnTo>
                  <a:lnTo>
                    <a:pt x="0" y="228600"/>
                  </a:lnTo>
                  <a:lnTo>
                    <a:pt x="4679" y="274426"/>
                  </a:lnTo>
                  <a:lnTo>
                    <a:pt x="18083" y="317221"/>
                  </a:lnTo>
                  <a:lnTo>
                    <a:pt x="39264" y="356037"/>
                  </a:lnTo>
                  <a:lnTo>
                    <a:pt x="67272" y="389924"/>
                  </a:lnTo>
                  <a:lnTo>
                    <a:pt x="101159" y="417933"/>
                  </a:lnTo>
                  <a:lnTo>
                    <a:pt x="139975" y="439115"/>
                  </a:lnTo>
                  <a:lnTo>
                    <a:pt x="182771" y="452520"/>
                  </a:lnTo>
                  <a:lnTo>
                    <a:pt x="228600" y="457200"/>
                  </a:lnTo>
                  <a:lnTo>
                    <a:pt x="2258568" y="457200"/>
                  </a:lnTo>
                  <a:lnTo>
                    <a:pt x="2304397" y="452520"/>
                  </a:lnTo>
                  <a:lnTo>
                    <a:pt x="2347195" y="439115"/>
                  </a:lnTo>
                  <a:lnTo>
                    <a:pt x="2386011" y="417933"/>
                  </a:lnTo>
                  <a:lnTo>
                    <a:pt x="2419897" y="389924"/>
                  </a:lnTo>
                  <a:lnTo>
                    <a:pt x="2447905" y="356037"/>
                  </a:lnTo>
                  <a:lnTo>
                    <a:pt x="2469085" y="317221"/>
                  </a:lnTo>
                  <a:lnTo>
                    <a:pt x="2482489" y="274426"/>
                  </a:lnTo>
                  <a:lnTo>
                    <a:pt x="2487168" y="228600"/>
                  </a:lnTo>
                  <a:lnTo>
                    <a:pt x="2482489" y="182770"/>
                  </a:lnTo>
                  <a:lnTo>
                    <a:pt x="2469085" y="139972"/>
                  </a:lnTo>
                  <a:lnTo>
                    <a:pt x="2447905" y="101156"/>
                  </a:lnTo>
                  <a:lnTo>
                    <a:pt x="2419897" y="67270"/>
                  </a:lnTo>
                  <a:lnTo>
                    <a:pt x="2386011" y="39262"/>
                  </a:lnTo>
                  <a:lnTo>
                    <a:pt x="2347195" y="18082"/>
                  </a:lnTo>
                  <a:lnTo>
                    <a:pt x="2304397" y="4678"/>
                  </a:lnTo>
                  <a:lnTo>
                    <a:pt x="2258568" y="0"/>
                  </a:lnTo>
                  <a:close/>
                </a:path>
              </a:pathLst>
            </a:custGeom>
            <a:solidFill>
              <a:srgbClr val="1D1D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60119" y="3438144"/>
              <a:ext cx="2487295" cy="457200"/>
            </a:xfrm>
            <a:custGeom>
              <a:avLst/>
              <a:gdLst/>
              <a:ahLst/>
              <a:cxnLst/>
              <a:rect l="l" t="t" r="r" b="b"/>
              <a:pathLst>
                <a:path w="2487295" h="457200">
                  <a:moveTo>
                    <a:pt x="0" y="228600"/>
                  </a:moveTo>
                  <a:lnTo>
                    <a:pt x="4679" y="182770"/>
                  </a:lnTo>
                  <a:lnTo>
                    <a:pt x="18083" y="139972"/>
                  </a:lnTo>
                  <a:lnTo>
                    <a:pt x="39264" y="101156"/>
                  </a:lnTo>
                  <a:lnTo>
                    <a:pt x="67272" y="67270"/>
                  </a:lnTo>
                  <a:lnTo>
                    <a:pt x="101159" y="39262"/>
                  </a:lnTo>
                  <a:lnTo>
                    <a:pt x="139975" y="18082"/>
                  </a:lnTo>
                  <a:lnTo>
                    <a:pt x="182771" y="4678"/>
                  </a:lnTo>
                  <a:lnTo>
                    <a:pt x="228600" y="0"/>
                  </a:lnTo>
                  <a:lnTo>
                    <a:pt x="2258568" y="0"/>
                  </a:lnTo>
                  <a:lnTo>
                    <a:pt x="2304397" y="4678"/>
                  </a:lnTo>
                  <a:lnTo>
                    <a:pt x="2347195" y="18082"/>
                  </a:lnTo>
                  <a:lnTo>
                    <a:pt x="2386011" y="39262"/>
                  </a:lnTo>
                  <a:lnTo>
                    <a:pt x="2419897" y="67270"/>
                  </a:lnTo>
                  <a:lnTo>
                    <a:pt x="2447905" y="101156"/>
                  </a:lnTo>
                  <a:lnTo>
                    <a:pt x="2469085" y="139972"/>
                  </a:lnTo>
                  <a:lnTo>
                    <a:pt x="2482489" y="182770"/>
                  </a:lnTo>
                  <a:lnTo>
                    <a:pt x="2487168" y="228600"/>
                  </a:lnTo>
                  <a:lnTo>
                    <a:pt x="2482489" y="274426"/>
                  </a:lnTo>
                  <a:lnTo>
                    <a:pt x="2469085" y="317221"/>
                  </a:lnTo>
                  <a:lnTo>
                    <a:pt x="2447905" y="356037"/>
                  </a:lnTo>
                  <a:lnTo>
                    <a:pt x="2419897" y="389924"/>
                  </a:lnTo>
                  <a:lnTo>
                    <a:pt x="2386011" y="417933"/>
                  </a:lnTo>
                  <a:lnTo>
                    <a:pt x="2347195" y="439115"/>
                  </a:lnTo>
                  <a:lnTo>
                    <a:pt x="2304397" y="452520"/>
                  </a:lnTo>
                  <a:lnTo>
                    <a:pt x="2258568" y="457200"/>
                  </a:lnTo>
                  <a:lnTo>
                    <a:pt x="228600" y="457200"/>
                  </a:lnTo>
                  <a:lnTo>
                    <a:pt x="182771" y="452520"/>
                  </a:lnTo>
                  <a:lnTo>
                    <a:pt x="139975" y="439115"/>
                  </a:lnTo>
                  <a:lnTo>
                    <a:pt x="101159" y="417933"/>
                  </a:lnTo>
                  <a:lnTo>
                    <a:pt x="67272" y="389924"/>
                  </a:lnTo>
                  <a:lnTo>
                    <a:pt x="39264" y="356037"/>
                  </a:lnTo>
                  <a:lnTo>
                    <a:pt x="18083" y="317221"/>
                  </a:lnTo>
                  <a:lnTo>
                    <a:pt x="4679" y="274426"/>
                  </a:lnTo>
                  <a:lnTo>
                    <a:pt x="0" y="228600"/>
                  </a:lnTo>
                  <a:close/>
                </a:path>
              </a:pathLst>
            </a:custGeom>
            <a:ln w="9524">
              <a:solidFill>
                <a:srgbClr val="E100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744737" y="3567264"/>
            <a:ext cx="9175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1100" spc="-5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Amount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625405" y="3433381"/>
            <a:ext cx="2496820" cy="466725"/>
            <a:chOff x="3625405" y="3433381"/>
            <a:chExt cx="2496820" cy="466725"/>
          </a:xfrm>
        </p:grpSpPr>
        <p:sp>
          <p:nvSpPr>
            <p:cNvPr id="30" name="object 30"/>
            <p:cNvSpPr/>
            <p:nvPr/>
          </p:nvSpPr>
          <p:spPr>
            <a:xfrm>
              <a:off x="3630167" y="3438144"/>
              <a:ext cx="2487295" cy="457200"/>
            </a:xfrm>
            <a:custGeom>
              <a:avLst/>
              <a:gdLst/>
              <a:ahLst/>
              <a:cxnLst/>
              <a:rect l="l" t="t" r="r" b="b"/>
              <a:pathLst>
                <a:path w="2487295" h="457200">
                  <a:moveTo>
                    <a:pt x="2258568" y="0"/>
                  </a:moveTo>
                  <a:lnTo>
                    <a:pt x="228600" y="0"/>
                  </a:lnTo>
                  <a:lnTo>
                    <a:pt x="182771" y="4678"/>
                  </a:lnTo>
                  <a:lnTo>
                    <a:pt x="139975" y="18082"/>
                  </a:lnTo>
                  <a:lnTo>
                    <a:pt x="101159" y="39262"/>
                  </a:lnTo>
                  <a:lnTo>
                    <a:pt x="67272" y="67270"/>
                  </a:lnTo>
                  <a:lnTo>
                    <a:pt x="39264" y="101156"/>
                  </a:lnTo>
                  <a:lnTo>
                    <a:pt x="18083" y="139972"/>
                  </a:lnTo>
                  <a:lnTo>
                    <a:pt x="4679" y="182770"/>
                  </a:lnTo>
                  <a:lnTo>
                    <a:pt x="0" y="228600"/>
                  </a:lnTo>
                  <a:lnTo>
                    <a:pt x="4679" y="274426"/>
                  </a:lnTo>
                  <a:lnTo>
                    <a:pt x="18083" y="317221"/>
                  </a:lnTo>
                  <a:lnTo>
                    <a:pt x="39264" y="356037"/>
                  </a:lnTo>
                  <a:lnTo>
                    <a:pt x="67272" y="389924"/>
                  </a:lnTo>
                  <a:lnTo>
                    <a:pt x="101159" y="417933"/>
                  </a:lnTo>
                  <a:lnTo>
                    <a:pt x="139975" y="439115"/>
                  </a:lnTo>
                  <a:lnTo>
                    <a:pt x="182771" y="452520"/>
                  </a:lnTo>
                  <a:lnTo>
                    <a:pt x="228600" y="457200"/>
                  </a:lnTo>
                  <a:lnTo>
                    <a:pt x="2258568" y="457200"/>
                  </a:lnTo>
                  <a:lnTo>
                    <a:pt x="2304397" y="452520"/>
                  </a:lnTo>
                  <a:lnTo>
                    <a:pt x="2347195" y="439115"/>
                  </a:lnTo>
                  <a:lnTo>
                    <a:pt x="2386011" y="417933"/>
                  </a:lnTo>
                  <a:lnTo>
                    <a:pt x="2419897" y="389924"/>
                  </a:lnTo>
                  <a:lnTo>
                    <a:pt x="2447905" y="356037"/>
                  </a:lnTo>
                  <a:lnTo>
                    <a:pt x="2469085" y="317221"/>
                  </a:lnTo>
                  <a:lnTo>
                    <a:pt x="2482489" y="274426"/>
                  </a:lnTo>
                  <a:lnTo>
                    <a:pt x="2487168" y="228600"/>
                  </a:lnTo>
                  <a:lnTo>
                    <a:pt x="2482489" y="182770"/>
                  </a:lnTo>
                  <a:lnTo>
                    <a:pt x="2469085" y="139972"/>
                  </a:lnTo>
                  <a:lnTo>
                    <a:pt x="2447905" y="101156"/>
                  </a:lnTo>
                  <a:lnTo>
                    <a:pt x="2419897" y="67270"/>
                  </a:lnTo>
                  <a:lnTo>
                    <a:pt x="2386011" y="39262"/>
                  </a:lnTo>
                  <a:lnTo>
                    <a:pt x="2347195" y="18082"/>
                  </a:lnTo>
                  <a:lnTo>
                    <a:pt x="2304397" y="4678"/>
                  </a:lnTo>
                  <a:lnTo>
                    <a:pt x="2258568" y="0"/>
                  </a:lnTo>
                  <a:close/>
                </a:path>
              </a:pathLst>
            </a:custGeom>
            <a:solidFill>
              <a:srgbClr val="1D1D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630167" y="3438144"/>
              <a:ext cx="2487295" cy="457200"/>
            </a:xfrm>
            <a:custGeom>
              <a:avLst/>
              <a:gdLst/>
              <a:ahLst/>
              <a:cxnLst/>
              <a:rect l="l" t="t" r="r" b="b"/>
              <a:pathLst>
                <a:path w="2487295" h="457200">
                  <a:moveTo>
                    <a:pt x="0" y="228600"/>
                  </a:moveTo>
                  <a:lnTo>
                    <a:pt x="4679" y="182770"/>
                  </a:lnTo>
                  <a:lnTo>
                    <a:pt x="18083" y="139972"/>
                  </a:lnTo>
                  <a:lnTo>
                    <a:pt x="39264" y="101156"/>
                  </a:lnTo>
                  <a:lnTo>
                    <a:pt x="67272" y="67270"/>
                  </a:lnTo>
                  <a:lnTo>
                    <a:pt x="101159" y="39262"/>
                  </a:lnTo>
                  <a:lnTo>
                    <a:pt x="139975" y="18082"/>
                  </a:lnTo>
                  <a:lnTo>
                    <a:pt x="182771" y="4678"/>
                  </a:lnTo>
                  <a:lnTo>
                    <a:pt x="228600" y="0"/>
                  </a:lnTo>
                  <a:lnTo>
                    <a:pt x="2258568" y="0"/>
                  </a:lnTo>
                  <a:lnTo>
                    <a:pt x="2304397" y="4678"/>
                  </a:lnTo>
                  <a:lnTo>
                    <a:pt x="2347195" y="18082"/>
                  </a:lnTo>
                  <a:lnTo>
                    <a:pt x="2386011" y="39262"/>
                  </a:lnTo>
                  <a:lnTo>
                    <a:pt x="2419897" y="67270"/>
                  </a:lnTo>
                  <a:lnTo>
                    <a:pt x="2447905" y="101156"/>
                  </a:lnTo>
                  <a:lnTo>
                    <a:pt x="2469085" y="139972"/>
                  </a:lnTo>
                  <a:lnTo>
                    <a:pt x="2482489" y="182770"/>
                  </a:lnTo>
                  <a:lnTo>
                    <a:pt x="2487168" y="228600"/>
                  </a:lnTo>
                  <a:lnTo>
                    <a:pt x="2482489" y="274426"/>
                  </a:lnTo>
                  <a:lnTo>
                    <a:pt x="2469085" y="317221"/>
                  </a:lnTo>
                  <a:lnTo>
                    <a:pt x="2447905" y="356037"/>
                  </a:lnTo>
                  <a:lnTo>
                    <a:pt x="2419897" y="389924"/>
                  </a:lnTo>
                  <a:lnTo>
                    <a:pt x="2386011" y="417933"/>
                  </a:lnTo>
                  <a:lnTo>
                    <a:pt x="2347195" y="439115"/>
                  </a:lnTo>
                  <a:lnTo>
                    <a:pt x="2304397" y="452520"/>
                  </a:lnTo>
                  <a:lnTo>
                    <a:pt x="2258568" y="457200"/>
                  </a:lnTo>
                  <a:lnTo>
                    <a:pt x="228600" y="457200"/>
                  </a:lnTo>
                  <a:lnTo>
                    <a:pt x="182771" y="452520"/>
                  </a:lnTo>
                  <a:lnTo>
                    <a:pt x="139975" y="439115"/>
                  </a:lnTo>
                  <a:lnTo>
                    <a:pt x="101159" y="417933"/>
                  </a:lnTo>
                  <a:lnTo>
                    <a:pt x="67272" y="389924"/>
                  </a:lnTo>
                  <a:lnTo>
                    <a:pt x="39264" y="356037"/>
                  </a:lnTo>
                  <a:lnTo>
                    <a:pt x="18083" y="317221"/>
                  </a:lnTo>
                  <a:lnTo>
                    <a:pt x="4679" y="274426"/>
                  </a:lnTo>
                  <a:lnTo>
                    <a:pt x="0" y="228600"/>
                  </a:lnTo>
                  <a:close/>
                </a:path>
              </a:pathLst>
            </a:custGeom>
            <a:ln w="9524">
              <a:solidFill>
                <a:srgbClr val="E100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302236" y="3567264"/>
            <a:ext cx="11436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Duration</a:t>
            </a:r>
            <a:r>
              <a:rPr sz="11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(Months)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7144258" y="2718562"/>
            <a:ext cx="4368165" cy="1384300"/>
            <a:chOff x="7144258" y="2718562"/>
            <a:chExt cx="4368165" cy="1384300"/>
          </a:xfrm>
        </p:grpSpPr>
        <p:sp>
          <p:nvSpPr>
            <p:cNvPr id="58" name="object 58"/>
            <p:cNvSpPr/>
            <p:nvPr/>
          </p:nvSpPr>
          <p:spPr>
            <a:xfrm>
              <a:off x="7150608" y="2724912"/>
              <a:ext cx="4355465" cy="1371600"/>
            </a:xfrm>
            <a:custGeom>
              <a:avLst/>
              <a:gdLst/>
              <a:ahLst/>
              <a:cxnLst/>
              <a:rect l="l" t="t" r="r" b="b"/>
              <a:pathLst>
                <a:path w="4355465" h="1371600">
                  <a:moveTo>
                    <a:pt x="4282135" y="0"/>
                  </a:moveTo>
                  <a:lnTo>
                    <a:pt x="73147" y="0"/>
                  </a:lnTo>
                  <a:lnTo>
                    <a:pt x="44789" y="5786"/>
                  </a:lnTo>
                  <a:lnTo>
                    <a:pt x="21525" y="21526"/>
                  </a:lnTo>
                  <a:lnTo>
                    <a:pt x="5786" y="44791"/>
                  </a:lnTo>
                  <a:lnTo>
                    <a:pt x="0" y="73151"/>
                  </a:lnTo>
                  <a:lnTo>
                    <a:pt x="0" y="1298448"/>
                  </a:lnTo>
                  <a:lnTo>
                    <a:pt x="5786" y="1326808"/>
                  </a:lnTo>
                  <a:lnTo>
                    <a:pt x="21525" y="1350073"/>
                  </a:lnTo>
                  <a:lnTo>
                    <a:pt x="44789" y="1365813"/>
                  </a:lnTo>
                  <a:lnTo>
                    <a:pt x="73147" y="1371600"/>
                  </a:lnTo>
                  <a:lnTo>
                    <a:pt x="4282135" y="1371600"/>
                  </a:lnTo>
                  <a:lnTo>
                    <a:pt x="4310495" y="1365813"/>
                  </a:lnTo>
                  <a:lnTo>
                    <a:pt x="4333760" y="1350073"/>
                  </a:lnTo>
                  <a:lnTo>
                    <a:pt x="4349500" y="1326808"/>
                  </a:lnTo>
                  <a:lnTo>
                    <a:pt x="4355287" y="1298448"/>
                  </a:lnTo>
                  <a:lnTo>
                    <a:pt x="4355287" y="73151"/>
                  </a:lnTo>
                  <a:lnTo>
                    <a:pt x="4349500" y="44791"/>
                  </a:lnTo>
                  <a:lnTo>
                    <a:pt x="4333760" y="21526"/>
                  </a:lnTo>
                  <a:lnTo>
                    <a:pt x="4310495" y="5786"/>
                  </a:lnTo>
                  <a:lnTo>
                    <a:pt x="4282135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7150608" y="2724912"/>
              <a:ext cx="4355465" cy="1371600"/>
            </a:xfrm>
            <a:custGeom>
              <a:avLst/>
              <a:gdLst/>
              <a:ahLst/>
              <a:cxnLst/>
              <a:rect l="l" t="t" r="r" b="b"/>
              <a:pathLst>
                <a:path w="4355465" h="1371600">
                  <a:moveTo>
                    <a:pt x="0" y="73151"/>
                  </a:moveTo>
                  <a:lnTo>
                    <a:pt x="5786" y="44791"/>
                  </a:lnTo>
                  <a:lnTo>
                    <a:pt x="21525" y="21526"/>
                  </a:lnTo>
                  <a:lnTo>
                    <a:pt x="44789" y="5786"/>
                  </a:lnTo>
                  <a:lnTo>
                    <a:pt x="73147" y="0"/>
                  </a:lnTo>
                  <a:lnTo>
                    <a:pt x="4282135" y="0"/>
                  </a:lnTo>
                  <a:lnTo>
                    <a:pt x="4310495" y="5786"/>
                  </a:lnTo>
                  <a:lnTo>
                    <a:pt x="4333760" y="21526"/>
                  </a:lnTo>
                  <a:lnTo>
                    <a:pt x="4349500" y="44791"/>
                  </a:lnTo>
                  <a:lnTo>
                    <a:pt x="4355287" y="73151"/>
                  </a:lnTo>
                  <a:lnTo>
                    <a:pt x="4355287" y="1298448"/>
                  </a:lnTo>
                  <a:lnTo>
                    <a:pt x="4349500" y="1326808"/>
                  </a:lnTo>
                  <a:lnTo>
                    <a:pt x="4333760" y="1350073"/>
                  </a:lnTo>
                  <a:lnTo>
                    <a:pt x="4310495" y="1365813"/>
                  </a:lnTo>
                  <a:lnTo>
                    <a:pt x="4282135" y="1371600"/>
                  </a:lnTo>
                  <a:lnTo>
                    <a:pt x="73147" y="1371600"/>
                  </a:lnTo>
                  <a:lnTo>
                    <a:pt x="44789" y="1365813"/>
                  </a:lnTo>
                  <a:lnTo>
                    <a:pt x="21525" y="1350073"/>
                  </a:lnTo>
                  <a:lnTo>
                    <a:pt x="5786" y="1326808"/>
                  </a:lnTo>
                  <a:lnTo>
                    <a:pt x="0" y="129844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7412228" y="2928442"/>
            <a:ext cx="1105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7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DATA</a:t>
            </a:r>
            <a:r>
              <a:rPr sz="1200" b="1" spc="2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200" b="1" spc="5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TYPES</a:t>
            </a:r>
            <a:endParaRPr sz="1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412228" y="3271113"/>
            <a:ext cx="3663950" cy="642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0"/>
              </a:spcBef>
            </a:pPr>
            <a:r>
              <a:rPr sz="1000" b="1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Numerical</a:t>
            </a:r>
            <a:r>
              <a:rPr sz="1000" b="1" spc="220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Age,</a:t>
            </a:r>
            <a:r>
              <a:rPr sz="100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100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Amount,</a:t>
            </a:r>
            <a:r>
              <a:rPr sz="100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Duration,</a:t>
            </a:r>
            <a:r>
              <a:rPr sz="100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Installment</a:t>
            </a:r>
            <a:r>
              <a:rPr sz="100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Rate… </a:t>
            </a:r>
            <a:r>
              <a:rPr sz="1000" b="1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Categorical</a:t>
            </a:r>
            <a:r>
              <a:rPr sz="1000" b="1" spc="215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Checking</a:t>
            </a:r>
            <a:r>
              <a:rPr sz="100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Status,</a:t>
            </a:r>
            <a:r>
              <a:rPr sz="100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100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History,</a:t>
            </a:r>
            <a:r>
              <a:rPr sz="100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Purpose,</a:t>
            </a:r>
            <a:r>
              <a:rPr sz="100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Housing, </a:t>
            </a:r>
            <a:r>
              <a:rPr sz="100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Job…</a:t>
            </a:r>
            <a:endParaRPr sz="10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55357" y="4036885"/>
            <a:ext cx="2496820" cy="466725"/>
            <a:chOff x="955357" y="4036885"/>
            <a:chExt cx="2496820" cy="466725"/>
          </a:xfrm>
        </p:grpSpPr>
        <p:sp>
          <p:nvSpPr>
            <p:cNvPr id="34" name="object 34"/>
            <p:cNvSpPr/>
            <p:nvPr/>
          </p:nvSpPr>
          <p:spPr>
            <a:xfrm>
              <a:off x="960119" y="4041647"/>
              <a:ext cx="2487295" cy="457200"/>
            </a:xfrm>
            <a:custGeom>
              <a:avLst/>
              <a:gdLst/>
              <a:ahLst/>
              <a:cxnLst/>
              <a:rect l="l" t="t" r="r" b="b"/>
              <a:pathLst>
                <a:path w="2487295" h="457200">
                  <a:moveTo>
                    <a:pt x="2258568" y="0"/>
                  </a:moveTo>
                  <a:lnTo>
                    <a:pt x="228600" y="0"/>
                  </a:lnTo>
                  <a:lnTo>
                    <a:pt x="182771" y="4678"/>
                  </a:lnTo>
                  <a:lnTo>
                    <a:pt x="139975" y="18082"/>
                  </a:lnTo>
                  <a:lnTo>
                    <a:pt x="101159" y="39262"/>
                  </a:lnTo>
                  <a:lnTo>
                    <a:pt x="67272" y="67270"/>
                  </a:lnTo>
                  <a:lnTo>
                    <a:pt x="39264" y="101156"/>
                  </a:lnTo>
                  <a:lnTo>
                    <a:pt x="18083" y="139972"/>
                  </a:lnTo>
                  <a:lnTo>
                    <a:pt x="4679" y="182770"/>
                  </a:lnTo>
                  <a:lnTo>
                    <a:pt x="0" y="228600"/>
                  </a:lnTo>
                  <a:lnTo>
                    <a:pt x="4679" y="274426"/>
                  </a:lnTo>
                  <a:lnTo>
                    <a:pt x="18083" y="317221"/>
                  </a:lnTo>
                  <a:lnTo>
                    <a:pt x="39264" y="356037"/>
                  </a:lnTo>
                  <a:lnTo>
                    <a:pt x="67272" y="389924"/>
                  </a:lnTo>
                  <a:lnTo>
                    <a:pt x="101159" y="417933"/>
                  </a:lnTo>
                  <a:lnTo>
                    <a:pt x="139975" y="439115"/>
                  </a:lnTo>
                  <a:lnTo>
                    <a:pt x="182771" y="452520"/>
                  </a:lnTo>
                  <a:lnTo>
                    <a:pt x="228600" y="457200"/>
                  </a:lnTo>
                  <a:lnTo>
                    <a:pt x="2258568" y="457200"/>
                  </a:lnTo>
                  <a:lnTo>
                    <a:pt x="2304397" y="452520"/>
                  </a:lnTo>
                  <a:lnTo>
                    <a:pt x="2347195" y="439115"/>
                  </a:lnTo>
                  <a:lnTo>
                    <a:pt x="2386011" y="417933"/>
                  </a:lnTo>
                  <a:lnTo>
                    <a:pt x="2419897" y="389924"/>
                  </a:lnTo>
                  <a:lnTo>
                    <a:pt x="2447905" y="356037"/>
                  </a:lnTo>
                  <a:lnTo>
                    <a:pt x="2469085" y="317221"/>
                  </a:lnTo>
                  <a:lnTo>
                    <a:pt x="2482489" y="274426"/>
                  </a:lnTo>
                  <a:lnTo>
                    <a:pt x="2487168" y="228600"/>
                  </a:lnTo>
                  <a:lnTo>
                    <a:pt x="2482489" y="182770"/>
                  </a:lnTo>
                  <a:lnTo>
                    <a:pt x="2469085" y="139972"/>
                  </a:lnTo>
                  <a:lnTo>
                    <a:pt x="2447905" y="101156"/>
                  </a:lnTo>
                  <a:lnTo>
                    <a:pt x="2419897" y="67270"/>
                  </a:lnTo>
                  <a:lnTo>
                    <a:pt x="2386011" y="39262"/>
                  </a:lnTo>
                  <a:lnTo>
                    <a:pt x="2347195" y="18082"/>
                  </a:lnTo>
                  <a:lnTo>
                    <a:pt x="2304397" y="4678"/>
                  </a:lnTo>
                  <a:lnTo>
                    <a:pt x="2258568" y="0"/>
                  </a:lnTo>
                  <a:close/>
                </a:path>
              </a:pathLst>
            </a:custGeom>
            <a:solidFill>
              <a:srgbClr val="1D1D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60119" y="4041647"/>
              <a:ext cx="2487295" cy="457200"/>
            </a:xfrm>
            <a:custGeom>
              <a:avLst/>
              <a:gdLst/>
              <a:ahLst/>
              <a:cxnLst/>
              <a:rect l="l" t="t" r="r" b="b"/>
              <a:pathLst>
                <a:path w="2487295" h="457200">
                  <a:moveTo>
                    <a:pt x="0" y="228600"/>
                  </a:moveTo>
                  <a:lnTo>
                    <a:pt x="4679" y="182770"/>
                  </a:lnTo>
                  <a:lnTo>
                    <a:pt x="18083" y="139972"/>
                  </a:lnTo>
                  <a:lnTo>
                    <a:pt x="39264" y="101156"/>
                  </a:lnTo>
                  <a:lnTo>
                    <a:pt x="67272" y="67270"/>
                  </a:lnTo>
                  <a:lnTo>
                    <a:pt x="101159" y="39262"/>
                  </a:lnTo>
                  <a:lnTo>
                    <a:pt x="139975" y="18082"/>
                  </a:lnTo>
                  <a:lnTo>
                    <a:pt x="182771" y="4678"/>
                  </a:lnTo>
                  <a:lnTo>
                    <a:pt x="228600" y="0"/>
                  </a:lnTo>
                  <a:lnTo>
                    <a:pt x="2258568" y="0"/>
                  </a:lnTo>
                  <a:lnTo>
                    <a:pt x="2304397" y="4678"/>
                  </a:lnTo>
                  <a:lnTo>
                    <a:pt x="2347195" y="18082"/>
                  </a:lnTo>
                  <a:lnTo>
                    <a:pt x="2386011" y="39262"/>
                  </a:lnTo>
                  <a:lnTo>
                    <a:pt x="2419897" y="67270"/>
                  </a:lnTo>
                  <a:lnTo>
                    <a:pt x="2447905" y="101156"/>
                  </a:lnTo>
                  <a:lnTo>
                    <a:pt x="2469085" y="139972"/>
                  </a:lnTo>
                  <a:lnTo>
                    <a:pt x="2482489" y="182770"/>
                  </a:lnTo>
                  <a:lnTo>
                    <a:pt x="2487168" y="228600"/>
                  </a:lnTo>
                  <a:lnTo>
                    <a:pt x="2482489" y="274426"/>
                  </a:lnTo>
                  <a:lnTo>
                    <a:pt x="2469085" y="317221"/>
                  </a:lnTo>
                  <a:lnTo>
                    <a:pt x="2447905" y="356037"/>
                  </a:lnTo>
                  <a:lnTo>
                    <a:pt x="2419897" y="389924"/>
                  </a:lnTo>
                  <a:lnTo>
                    <a:pt x="2386011" y="417933"/>
                  </a:lnTo>
                  <a:lnTo>
                    <a:pt x="2347195" y="439115"/>
                  </a:lnTo>
                  <a:lnTo>
                    <a:pt x="2304397" y="452520"/>
                  </a:lnTo>
                  <a:lnTo>
                    <a:pt x="2258568" y="457200"/>
                  </a:lnTo>
                  <a:lnTo>
                    <a:pt x="228600" y="457200"/>
                  </a:lnTo>
                  <a:lnTo>
                    <a:pt x="182771" y="452520"/>
                  </a:lnTo>
                  <a:lnTo>
                    <a:pt x="139975" y="439115"/>
                  </a:lnTo>
                  <a:lnTo>
                    <a:pt x="101159" y="417933"/>
                  </a:lnTo>
                  <a:lnTo>
                    <a:pt x="67272" y="389924"/>
                  </a:lnTo>
                  <a:lnTo>
                    <a:pt x="39264" y="356037"/>
                  </a:lnTo>
                  <a:lnTo>
                    <a:pt x="18083" y="317221"/>
                  </a:lnTo>
                  <a:lnTo>
                    <a:pt x="4679" y="274426"/>
                  </a:lnTo>
                  <a:lnTo>
                    <a:pt x="0" y="228600"/>
                  </a:lnTo>
                  <a:close/>
                </a:path>
              </a:pathLst>
            </a:custGeom>
            <a:ln w="9524">
              <a:solidFill>
                <a:srgbClr val="E100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1768134" y="4170768"/>
            <a:ext cx="87121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1100" spc="-5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History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625405" y="4036885"/>
            <a:ext cx="2496820" cy="466725"/>
            <a:chOff x="3625405" y="4036885"/>
            <a:chExt cx="2496820" cy="466725"/>
          </a:xfrm>
        </p:grpSpPr>
        <p:sp>
          <p:nvSpPr>
            <p:cNvPr id="38" name="object 38"/>
            <p:cNvSpPr/>
            <p:nvPr/>
          </p:nvSpPr>
          <p:spPr>
            <a:xfrm>
              <a:off x="3630167" y="4041647"/>
              <a:ext cx="2487295" cy="457200"/>
            </a:xfrm>
            <a:custGeom>
              <a:avLst/>
              <a:gdLst/>
              <a:ahLst/>
              <a:cxnLst/>
              <a:rect l="l" t="t" r="r" b="b"/>
              <a:pathLst>
                <a:path w="2487295" h="457200">
                  <a:moveTo>
                    <a:pt x="2258568" y="0"/>
                  </a:moveTo>
                  <a:lnTo>
                    <a:pt x="228600" y="0"/>
                  </a:lnTo>
                  <a:lnTo>
                    <a:pt x="182771" y="4678"/>
                  </a:lnTo>
                  <a:lnTo>
                    <a:pt x="139975" y="18082"/>
                  </a:lnTo>
                  <a:lnTo>
                    <a:pt x="101159" y="39262"/>
                  </a:lnTo>
                  <a:lnTo>
                    <a:pt x="67272" y="67270"/>
                  </a:lnTo>
                  <a:lnTo>
                    <a:pt x="39264" y="101156"/>
                  </a:lnTo>
                  <a:lnTo>
                    <a:pt x="18083" y="139972"/>
                  </a:lnTo>
                  <a:lnTo>
                    <a:pt x="4679" y="182770"/>
                  </a:lnTo>
                  <a:lnTo>
                    <a:pt x="0" y="228600"/>
                  </a:lnTo>
                  <a:lnTo>
                    <a:pt x="4679" y="274426"/>
                  </a:lnTo>
                  <a:lnTo>
                    <a:pt x="18083" y="317221"/>
                  </a:lnTo>
                  <a:lnTo>
                    <a:pt x="39264" y="356037"/>
                  </a:lnTo>
                  <a:lnTo>
                    <a:pt x="67272" y="389924"/>
                  </a:lnTo>
                  <a:lnTo>
                    <a:pt x="101159" y="417933"/>
                  </a:lnTo>
                  <a:lnTo>
                    <a:pt x="139975" y="439115"/>
                  </a:lnTo>
                  <a:lnTo>
                    <a:pt x="182771" y="452520"/>
                  </a:lnTo>
                  <a:lnTo>
                    <a:pt x="228600" y="457200"/>
                  </a:lnTo>
                  <a:lnTo>
                    <a:pt x="2258568" y="457200"/>
                  </a:lnTo>
                  <a:lnTo>
                    <a:pt x="2304397" y="452520"/>
                  </a:lnTo>
                  <a:lnTo>
                    <a:pt x="2347195" y="439115"/>
                  </a:lnTo>
                  <a:lnTo>
                    <a:pt x="2386011" y="417933"/>
                  </a:lnTo>
                  <a:lnTo>
                    <a:pt x="2419897" y="389924"/>
                  </a:lnTo>
                  <a:lnTo>
                    <a:pt x="2447905" y="356037"/>
                  </a:lnTo>
                  <a:lnTo>
                    <a:pt x="2469085" y="317221"/>
                  </a:lnTo>
                  <a:lnTo>
                    <a:pt x="2482489" y="274426"/>
                  </a:lnTo>
                  <a:lnTo>
                    <a:pt x="2487168" y="228600"/>
                  </a:lnTo>
                  <a:lnTo>
                    <a:pt x="2482489" y="182770"/>
                  </a:lnTo>
                  <a:lnTo>
                    <a:pt x="2469085" y="139972"/>
                  </a:lnTo>
                  <a:lnTo>
                    <a:pt x="2447905" y="101156"/>
                  </a:lnTo>
                  <a:lnTo>
                    <a:pt x="2419897" y="67270"/>
                  </a:lnTo>
                  <a:lnTo>
                    <a:pt x="2386011" y="39262"/>
                  </a:lnTo>
                  <a:lnTo>
                    <a:pt x="2347195" y="18082"/>
                  </a:lnTo>
                  <a:lnTo>
                    <a:pt x="2304397" y="4678"/>
                  </a:lnTo>
                  <a:lnTo>
                    <a:pt x="2258568" y="0"/>
                  </a:lnTo>
                  <a:close/>
                </a:path>
              </a:pathLst>
            </a:custGeom>
            <a:solidFill>
              <a:srgbClr val="1D1D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630167" y="4041647"/>
              <a:ext cx="2487295" cy="457200"/>
            </a:xfrm>
            <a:custGeom>
              <a:avLst/>
              <a:gdLst/>
              <a:ahLst/>
              <a:cxnLst/>
              <a:rect l="l" t="t" r="r" b="b"/>
              <a:pathLst>
                <a:path w="2487295" h="457200">
                  <a:moveTo>
                    <a:pt x="0" y="228600"/>
                  </a:moveTo>
                  <a:lnTo>
                    <a:pt x="4679" y="182770"/>
                  </a:lnTo>
                  <a:lnTo>
                    <a:pt x="18083" y="139972"/>
                  </a:lnTo>
                  <a:lnTo>
                    <a:pt x="39264" y="101156"/>
                  </a:lnTo>
                  <a:lnTo>
                    <a:pt x="67272" y="67270"/>
                  </a:lnTo>
                  <a:lnTo>
                    <a:pt x="101159" y="39262"/>
                  </a:lnTo>
                  <a:lnTo>
                    <a:pt x="139975" y="18082"/>
                  </a:lnTo>
                  <a:lnTo>
                    <a:pt x="182771" y="4678"/>
                  </a:lnTo>
                  <a:lnTo>
                    <a:pt x="228600" y="0"/>
                  </a:lnTo>
                  <a:lnTo>
                    <a:pt x="2258568" y="0"/>
                  </a:lnTo>
                  <a:lnTo>
                    <a:pt x="2304397" y="4678"/>
                  </a:lnTo>
                  <a:lnTo>
                    <a:pt x="2347195" y="18082"/>
                  </a:lnTo>
                  <a:lnTo>
                    <a:pt x="2386011" y="39262"/>
                  </a:lnTo>
                  <a:lnTo>
                    <a:pt x="2419897" y="67270"/>
                  </a:lnTo>
                  <a:lnTo>
                    <a:pt x="2447905" y="101156"/>
                  </a:lnTo>
                  <a:lnTo>
                    <a:pt x="2469085" y="139972"/>
                  </a:lnTo>
                  <a:lnTo>
                    <a:pt x="2482489" y="182770"/>
                  </a:lnTo>
                  <a:lnTo>
                    <a:pt x="2487168" y="228600"/>
                  </a:lnTo>
                  <a:lnTo>
                    <a:pt x="2482489" y="274426"/>
                  </a:lnTo>
                  <a:lnTo>
                    <a:pt x="2469085" y="317221"/>
                  </a:lnTo>
                  <a:lnTo>
                    <a:pt x="2447905" y="356037"/>
                  </a:lnTo>
                  <a:lnTo>
                    <a:pt x="2419897" y="389924"/>
                  </a:lnTo>
                  <a:lnTo>
                    <a:pt x="2386011" y="417933"/>
                  </a:lnTo>
                  <a:lnTo>
                    <a:pt x="2347195" y="439115"/>
                  </a:lnTo>
                  <a:lnTo>
                    <a:pt x="2304397" y="452520"/>
                  </a:lnTo>
                  <a:lnTo>
                    <a:pt x="2258568" y="457200"/>
                  </a:lnTo>
                  <a:lnTo>
                    <a:pt x="228600" y="457200"/>
                  </a:lnTo>
                  <a:lnTo>
                    <a:pt x="182771" y="452520"/>
                  </a:lnTo>
                  <a:lnTo>
                    <a:pt x="139975" y="439115"/>
                  </a:lnTo>
                  <a:lnTo>
                    <a:pt x="101159" y="417933"/>
                  </a:lnTo>
                  <a:lnTo>
                    <a:pt x="67272" y="389924"/>
                  </a:lnTo>
                  <a:lnTo>
                    <a:pt x="39264" y="356037"/>
                  </a:lnTo>
                  <a:lnTo>
                    <a:pt x="18083" y="317221"/>
                  </a:lnTo>
                  <a:lnTo>
                    <a:pt x="4679" y="274426"/>
                  </a:lnTo>
                  <a:lnTo>
                    <a:pt x="0" y="228600"/>
                  </a:lnTo>
                  <a:close/>
                </a:path>
              </a:pathLst>
            </a:custGeom>
            <a:ln w="9524">
              <a:solidFill>
                <a:srgbClr val="E100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4352611" y="4170768"/>
            <a:ext cx="104266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Checking</a:t>
            </a:r>
            <a:r>
              <a:rPr sz="1100" spc="-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Status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955357" y="4640389"/>
            <a:ext cx="2496820" cy="466725"/>
            <a:chOff x="955357" y="4640389"/>
            <a:chExt cx="2496820" cy="466725"/>
          </a:xfrm>
        </p:grpSpPr>
        <p:sp>
          <p:nvSpPr>
            <p:cNvPr id="42" name="object 42"/>
            <p:cNvSpPr/>
            <p:nvPr/>
          </p:nvSpPr>
          <p:spPr>
            <a:xfrm>
              <a:off x="960119" y="4645152"/>
              <a:ext cx="2487295" cy="457200"/>
            </a:xfrm>
            <a:custGeom>
              <a:avLst/>
              <a:gdLst/>
              <a:ahLst/>
              <a:cxnLst/>
              <a:rect l="l" t="t" r="r" b="b"/>
              <a:pathLst>
                <a:path w="2487295" h="457200">
                  <a:moveTo>
                    <a:pt x="2258568" y="0"/>
                  </a:moveTo>
                  <a:lnTo>
                    <a:pt x="228600" y="0"/>
                  </a:lnTo>
                  <a:lnTo>
                    <a:pt x="182771" y="4678"/>
                  </a:lnTo>
                  <a:lnTo>
                    <a:pt x="139975" y="18082"/>
                  </a:lnTo>
                  <a:lnTo>
                    <a:pt x="101159" y="39262"/>
                  </a:lnTo>
                  <a:lnTo>
                    <a:pt x="67272" y="67270"/>
                  </a:lnTo>
                  <a:lnTo>
                    <a:pt x="39264" y="101156"/>
                  </a:lnTo>
                  <a:lnTo>
                    <a:pt x="18083" y="139972"/>
                  </a:lnTo>
                  <a:lnTo>
                    <a:pt x="4679" y="182770"/>
                  </a:lnTo>
                  <a:lnTo>
                    <a:pt x="0" y="228600"/>
                  </a:lnTo>
                  <a:lnTo>
                    <a:pt x="4679" y="274426"/>
                  </a:lnTo>
                  <a:lnTo>
                    <a:pt x="18083" y="317221"/>
                  </a:lnTo>
                  <a:lnTo>
                    <a:pt x="39264" y="356037"/>
                  </a:lnTo>
                  <a:lnTo>
                    <a:pt x="67272" y="389924"/>
                  </a:lnTo>
                  <a:lnTo>
                    <a:pt x="101159" y="417933"/>
                  </a:lnTo>
                  <a:lnTo>
                    <a:pt x="139975" y="439115"/>
                  </a:lnTo>
                  <a:lnTo>
                    <a:pt x="182771" y="452520"/>
                  </a:lnTo>
                  <a:lnTo>
                    <a:pt x="228600" y="457200"/>
                  </a:lnTo>
                  <a:lnTo>
                    <a:pt x="2258568" y="457200"/>
                  </a:lnTo>
                  <a:lnTo>
                    <a:pt x="2304397" y="452520"/>
                  </a:lnTo>
                  <a:lnTo>
                    <a:pt x="2347195" y="439115"/>
                  </a:lnTo>
                  <a:lnTo>
                    <a:pt x="2386011" y="417933"/>
                  </a:lnTo>
                  <a:lnTo>
                    <a:pt x="2419897" y="389924"/>
                  </a:lnTo>
                  <a:lnTo>
                    <a:pt x="2447905" y="356037"/>
                  </a:lnTo>
                  <a:lnTo>
                    <a:pt x="2469085" y="317221"/>
                  </a:lnTo>
                  <a:lnTo>
                    <a:pt x="2482489" y="274426"/>
                  </a:lnTo>
                  <a:lnTo>
                    <a:pt x="2487168" y="228600"/>
                  </a:lnTo>
                  <a:lnTo>
                    <a:pt x="2482489" y="182770"/>
                  </a:lnTo>
                  <a:lnTo>
                    <a:pt x="2469085" y="139972"/>
                  </a:lnTo>
                  <a:lnTo>
                    <a:pt x="2447905" y="101156"/>
                  </a:lnTo>
                  <a:lnTo>
                    <a:pt x="2419897" y="67270"/>
                  </a:lnTo>
                  <a:lnTo>
                    <a:pt x="2386011" y="39262"/>
                  </a:lnTo>
                  <a:lnTo>
                    <a:pt x="2347195" y="18082"/>
                  </a:lnTo>
                  <a:lnTo>
                    <a:pt x="2304397" y="4678"/>
                  </a:lnTo>
                  <a:lnTo>
                    <a:pt x="2258568" y="0"/>
                  </a:lnTo>
                  <a:close/>
                </a:path>
              </a:pathLst>
            </a:custGeom>
            <a:solidFill>
              <a:srgbClr val="1D1D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960119" y="4645152"/>
              <a:ext cx="2487295" cy="457200"/>
            </a:xfrm>
            <a:custGeom>
              <a:avLst/>
              <a:gdLst/>
              <a:ahLst/>
              <a:cxnLst/>
              <a:rect l="l" t="t" r="r" b="b"/>
              <a:pathLst>
                <a:path w="2487295" h="457200">
                  <a:moveTo>
                    <a:pt x="0" y="228600"/>
                  </a:moveTo>
                  <a:lnTo>
                    <a:pt x="4679" y="182770"/>
                  </a:lnTo>
                  <a:lnTo>
                    <a:pt x="18083" y="139972"/>
                  </a:lnTo>
                  <a:lnTo>
                    <a:pt x="39264" y="101156"/>
                  </a:lnTo>
                  <a:lnTo>
                    <a:pt x="67272" y="67270"/>
                  </a:lnTo>
                  <a:lnTo>
                    <a:pt x="101159" y="39262"/>
                  </a:lnTo>
                  <a:lnTo>
                    <a:pt x="139975" y="18082"/>
                  </a:lnTo>
                  <a:lnTo>
                    <a:pt x="182771" y="4678"/>
                  </a:lnTo>
                  <a:lnTo>
                    <a:pt x="228600" y="0"/>
                  </a:lnTo>
                  <a:lnTo>
                    <a:pt x="2258568" y="0"/>
                  </a:lnTo>
                  <a:lnTo>
                    <a:pt x="2304397" y="4678"/>
                  </a:lnTo>
                  <a:lnTo>
                    <a:pt x="2347195" y="18082"/>
                  </a:lnTo>
                  <a:lnTo>
                    <a:pt x="2386011" y="39262"/>
                  </a:lnTo>
                  <a:lnTo>
                    <a:pt x="2419897" y="67270"/>
                  </a:lnTo>
                  <a:lnTo>
                    <a:pt x="2447905" y="101156"/>
                  </a:lnTo>
                  <a:lnTo>
                    <a:pt x="2469085" y="139972"/>
                  </a:lnTo>
                  <a:lnTo>
                    <a:pt x="2482489" y="182770"/>
                  </a:lnTo>
                  <a:lnTo>
                    <a:pt x="2487168" y="228600"/>
                  </a:lnTo>
                  <a:lnTo>
                    <a:pt x="2482489" y="274426"/>
                  </a:lnTo>
                  <a:lnTo>
                    <a:pt x="2469085" y="317221"/>
                  </a:lnTo>
                  <a:lnTo>
                    <a:pt x="2447905" y="356037"/>
                  </a:lnTo>
                  <a:lnTo>
                    <a:pt x="2419897" y="389924"/>
                  </a:lnTo>
                  <a:lnTo>
                    <a:pt x="2386011" y="417933"/>
                  </a:lnTo>
                  <a:lnTo>
                    <a:pt x="2347195" y="439115"/>
                  </a:lnTo>
                  <a:lnTo>
                    <a:pt x="2304397" y="452520"/>
                  </a:lnTo>
                  <a:lnTo>
                    <a:pt x="2258568" y="457200"/>
                  </a:lnTo>
                  <a:lnTo>
                    <a:pt x="228600" y="457200"/>
                  </a:lnTo>
                  <a:lnTo>
                    <a:pt x="182771" y="452520"/>
                  </a:lnTo>
                  <a:lnTo>
                    <a:pt x="139975" y="439115"/>
                  </a:lnTo>
                  <a:lnTo>
                    <a:pt x="101159" y="417933"/>
                  </a:lnTo>
                  <a:lnTo>
                    <a:pt x="67272" y="389924"/>
                  </a:lnTo>
                  <a:lnTo>
                    <a:pt x="39264" y="356037"/>
                  </a:lnTo>
                  <a:lnTo>
                    <a:pt x="18083" y="317221"/>
                  </a:lnTo>
                  <a:lnTo>
                    <a:pt x="4679" y="274426"/>
                  </a:lnTo>
                  <a:lnTo>
                    <a:pt x="0" y="228600"/>
                  </a:lnTo>
                  <a:close/>
                </a:path>
              </a:pathLst>
            </a:custGeom>
            <a:ln w="9524">
              <a:solidFill>
                <a:srgbClr val="E100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1725263" y="4774272"/>
            <a:ext cx="9575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Savings</a:t>
            </a:r>
            <a:r>
              <a:rPr sz="1100" spc="-4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Status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625405" y="4640389"/>
            <a:ext cx="2496820" cy="466725"/>
            <a:chOff x="3625405" y="4640389"/>
            <a:chExt cx="2496820" cy="466725"/>
          </a:xfrm>
        </p:grpSpPr>
        <p:sp>
          <p:nvSpPr>
            <p:cNvPr id="46" name="object 46"/>
            <p:cNvSpPr/>
            <p:nvPr/>
          </p:nvSpPr>
          <p:spPr>
            <a:xfrm>
              <a:off x="3630167" y="4645152"/>
              <a:ext cx="2487295" cy="457200"/>
            </a:xfrm>
            <a:custGeom>
              <a:avLst/>
              <a:gdLst/>
              <a:ahLst/>
              <a:cxnLst/>
              <a:rect l="l" t="t" r="r" b="b"/>
              <a:pathLst>
                <a:path w="2487295" h="457200">
                  <a:moveTo>
                    <a:pt x="2258568" y="0"/>
                  </a:moveTo>
                  <a:lnTo>
                    <a:pt x="228600" y="0"/>
                  </a:lnTo>
                  <a:lnTo>
                    <a:pt x="182771" y="4678"/>
                  </a:lnTo>
                  <a:lnTo>
                    <a:pt x="139975" y="18082"/>
                  </a:lnTo>
                  <a:lnTo>
                    <a:pt x="101159" y="39262"/>
                  </a:lnTo>
                  <a:lnTo>
                    <a:pt x="67272" y="67270"/>
                  </a:lnTo>
                  <a:lnTo>
                    <a:pt x="39264" y="101156"/>
                  </a:lnTo>
                  <a:lnTo>
                    <a:pt x="18083" y="139972"/>
                  </a:lnTo>
                  <a:lnTo>
                    <a:pt x="4679" y="182770"/>
                  </a:lnTo>
                  <a:lnTo>
                    <a:pt x="0" y="228600"/>
                  </a:lnTo>
                  <a:lnTo>
                    <a:pt x="4679" y="274426"/>
                  </a:lnTo>
                  <a:lnTo>
                    <a:pt x="18083" y="317221"/>
                  </a:lnTo>
                  <a:lnTo>
                    <a:pt x="39264" y="356037"/>
                  </a:lnTo>
                  <a:lnTo>
                    <a:pt x="67272" y="389924"/>
                  </a:lnTo>
                  <a:lnTo>
                    <a:pt x="101159" y="417933"/>
                  </a:lnTo>
                  <a:lnTo>
                    <a:pt x="139975" y="439115"/>
                  </a:lnTo>
                  <a:lnTo>
                    <a:pt x="182771" y="452520"/>
                  </a:lnTo>
                  <a:lnTo>
                    <a:pt x="228600" y="457200"/>
                  </a:lnTo>
                  <a:lnTo>
                    <a:pt x="2258568" y="457200"/>
                  </a:lnTo>
                  <a:lnTo>
                    <a:pt x="2304397" y="452520"/>
                  </a:lnTo>
                  <a:lnTo>
                    <a:pt x="2347195" y="439115"/>
                  </a:lnTo>
                  <a:lnTo>
                    <a:pt x="2386011" y="417933"/>
                  </a:lnTo>
                  <a:lnTo>
                    <a:pt x="2419897" y="389924"/>
                  </a:lnTo>
                  <a:lnTo>
                    <a:pt x="2447905" y="356037"/>
                  </a:lnTo>
                  <a:lnTo>
                    <a:pt x="2469085" y="317221"/>
                  </a:lnTo>
                  <a:lnTo>
                    <a:pt x="2482489" y="274426"/>
                  </a:lnTo>
                  <a:lnTo>
                    <a:pt x="2487168" y="228600"/>
                  </a:lnTo>
                  <a:lnTo>
                    <a:pt x="2482489" y="182770"/>
                  </a:lnTo>
                  <a:lnTo>
                    <a:pt x="2469085" y="139972"/>
                  </a:lnTo>
                  <a:lnTo>
                    <a:pt x="2447905" y="101156"/>
                  </a:lnTo>
                  <a:lnTo>
                    <a:pt x="2419897" y="67270"/>
                  </a:lnTo>
                  <a:lnTo>
                    <a:pt x="2386011" y="39262"/>
                  </a:lnTo>
                  <a:lnTo>
                    <a:pt x="2347195" y="18082"/>
                  </a:lnTo>
                  <a:lnTo>
                    <a:pt x="2304397" y="4678"/>
                  </a:lnTo>
                  <a:lnTo>
                    <a:pt x="2258568" y="0"/>
                  </a:lnTo>
                  <a:close/>
                </a:path>
              </a:pathLst>
            </a:custGeom>
            <a:solidFill>
              <a:srgbClr val="1D1D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630167" y="4645152"/>
              <a:ext cx="2487295" cy="457200"/>
            </a:xfrm>
            <a:custGeom>
              <a:avLst/>
              <a:gdLst/>
              <a:ahLst/>
              <a:cxnLst/>
              <a:rect l="l" t="t" r="r" b="b"/>
              <a:pathLst>
                <a:path w="2487295" h="457200">
                  <a:moveTo>
                    <a:pt x="0" y="228600"/>
                  </a:moveTo>
                  <a:lnTo>
                    <a:pt x="4679" y="182770"/>
                  </a:lnTo>
                  <a:lnTo>
                    <a:pt x="18083" y="139972"/>
                  </a:lnTo>
                  <a:lnTo>
                    <a:pt x="39264" y="101156"/>
                  </a:lnTo>
                  <a:lnTo>
                    <a:pt x="67272" y="67270"/>
                  </a:lnTo>
                  <a:lnTo>
                    <a:pt x="101159" y="39262"/>
                  </a:lnTo>
                  <a:lnTo>
                    <a:pt x="139975" y="18082"/>
                  </a:lnTo>
                  <a:lnTo>
                    <a:pt x="182771" y="4678"/>
                  </a:lnTo>
                  <a:lnTo>
                    <a:pt x="228600" y="0"/>
                  </a:lnTo>
                  <a:lnTo>
                    <a:pt x="2258568" y="0"/>
                  </a:lnTo>
                  <a:lnTo>
                    <a:pt x="2304397" y="4678"/>
                  </a:lnTo>
                  <a:lnTo>
                    <a:pt x="2347195" y="18082"/>
                  </a:lnTo>
                  <a:lnTo>
                    <a:pt x="2386011" y="39262"/>
                  </a:lnTo>
                  <a:lnTo>
                    <a:pt x="2419897" y="67270"/>
                  </a:lnTo>
                  <a:lnTo>
                    <a:pt x="2447905" y="101156"/>
                  </a:lnTo>
                  <a:lnTo>
                    <a:pt x="2469085" y="139972"/>
                  </a:lnTo>
                  <a:lnTo>
                    <a:pt x="2482489" y="182770"/>
                  </a:lnTo>
                  <a:lnTo>
                    <a:pt x="2487168" y="228600"/>
                  </a:lnTo>
                  <a:lnTo>
                    <a:pt x="2482489" y="274426"/>
                  </a:lnTo>
                  <a:lnTo>
                    <a:pt x="2469085" y="317221"/>
                  </a:lnTo>
                  <a:lnTo>
                    <a:pt x="2447905" y="356037"/>
                  </a:lnTo>
                  <a:lnTo>
                    <a:pt x="2419897" y="389924"/>
                  </a:lnTo>
                  <a:lnTo>
                    <a:pt x="2386011" y="417933"/>
                  </a:lnTo>
                  <a:lnTo>
                    <a:pt x="2347195" y="439115"/>
                  </a:lnTo>
                  <a:lnTo>
                    <a:pt x="2304397" y="452520"/>
                  </a:lnTo>
                  <a:lnTo>
                    <a:pt x="2258568" y="457200"/>
                  </a:lnTo>
                  <a:lnTo>
                    <a:pt x="228600" y="457200"/>
                  </a:lnTo>
                  <a:lnTo>
                    <a:pt x="182771" y="452520"/>
                  </a:lnTo>
                  <a:lnTo>
                    <a:pt x="139975" y="439115"/>
                  </a:lnTo>
                  <a:lnTo>
                    <a:pt x="101159" y="417933"/>
                  </a:lnTo>
                  <a:lnTo>
                    <a:pt x="67272" y="389924"/>
                  </a:lnTo>
                  <a:lnTo>
                    <a:pt x="39264" y="356037"/>
                  </a:lnTo>
                  <a:lnTo>
                    <a:pt x="18083" y="317221"/>
                  </a:lnTo>
                  <a:lnTo>
                    <a:pt x="4679" y="274426"/>
                  </a:lnTo>
                  <a:lnTo>
                    <a:pt x="0" y="228600"/>
                  </a:lnTo>
                  <a:close/>
                </a:path>
              </a:pathLst>
            </a:custGeom>
            <a:ln w="9524">
              <a:solidFill>
                <a:srgbClr val="E100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4278908" y="4774272"/>
            <a:ext cx="11893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Employment</a:t>
            </a:r>
            <a:r>
              <a:rPr sz="1100" spc="-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Since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955357" y="5243893"/>
            <a:ext cx="2496820" cy="466725"/>
            <a:chOff x="955357" y="5243893"/>
            <a:chExt cx="2496820" cy="466725"/>
          </a:xfrm>
        </p:grpSpPr>
        <p:sp>
          <p:nvSpPr>
            <p:cNvPr id="50" name="object 50"/>
            <p:cNvSpPr/>
            <p:nvPr/>
          </p:nvSpPr>
          <p:spPr>
            <a:xfrm>
              <a:off x="960119" y="5248655"/>
              <a:ext cx="2487295" cy="457200"/>
            </a:xfrm>
            <a:custGeom>
              <a:avLst/>
              <a:gdLst/>
              <a:ahLst/>
              <a:cxnLst/>
              <a:rect l="l" t="t" r="r" b="b"/>
              <a:pathLst>
                <a:path w="2487295" h="457200">
                  <a:moveTo>
                    <a:pt x="2258568" y="0"/>
                  </a:moveTo>
                  <a:lnTo>
                    <a:pt x="228600" y="0"/>
                  </a:lnTo>
                  <a:lnTo>
                    <a:pt x="182771" y="4678"/>
                  </a:lnTo>
                  <a:lnTo>
                    <a:pt x="139975" y="18082"/>
                  </a:lnTo>
                  <a:lnTo>
                    <a:pt x="101159" y="39262"/>
                  </a:lnTo>
                  <a:lnTo>
                    <a:pt x="67272" y="67270"/>
                  </a:lnTo>
                  <a:lnTo>
                    <a:pt x="39264" y="101156"/>
                  </a:lnTo>
                  <a:lnTo>
                    <a:pt x="18083" y="139972"/>
                  </a:lnTo>
                  <a:lnTo>
                    <a:pt x="4679" y="182770"/>
                  </a:lnTo>
                  <a:lnTo>
                    <a:pt x="0" y="228600"/>
                  </a:lnTo>
                  <a:lnTo>
                    <a:pt x="4679" y="274426"/>
                  </a:lnTo>
                  <a:lnTo>
                    <a:pt x="18083" y="317221"/>
                  </a:lnTo>
                  <a:lnTo>
                    <a:pt x="39264" y="356037"/>
                  </a:lnTo>
                  <a:lnTo>
                    <a:pt x="67272" y="389924"/>
                  </a:lnTo>
                  <a:lnTo>
                    <a:pt x="101159" y="417933"/>
                  </a:lnTo>
                  <a:lnTo>
                    <a:pt x="139975" y="439115"/>
                  </a:lnTo>
                  <a:lnTo>
                    <a:pt x="182771" y="452520"/>
                  </a:lnTo>
                  <a:lnTo>
                    <a:pt x="228600" y="457200"/>
                  </a:lnTo>
                  <a:lnTo>
                    <a:pt x="2258568" y="457200"/>
                  </a:lnTo>
                  <a:lnTo>
                    <a:pt x="2304397" y="452520"/>
                  </a:lnTo>
                  <a:lnTo>
                    <a:pt x="2347195" y="439115"/>
                  </a:lnTo>
                  <a:lnTo>
                    <a:pt x="2386011" y="417933"/>
                  </a:lnTo>
                  <a:lnTo>
                    <a:pt x="2419897" y="389924"/>
                  </a:lnTo>
                  <a:lnTo>
                    <a:pt x="2447905" y="356037"/>
                  </a:lnTo>
                  <a:lnTo>
                    <a:pt x="2469085" y="317221"/>
                  </a:lnTo>
                  <a:lnTo>
                    <a:pt x="2482489" y="274426"/>
                  </a:lnTo>
                  <a:lnTo>
                    <a:pt x="2487168" y="228600"/>
                  </a:lnTo>
                  <a:lnTo>
                    <a:pt x="2482489" y="182770"/>
                  </a:lnTo>
                  <a:lnTo>
                    <a:pt x="2469085" y="139972"/>
                  </a:lnTo>
                  <a:lnTo>
                    <a:pt x="2447905" y="101156"/>
                  </a:lnTo>
                  <a:lnTo>
                    <a:pt x="2419897" y="67270"/>
                  </a:lnTo>
                  <a:lnTo>
                    <a:pt x="2386011" y="39262"/>
                  </a:lnTo>
                  <a:lnTo>
                    <a:pt x="2347195" y="18082"/>
                  </a:lnTo>
                  <a:lnTo>
                    <a:pt x="2304397" y="4678"/>
                  </a:lnTo>
                  <a:lnTo>
                    <a:pt x="2258568" y="0"/>
                  </a:lnTo>
                  <a:close/>
                </a:path>
              </a:pathLst>
            </a:custGeom>
            <a:solidFill>
              <a:srgbClr val="1D1D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960119" y="5248655"/>
              <a:ext cx="2487295" cy="457200"/>
            </a:xfrm>
            <a:custGeom>
              <a:avLst/>
              <a:gdLst/>
              <a:ahLst/>
              <a:cxnLst/>
              <a:rect l="l" t="t" r="r" b="b"/>
              <a:pathLst>
                <a:path w="2487295" h="457200">
                  <a:moveTo>
                    <a:pt x="0" y="228600"/>
                  </a:moveTo>
                  <a:lnTo>
                    <a:pt x="4679" y="182770"/>
                  </a:lnTo>
                  <a:lnTo>
                    <a:pt x="18083" y="139972"/>
                  </a:lnTo>
                  <a:lnTo>
                    <a:pt x="39264" y="101156"/>
                  </a:lnTo>
                  <a:lnTo>
                    <a:pt x="67272" y="67270"/>
                  </a:lnTo>
                  <a:lnTo>
                    <a:pt x="101159" y="39262"/>
                  </a:lnTo>
                  <a:lnTo>
                    <a:pt x="139975" y="18082"/>
                  </a:lnTo>
                  <a:lnTo>
                    <a:pt x="182771" y="4678"/>
                  </a:lnTo>
                  <a:lnTo>
                    <a:pt x="228600" y="0"/>
                  </a:lnTo>
                  <a:lnTo>
                    <a:pt x="2258568" y="0"/>
                  </a:lnTo>
                  <a:lnTo>
                    <a:pt x="2304397" y="4678"/>
                  </a:lnTo>
                  <a:lnTo>
                    <a:pt x="2347195" y="18082"/>
                  </a:lnTo>
                  <a:lnTo>
                    <a:pt x="2386011" y="39262"/>
                  </a:lnTo>
                  <a:lnTo>
                    <a:pt x="2419897" y="67270"/>
                  </a:lnTo>
                  <a:lnTo>
                    <a:pt x="2447905" y="101156"/>
                  </a:lnTo>
                  <a:lnTo>
                    <a:pt x="2469085" y="139972"/>
                  </a:lnTo>
                  <a:lnTo>
                    <a:pt x="2482489" y="182770"/>
                  </a:lnTo>
                  <a:lnTo>
                    <a:pt x="2487168" y="228600"/>
                  </a:lnTo>
                  <a:lnTo>
                    <a:pt x="2482489" y="274426"/>
                  </a:lnTo>
                  <a:lnTo>
                    <a:pt x="2469085" y="317221"/>
                  </a:lnTo>
                  <a:lnTo>
                    <a:pt x="2447905" y="356037"/>
                  </a:lnTo>
                  <a:lnTo>
                    <a:pt x="2419897" y="389924"/>
                  </a:lnTo>
                  <a:lnTo>
                    <a:pt x="2386011" y="417933"/>
                  </a:lnTo>
                  <a:lnTo>
                    <a:pt x="2347195" y="439115"/>
                  </a:lnTo>
                  <a:lnTo>
                    <a:pt x="2304397" y="452520"/>
                  </a:lnTo>
                  <a:lnTo>
                    <a:pt x="2258568" y="457200"/>
                  </a:lnTo>
                  <a:lnTo>
                    <a:pt x="228600" y="457200"/>
                  </a:lnTo>
                  <a:lnTo>
                    <a:pt x="182771" y="452520"/>
                  </a:lnTo>
                  <a:lnTo>
                    <a:pt x="139975" y="439115"/>
                  </a:lnTo>
                  <a:lnTo>
                    <a:pt x="101159" y="417933"/>
                  </a:lnTo>
                  <a:lnTo>
                    <a:pt x="67272" y="389924"/>
                  </a:lnTo>
                  <a:lnTo>
                    <a:pt x="39264" y="356037"/>
                  </a:lnTo>
                  <a:lnTo>
                    <a:pt x="18083" y="317221"/>
                  </a:lnTo>
                  <a:lnTo>
                    <a:pt x="4679" y="274426"/>
                  </a:lnTo>
                  <a:lnTo>
                    <a:pt x="0" y="228600"/>
                  </a:lnTo>
                  <a:close/>
                </a:path>
              </a:pathLst>
            </a:custGeom>
            <a:ln w="9524">
              <a:solidFill>
                <a:srgbClr val="E100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2066902" y="5377776"/>
            <a:ext cx="2743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Age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625405" y="5243893"/>
            <a:ext cx="2496820" cy="466725"/>
            <a:chOff x="3625405" y="5243893"/>
            <a:chExt cx="2496820" cy="466725"/>
          </a:xfrm>
        </p:grpSpPr>
        <p:sp>
          <p:nvSpPr>
            <p:cNvPr id="54" name="object 54"/>
            <p:cNvSpPr/>
            <p:nvPr/>
          </p:nvSpPr>
          <p:spPr>
            <a:xfrm>
              <a:off x="3630167" y="5248655"/>
              <a:ext cx="2487295" cy="457200"/>
            </a:xfrm>
            <a:custGeom>
              <a:avLst/>
              <a:gdLst/>
              <a:ahLst/>
              <a:cxnLst/>
              <a:rect l="l" t="t" r="r" b="b"/>
              <a:pathLst>
                <a:path w="2487295" h="457200">
                  <a:moveTo>
                    <a:pt x="2258568" y="0"/>
                  </a:moveTo>
                  <a:lnTo>
                    <a:pt x="228600" y="0"/>
                  </a:lnTo>
                  <a:lnTo>
                    <a:pt x="182771" y="4678"/>
                  </a:lnTo>
                  <a:lnTo>
                    <a:pt x="139975" y="18082"/>
                  </a:lnTo>
                  <a:lnTo>
                    <a:pt x="101159" y="39262"/>
                  </a:lnTo>
                  <a:lnTo>
                    <a:pt x="67272" y="67270"/>
                  </a:lnTo>
                  <a:lnTo>
                    <a:pt x="39264" y="101156"/>
                  </a:lnTo>
                  <a:lnTo>
                    <a:pt x="18083" y="139972"/>
                  </a:lnTo>
                  <a:lnTo>
                    <a:pt x="4679" y="182770"/>
                  </a:lnTo>
                  <a:lnTo>
                    <a:pt x="0" y="228600"/>
                  </a:lnTo>
                  <a:lnTo>
                    <a:pt x="4679" y="274426"/>
                  </a:lnTo>
                  <a:lnTo>
                    <a:pt x="18083" y="317221"/>
                  </a:lnTo>
                  <a:lnTo>
                    <a:pt x="39264" y="356037"/>
                  </a:lnTo>
                  <a:lnTo>
                    <a:pt x="67272" y="389924"/>
                  </a:lnTo>
                  <a:lnTo>
                    <a:pt x="101159" y="417933"/>
                  </a:lnTo>
                  <a:lnTo>
                    <a:pt x="139975" y="439115"/>
                  </a:lnTo>
                  <a:lnTo>
                    <a:pt x="182771" y="452520"/>
                  </a:lnTo>
                  <a:lnTo>
                    <a:pt x="228600" y="457200"/>
                  </a:lnTo>
                  <a:lnTo>
                    <a:pt x="2258568" y="457200"/>
                  </a:lnTo>
                  <a:lnTo>
                    <a:pt x="2304397" y="452520"/>
                  </a:lnTo>
                  <a:lnTo>
                    <a:pt x="2347195" y="439115"/>
                  </a:lnTo>
                  <a:lnTo>
                    <a:pt x="2386011" y="417933"/>
                  </a:lnTo>
                  <a:lnTo>
                    <a:pt x="2419897" y="389924"/>
                  </a:lnTo>
                  <a:lnTo>
                    <a:pt x="2447905" y="356037"/>
                  </a:lnTo>
                  <a:lnTo>
                    <a:pt x="2469085" y="317221"/>
                  </a:lnTo>
                  <a:lnTo>
                    <a:pt x="2482489" y="274426"/>
                  </a:lnTo>
                  <a:lnTo>
                    <a:pt x="2487168" y="228600"/>
                  </a:lnTo>
                  <a:lnTo>
                    <a:pt x="2482489" y="182770"/>
                  </a:lnTo>
                  <a:lnTo>
                    <a:pt x="2469085" y="139972"/>
                  </a:lnTo>
                  <a:lnTo>
                    <a:pt x="2447905" y="101156"/>
                  </a:lnTo>
                  <a:lnTo>
                    <a:pt x="2419897" y="67270"/>
                  </a:lnTo>
                  <a:lnTo>
                    <a:pt x="2386011" y="39262"/>
                  </a:lnTo>
                  <a:lnTo>
                    <a:pt x="2347195" y="18082"/>
                  </a:lnTo>
                  <a:lnTo>
                    <a:pt x="2304397" y="4678"/>
                  </a:lnTo>
                  <a:lnTo>
                    <a:pt x="2258568" y="0"/>
                  </a:lnTo>
                  <a:close/>
                </a:path>
              </a:pathLst>
            </a:custGeom>
            <a:solidFill>
              <a:srgbClr val="1D1D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630167" y="5248655"/>
              <a:ext cx="2487295" cy="457200"/>
            </a:xfrm>
            <a:custGeom>
              <a:avLst/>
              <a:gdLst/>
              <a:ahLst/>
              <a:cxnLst/>
              <a:rect l="l" t="t" r="r" b="b"/>
              <a:pathLst>
                <a:path w="2487295" h="457200">
                  <a:moveTo>
                    <a:pt x="0" y="228600"/>
                  </a:moveTo>
                  <a:lnTo>
                    <a:pt x="4679" y="182770"/>
                  </a:lnTo>
                  <a:lnTo>
                    <a:pt x="18083" y="139972"/>
                  </a:lnTo>
                  <a:lnTo>
                    <a:pt x="39264" y="101156"/>
                  </a:lnTo>
                  <a:lnTo>
                    <a:pt x="67272" y="67270"/>
                  </a:lnTo>
                  <a:lnTo>
                    <a:pt x="101159" y="39262"/>
                  </a:lnTo>
                  <a:lnTo>
                    <a:pt x="139975" y="18082"/>
                  </a:lnTo>
                  <a:lnTo>
                    <a:pt x="182771" y="4678"/>
                  </a:lnTo>
                  <a:lnTo>
                    <a:pt x="228600" y="0"/>
                  </a:lnTo>
                  <a:lnTo>
                    <a:pt x="2258568" y="0"/>
                  </a:lnTo>
                  <a:lnTo>
                    <a:pt x="2304397" y="4678"/>
                  </a:lnTo>
                  <a:lnTo>
                    <a:pt x="2347195" y="18082"/>
                  </a:lnTo>
                  <a:lnTo>
                    <a:pt x="2386011" y="39262"/>
                  </a:lnTo>
                  <a:lnTo>
                    <a:pt x="2419897" y="67270"/>
                  </a:lnTo>
                  <a:lnTo>
                    <a:pt x="2447905" y="101156"/>
                  </a:lnTo>
                  <a:lnTo>
                    <a:pt x="2469085" y="139972"/>
                  </a:lnTo>
                  <a:lnTo>
                    <a:pt x="2482489" y="182770"/>
                  </a:lnTo>
                  <a:lnTo>
                    <a:pt x="2487168" y="228600"/>
                  </a:lnTo>
                  <a:lnTo>
                    <a:pt x="2482489" y="274426"/>
                  </a:lnTo>
                  <a:lnTo>
                    <a:pt x="2469085" y="317221"/>
                  </a:lnTo>
                  <a:lnTo>
                    <a:pt x="2447905" y="356037"/>
                  </a:lnTo>
                  <a:lnTo>
                    <a:pt x="2419897" y="389924"/>
                  </a:lnTo>
                  <a:lnTo>
                    <a:pt x="2386011" y="417933"/>
                  </a:lnTo>
                  <a:lnTo>
                    <a:pt x="2347195" y="439115"/>
                  </a:lnTo>
                  <a:lnTo>
                    <a:pt x="2304397" y="452520"/>
                  </a:lnTo>
                  <a:lnTo>
                    <a:pt x="2258568" y="457200"/>
                  </a:lnTo>
                  <a:lnTo>
                    <a:pt x="228600" y="457200"/>
                  </a:lnTo>
                  <a:lnTo>
                    <a:pt x="182771" y="452520"/>
                  </a:lnTo>
                  <a:lnTo>
                    <a:pt x="139975" y="439115"/>
                  </a:lnTo>
                  <a:lnTo>
                    <a:pt x="101159" y="417933"/>
                  </a:lnTo>
                  <a:lnTo>
                    <a:pt x="67272" y="389924"/>
                  </a:lnTo>
                  <a:lnTo>
                    <a:pt x="39264" y="356037"/>
                  </a:lnTo>
                  <a:lnTo>
                    <a:pt x="18083" y="317221"/>
                  </a:lnTo>
                  <a:lnTo>
                    <a:pt x="4679" y="274426"/>
                  </a:lnTo>
                  <a:lnTo>
                    <a:pt x="0" y="228600"/>
                  </a:lnTo>
                  <a:close/>
                </a:path>
              </a:pathLst>
            </a:custGeom>
            <a:ln w="9524">
              <a:solidFill>
                <a:srgbClr val="E100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4604960" y="5377776"/>
            <a:ext cx="5378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Housing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7144258" y="4318761"/>
            <a:ext cx="4368165" cy="1612900"/>
            <a:chOff x="7144258" y="4318761"/>
            <a:chExt cx="4368165" cy="1612900"/>
          </a:xfrm>
        </p:grpSpPr>
        <p:sp>
          <p:nvSpPr>
            <p:cNvPr id="63" name="object 63"/>
            <p:cNvSpPr/>
            <p:nvPr/>
          </p:nvSpPr>
          <p:spPr>
            <a:xfrm>
              <a:off x="7150608" y="4325111"/>
              <a:ext cx="4355465" cy="1600200"/>
            </a:xfrm>
            <a:custGeom>
              <a:avLst/>
              <a:gdLst/>
              <a:ahLst/>
              <a:cxnLst/>
              <a:rect l="l" t="t" r="r" b="b"/>
              <a:pathLst>
                <a:path w="4355465" h="1600200">
                  <a:moveTo>
                    <a:pt x="4282147" y="0"/>
                  </a:moveTo>
                  <a:lnTo>
                    <a:pt x="73144" y="0"/>
                  </a:lnTo>
                  <a:lnTo>
                    <a:pt x="44787" y="5786"/>
                  </a:lnTo>
                  <a:lnTo>
                    <a:pt x="21525" y="21524"/>
                  </a:lnTo>
                  <a:lnTo>
                    <a:pt x="5786" y="44785"/>
                  </a:lnTo>
                  <a:lnTo>
                    <a:pt x="0" y="73139"/>
                  </a:lnTo>
                  <a:lnTo>
                    <a:pt x="0" y="1527060"/>
                  </a:lnTo>
                  <a:lnTo>
                    <a:pt x="5786" y="1555414"/>
                  </a:lnTo>
                  <a:lnTo>
                    <a:pt x="21525" y="1578675"/>
                  </a:lnTo>
                  <a:lnTo>
                    <a:pt x="44787" y="1594413"/>
                  </a:lnTo>
                  <a:lnTo>
                    <a:pt x="73144" y="1600200"/>
                  </a:lnTo>
                  <a:lnTo>
                    <a:pt x="4282147" y="1600200"/>
                  </a:lnTo>
                  <a:lnTo>
                    <a:pt x="4310501" y="1594413"/>
                  </a:lnTo>
                  <a:lnTo>
                    <a:pt x="4333762" y="1578675"/>
                  </a:lnTo>
                  <a:lnTo>
                    <a:pt x="4349500" y="1555414"/>
                  </a:lnTo>
                  <a:lnTo>
                    <a:pt x="4355287" y="1527060"/>
                  </a:lnTo>
                  <a:lnTo>
                    <a:pt x="4355287" y="73139"/>
                  </a:lnTo>
                  <a:lnTo>
                    <a:pt x="4349500" y="44785"/>
                  </a:lnTo>
                  <a:lnTo>
                    <a:pt x="4333762" y="21524"/>
                  </a:lnTo>
                  <a:lnTo>
                    <a:pt x="4310501" y="5786"/>
                  </a:lnTo>
                  <a:lnTo>
                    <a:pt x="4282147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7150608" y="4325111"/>
              <a:ext cx="4355465" cy="1600200"/>
            </a:xfrm>
            <a:custGeom>
              <a:avLst/>
              <a:gdLst/>
              <a:ahLst/>
              <a:cxnLst/>
              <a:rect l="l" t="t" r="r" b="b"/>
              <a:pathLst>
                <a:path w="4355465" h="1600200">
                  <a:moveTo>
                    <a:pt x="0" y="73139"/>
                  </a:moveTo>
                  <a:lnTo>
                    <a:pt x="5786" y="44785"/>
                  </a:lnTo>
                  <a:lnTo>
                    <a:pt x="21525" y="21524"/>
                  </a:lnTo>
                  <a:lnTo>
                    <a:pt x="44787" y="5786"/>
                  </a:lnTo>
                  <a:lnTo>
                    <a:pt x="73144" y="0"/>
                  </a:lnTo>
                  <a:lnTo>
                    <a:pt x="4282147" y="0"/>
                  </a:lnTo>
                  <a:lnTo>
                    <a:pt x="4310501" y="5786"/>
                  </a:lnTo>
                  <a:lnTo>
                    <a:pt x="4333762" y="21524"/>
                  </a:lnTo>
                  <a:lnTo>
                    <a:pt x="4349500" y="44785"/>
                  </a:lnTo>
                  <a:lnTo>
                    <a:pt x="4355287" y="73139"/>
                  </a:lnTo>
                  <a:lnTo>
                    <a:pt x="4355287" y="1527060"/>
                  </a:lnTo>
                  <a:lnTo>
                    <a:pt x="4349500" y="1555414"/>
                  </a:lnTo>
                  <a:lnTo>
                    <a:pt x="4333762" y="1578675"/>
                  </a:lnTo>
                  <a:lnTo>
                    <a:pt x="4310501" y="1594413"/>
                  </a:lnTo>
                  <a:lnTo>
                    <a:pt x="4282147" y="1600200"/>
                  </a:lnTo>
                  <a:lnTo>
                    <a:pt x="73144" y="1600200"/>
                  </a:lnTo>
                  <a:lnTo>
                    <a:pt x="44787" y="1594413"/>
                  </a:lnTo>
                  <a:lnTo>
                    <a:pt x="21525" y="1578675"/>
                  </a:lnTo>
                  <a:lnTo>
                    <a:pt x="5786" y="1555414"/>
                  </a:lnTo>
                  <a:lnTo>
                    <a:pt x="0" y="1527060"/>
                  </a:lnTo>
                  <a:lnTo>
                    <a:pt x="0" y="73139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424928" y="4942331"/>
              <a:ext cx="82295" cy="8229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424928" y="5189219"/>
              <a:ext cx="82295" cy="82296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4928" y="5436107"/>
              <a:ext cx="82295" cy="8229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4928" y="5682995"/>
              <a:ext cx="82295" cy="82296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7412228" y="4446939"/>
            <a:ext cx="3011805" cy="124015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200" b="1" spc="8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DATASET</a:t>
            </a:r>
            <a:r>
              <a:rPr sz="1200" b="1" spc="2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200" b="1" spc="7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LIMITATIONS</a:t>
            </a:r>
            <a:endParaRPr sz="1200">
              <a:latin typeface="Arial" panose="020B0604020202090204"/>
              <a:cs typeface="Arial" panose="020B0604020202090204"/>
            </a:endParaRPr>
          </a:p>
          <a:p>
            <a:pPr marL="250190">
              <a:lnSpc>
                <a:spcPct val="100000"/>
              </a:lnSpc>
              <a:spcBef>
                <a:spcPts val="510"/>
              </a:spcBef>
            </a:pPr>
            <a:r>
              <a:rPr sz="9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Relatively</a:t>
            </a:r>
            <a:r>
              <a:rPr sz="9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small</a:t>
            </a:r>
            <a:r>
              <a:rPr sz="9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dataset</a:t>
            </a:r>
            <a:r>
              <a:rPr sz="9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(1,000</a:t>
            </a:r>
            <a:r>
              <a:rPr sz="9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records)</a:t>
            </a:r>
            <a:endParaRPr sz="950">
              <a:latin typeface="Arial" panose="020B0604020202090204"/>
              <a:cs typeface="Arial" panose="020B0604020202090204"/>
            </a:endParaRPr>
          </a:p>
          <a:p>
            <a:pPr marL="250190">
              <a:lnSpc>
                <a:spcPct val="100000"/>
              </a:lnSpc>
              <a:spcBef>
                <a:spcPts val="805"/>
              </a:spcBef>
            </a:pPr>
            <a:r>
              <a:rPr sz="9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Historical</a:t>
            </a:r>
            <a:r>
              <a:rPr sz="950" spc="-4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950" spc="-3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data</a:t>
            </a:r>
            <a:endParaRPr sz="950">
              <a:latin typeface="Arial" panose="020B0604020202090204"/>
              <a:cs typeface="Arial" panose="020B0604020202090204"/>
            </a:endParaRPr>
          </a:p>
          <a:p>
            <a:pPr marL="250190">
              <a:lnSpc>
                <a:spcPct val="100000"/>
              </a:lnSpc>
              <a:spcBef>
                <a:spcPts val="805"/>
              </a:spcBef>
            </a:pPr>
            <a:r>
              <a:rPr sz="9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Mix</a:t>
            </a:r>
            <a:r>
              <a:rPr sz="9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of</a:t>
            </a:r>
            <a:r>
              <a:rPr sz="9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categorical</a:t>
            </a:r>
            <a:r>
              <a:rPr sz="9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and</a:t>
            </a:r>
            <a:r>
              <a:rPr sz="9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numerical</a:t>
            </a:r>
            <a:r>
              <a:rPr sz="9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variables</a:t>
            </a:r>
            <a:endParaRPr sz="950">
              <a:latin typeface="Arial" panose="020B0604020202090204"/>
              <a:cs typeface="Arial" panose="020B0604020202090204"/>
            </a:endParaRPr>
          </a:p>
          <a:p>
            <a:pPr marL="250190">
              <a:lnSpc>
                <a:spcPct val="100000"/>
              </a:lnSpc>
              <a:spcBef>
                <a:spcPts val="805"/>
              </a:spcBef>
            </a:pPr>
            <a:r>
              <a:rPr sz="9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Extreme</a:t>
            </a:r>
            <a:r>
              <a:rPr sz="9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values</a:t>
            </a:r>
            <a:r>
              <a:rPr sz="9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present</a:t>
            </a:r>
            <a:r>
              <a:rPr sz="9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in</a:t>
            </a:r>
            <a:r>
              <a:rPr sz="9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some</a:t>
            </a:r>
            <a:r>
              <a:rPr sz="9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numerical</a:t>
            </a:r>
            <a:r>
              <a:rPr sz="9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features</a:t>
            </a:r>
            <a:endParaRPr sz="9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45668" y="6412484"/>
            <a:ext cx="425259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i="1" spc="-1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Hofmann,</a:t>
            </a:r>
            <a:r>
              <a:rPr sz="850" i="1" spc="-2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850" i="1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H.</a:t>
            </a:r>
            <a:r>
              <a:rPr sz="850" i="1" spc="-1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850" i="1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(1994),</a:t>
            </a:r>
            <a:r>
              <a:rPr sz="850" i="1" spc="-1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850" i="1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UCI</a:t>
            </a:r>
            <a:r>
              <a:rPr sz="850" i="1" spc="-2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850" i="1" spc="-1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Machine</a:t>
            </a:r>
            <a:r>
              <a:rPr sz="850" i="1" spc="-1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850" i="1" spc="-1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Learning</a:t>
            </a:r>
            <a:r>
              <a:rPr sz="850" i="1" spc="-1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850" i="1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Repository</a:t>
            </a:r>
            <a:r>
              <a:rPr sz="850" i="1" spc="-2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850" i="1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—</a:t>
            </a:r>
            <a:r>
              <a:rPr sz="850" i="1" spc="-1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850" i="1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Statlog</a:t>
            </a:r>
            <a:r>
              <a:rPr sz="850" i="1" spc="-1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850" i="1" spc="-1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(German</a:t>
            </a:r>
            <a:r>
              <a:rPr sz="850" i="1" spc="-2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850" i="1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850" i="1" spc="-1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850" i="1" spc="-1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Data).</a:t>
            </a:r>
            <a:endParaRPr sz="8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1749648" y="6392760"/>
            <a:ext cx="1809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03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530351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4">
                <a:moveTo>
                  <a:pt x="146304" y="0"/>
                </a:moveTo>
                <a:lnTo>
                  <a:pt x="0" y="0"/>
                </a:lnTo>
                <a:lnTo>
                  <a:pt x="0" y="146303"/>
                </a:lnTo>
                <a:lnTo>
                  <a:pt x="146304" y="146303"/>
                </a:lnTo>
                <a:lnTo>
                  <a:pt x="146304" y="0"/>
                </a:lnTo>
                <a:close/>
              </a:path>
            </a:pathLst>
          </a:custGeom>
          <a:solidFill>
            <a:srgbClr val="E100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29132" y="513169"/>
            <a:ext cx="27197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P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P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G</a:t>
            </a:r>
            <a:r>
              <a:rPr sz="1100" b="1" spc="1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P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P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100" b="1" spc="-1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-5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DATA</a:t>
            </a:r>
            <a:r>
              <a:rPr sz="3200" spc="-65" dirty="0"/>
              <a:t> </a:t>
            </a:r>
            <a:r>
              <a:rPr sz="3200" dirty="0"/>
              <a:t>PREPARATION</a:t>
            </a:r>
            <a:r>
              <a:rPr sz="3200" spc="-60" dirty="0"/>
              <a:t> </a:t>
            </a:r>
            <a:r>
              <a:rPr sz="3200" dirty="0"/>
              <a:t>&amp;</a:t>
            </a:r>
            <a:r>
              <a:rPr sz="3200" spc="-65" dirty="0"/>
              <a:t> </a:t>
            </a:r>
            <a:r>
              <a:rPr sz="3200" spc="-25" dirty="0"/>
              <a:t>EDA</a:t>
            </a:r>
            <a:endParaRPr sz="3200"/>
          </a:p>
        </p:txBody>
      </p:sp>
      <p:grpSp>
        <p:nvGrpSpPr>
          <p:cNvPr id="5" name="object 5"/>
          <p:cNvGrpSpPr/>
          <p:nvPr/>
        </p:nvGrpSpPr>
        <p:grpSpPr>
          <a:xfrm>
            <a:off x="679450" y="1731010"/>
            <a:ext cx="5285740" cy="2161540"/>
            <a:chOff x="679450" y="1731010"/>
            <a:chExt cx="5285740" cy="2161540"/>
          </a:xfrm>
        </p:grpSpPr>
        <p:sp>
          <p:nvSpPr>
            <p:cNvPr id="6" name="object 6"/>
            <p:cNvSpPr/>
            <p:nvPr/>
          </p:nvSpPr>
          <p:spPr>
            <a:xfrm>
              <a:off x="685800" y="1737359"/>
              <a:ext cx="5273040" cy="2148840"/>
            </a:xfrm>
            <a:custGeom>
              <a:avLst/>
              <a:gdLst/>
              <a:ahLst/>
              <a:cxnLst/>
              <a:rect l="l" t="t" r="r" b="b"/>
              <a:pathLst>
                <a:path w="5273040" h="2148840">
                  <a:moveTo>
                    <a:pt x="5199735" y="0"/>
                  </a:moveTo>
                  <a:lnTo>
                    <a:pt x="73146" y="0"/>
                  </a:lnTo>
                  <a:lnTo>
                    <a:pt x="44788" y="5786"/>
                  </a:lnTo>
                  <a:lnTo>
                    <a:pt x="21525" y="21524"/>
                  </a:lnTo>
                  <a:lnTo>
                    <a:pt x="5786" y="44785"/>
                  </a:lnTo>
                  <a:lnTo>
                    <a:pt x="0" y="73139"/>
                  </a:lnTo>
                  <a:lnTo>
                    <a:pt x="0" y="2075688"/>
                  </a:lnTo>
                  <a:lnTo>
                    <a:pt x="5786" y="2104048"/>
                  </a:lnTo>
                  <a:lnTo>
                    <a:pt x="21525" y="2127313"/>
                  </a:lnTo>
                  <a:lnTo>
                    <a:pt x="44788" y="2143053"/>
                  </a:lnTo>
                  <a:lnTo>
                    <a:pt x="73146" y="2148840"/>
                  </a:lnTo>
                  <a:lnTo>
                    <a:pt x="5199735" y="2148840"/>
                  </a:lnTo>
                  <a:lnTo>
                    <a:pt x="5228096" y="2143053"/>
                  </a:lnTo>
                  <a:lnTo>
                    <a:pt x="5251361" y="2127313"/>
                  </a:lnTo>
                  <a:lnTo>
                    <a:pt x="5267101" y="2104048"/>
                  </a:lnTo>
                  <a:lnTo>
                    <a:pt x="5272887" y="2075688"/>
                  </a:lnTo>
                  <a:lnTo>
                    <a:pt x="5272887" y="73139"/>
                  </a:lnTo>
                  <a:lnTo>
                    <a:pt x="5267101" y="44785"/>
                  </a:lnTo>
                  <a:lnTo>
                    <a:pt x="5251361" y="21524"/>
                  </a:lnTo>
                  <a:lnTo>
                    <a:pt x="5228096" y="5786"/>
                  </a:lnTo>
                  <a:lnTo>
                    <a:pt x="5199735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85800" y="1737359"/>
              <a:ext cx="5273040" cy="2148840"/>
            </a:xfrm>
            <a:custGeom>
              <a:avLst/>
              <a:gdLst/>
              <a:ahLst/>
              <a:cxnLst/>
              <a:rect l="l" t="t" r="r" b="b"/>
              <a:pathLst>
                <a:path w="5273040" h="2148840">
                  <a:moveTo>
                    <a:pt x="0" y="73139"/>
                  </a:moveTo>
                  <a:lnTo>
                    <a:pt x="5786" y="44785"/>
                  </a:lnTo>
                  <a:lnTo>
                    <a:pt x="21525" y="21524"/>
                  </a:lnTo>
                  <a:lnTo>
                    <a:pt x="44788" y="5786"/>
                  </a:lnTo>
                  <a:lnTo>
                    <a:pt x="73146" y="0"/>
                  </a:lnTo>
                  <a:lnTo>
                    <a:pt x="5199735" y="0"/>
                  </a:lnTo>
                  <a:lnTo>
                    <a:pt x="5228096" y="5786"/>
                  </a:lnTo>
                  <a:lnTo>
                    <a:pt x="5251361" y="21524"/>
                  </a:lnTo>
                  <a:lnTo>
                    <a:pt x="5267101" y="44785"/>
                  </a:lnTo>
                  <a:lnTo>
                    <a:pt x="5272887" y="73139"/>
                  </a:lnTo>
                  <a:lnTo>
                    <a:pt x="5272887" y="2075688"/>
                  </a:lnTo>
                  <a:lnTo>
                    <a:pt x="5267101" y="2104048"/>
                  </a:lnTo>
                  <a:lnTo>
                    <a:pt x="5251361" y="2127313"/>
                  </a:lnTo>
                  <a:lnTo>
                    <a:pt x="5228096" y="2143053"/>
                  </a:lnTo>
                  <a:lnTo>
                    <a:pt x="5199735" y="2148840"/>
                  </a:lnTo>
                  <a:lnTo>
                    <a:pt x="73146" y="2148840"/>
                  </a:lnTo>
                  <a:lnTo>
                    <a:pt x="44788" y="2143053"/>
                  </a:lnTo>
                  <a:lnTo>
                    <a:pt x="21525" y="2127313"/>
                  </a:lnTo>
                  <a:lnTo>
                    <a:pt x="5786" y="2104048"/>
                  </a:lnTo>
                  <a:lnTo>
                    <a:pt x="0" y="2075688"/>
                  </a:lnTo>
                  <a:lnTo>
                    <a:pt x="0" y="73139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33272" y="2029967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80" h="55244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020572" y="2177834"/>
            <a:ext cx="167893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DATA</a:t>
            </a:r>
            <a:r>
              <a:rPr sz="1500" b="1" spc="2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CLEANING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31467" y="2557488"/>
            <a:ext cx="156781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Missing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values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checked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1467" y="2863812"/>
            <a:ext cx="174625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Duplicate</a:t>
            </a:r>
            <a:r>
              <a:rPr sz="1150" spc="-4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records</a:t>
            </a:r>
            <a:r>
              <a:rPr sz="1150" spc="-4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checked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0572" y="2433815"/>
            <a:ext cx="2016125" cy="125095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300" b="1" spc="-50" dirty="0">
                <a:solidFill>
                  <a:srgbClr val="FF3A3A"/>
                </a:solidFill>
                <a:latin typeface="Yu Gothic"/>
                <a:cs typeface="Yu Gothic"/>
              </a:rPr>
              <a:t>✓</a:t>
            </a:r>
            <a:endParaRPr sz="13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00" b="1" spc="-50" dirty="0">
                <a:solidFill>
                  <a:srgbClr val="FF3A3A"/>
                </a:solidFill>
                <a:latin typeface="Yu Gothic"/>
                <a:cs typeface="Yu Gothic"/>
              </a:rPr>
              <a:t>✓</a:t>
            </a:r>
            <a:endParaRPr sz="1300">
              <a:latin typeface="Yu Gothic"/>
              <a:cs typeface="Yu Gothic"/>
            </a:endParaRPr>
          </a:p>
          <a:p>
            <a:pPr marL="323215" indent="-310515">
              <a:lnSpc>
                <a:spcPct val="100000"/>
              </a:lnSpc>
              <a:spcBef>
                <a:spcPts val="1005"/>
              </a:spcBef>
              <a:buClr>
                <a:srgbClr val="FF3A3A"/>
              </a:buClr>
              <a:buSzPct val="113000"/>
              <a:buFont typeface="Yu Gothic"/>
              <a:buChar char="✓"/>
              <a:tabLst>
                <a:tab pos="323215" algn="l"/>
              </a:tabLst>
            </a:pPr>
            <a:r>
              <a:rPr sz="1725" baseline="2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Dataset</a:t>
            </a:r>
            <a:r>
              <a:rPr sz="1725" spc="-60" baseline="2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725" baseline="2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schema</a:t>
            </a:r>
            <a:r>
              <a:rPr sz="1725" spc="-37" baseline="2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725" spc="-15" baseline="2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validated</a:t>
            </a:r>
            <a:endParaRPr sz="1725" baseline="2000">
              <a:latin typeface="Arial" panose="020B0604020202090204"/>
              <a:cs typeface="Arial" panose="020B0604020202090204"/>
            </a:endParaRPr>
          </a:p>
          <a:p>
            <a:pPr marL="323215" indent="-310515">
              <a:lnSpc>
                <a:spcPct val="100000"/>
              </a:lnSpc>
              <a:spcBef>
                <a:spcPts val="1030"/>
              </a:spcBef>
              <a:buClr>
                <a:srgbClr val="FF3A3A"/>
              </a:buClr>
              <a:buSzPct val="113000"/>
              <a:buFont typeface="Yu Gothic"/>
              <a:buChar char="✓"/>
              <a:tabLst>
                <a:tab pos="323215" algn="l"/>
              </a:tabLst>
            </a:pPr>
            <a:r>
              <a:rPr sz="1725" baseline="2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Invalid</a:t>
            </a:r>
            <a:r>
              <a:rPr sz="1725" spc="-22" baseline="2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725" baseline="2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values</a:t>
            </a:r>
            <a:r>
              <a:rPr sz="1725" spc="-22" baseline="2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725" spc="-15" baseline="20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checked</a:t>
            </a:r>
            <a:endParaRPr sz="1725" baseline="20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26657" y="1731010"/>
            <a:ext cx="5285740" cy="2161540"/>
            <a:chOff x="6226657" y="1731010"/>
            <a:chExt cx="5285740" cy="2161540"/>
          </a:xfrm>
        </p:grpSpPr>
        <p:sp>
          <p:nvSpPr>
            <p:cNvPr id="14" name="object 14"/>
            <p:cNvSpPr/>
            <p:nvPr/>
          </p:nvSpPr>
          <p:spPr>
            <a:xfrm>
              <a:off x="6233007" y="1737359"/>
              <a:ext cx="5273040" cy="2148840"/>
            </a:xfrm>
            <a:custGeom>
              <a:avLst/>
              <a:gdLst/>
              <a:ahLst/>
              <a:cxnLst/>
              <a:rect l="l" t="t" r="r" b="b"/>
              <a:pathLst>
                <a:path w="5273040" h="2148840">
                  <a:moveTo>
                    <a:pt x="5199735" y="0"/>
                  </a:moveTo>
                  <a:lnTo>
                    <a:pt x="73146" y="0"/>
                  </a:lnTo>
                  <a:lnTo>
                    <a:pt x="44788" y="5786"/>
                  </a:lnTo>
                  <a:lnTo>
                    <a:pt x="21525" y="21524"/>
                  </a:lnTo>
                  <a:lnTo>
                    <a:pt x="5786" y="44785"/>
                  </a:lnTo>
                  <a:lnTo>
                    <a:pt x="0" y="73139"/>
                  </a:lnTo>
                  <a:lnTo>
                    <a:pt x="0" y="2075688"/>
                  </a:lnTo>
                  <a:lnTo>
                    <a:pt x="5786" y="2104048"/>
                  </a:lnTo>
                  <a:lnTo>
                    <a:pt x="21525" y="2127313"/>
                  </a:lnTo>
                  <a:lnTo>
                    <a:pt x="44788" y="2143053"/>
                  </a:lnTo>
                  <a:lnTo>
                    <a:pt x="73146" y="2148840"/>
                  </a:lnTo>
                  <a:lnTo>
                    <a:pt x="5199735" y="2148840"/>
                  </a:lnTo>
                  <a:lnTo>
                    <a:pt x="5228096" y="2143053"/>
                  </a:lnTo>
                  <a:lnTo>
                    <a:pt x="5251361" y="2127313"/>
                  </a:lnTo>
                  <a:lnTo>
                    <a:pt x="5267101" y="2104048"/>
                  </a:lnTo>
                  <a:lnTo>
                    <a:pt x="5272887" y="2075688"/>
                  </a:lnTo>
                  <a:lnTo>
                    <a:pt x="5272887" y="73139"/>
                  </a:lnTo>
                  <a:lnTo>
                    <a:pt x="5267101" y="44785"/>
                  </a:lnTo>
                  <a:lnTo>
                    <a:pt x="5251361" y="21524"/>
                  </a:lnTo>
                  <a:lnTo>
                    <a:pt x="5228096" y="5786"/>
                  </a:lnTo>
                  <a:lnTo>
                    <a:pt x="5199735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233007" y="1737359"/>
              <a:ext cx="5273040" cy="2148840"/>
            </a:xfrm>
            <a:custGeom>
              <a:avLst/>
              <a:gdLst/>
              <a:ahLst/>
              <a:cxnLst/>
              <a:rect l="l" t="t" r="r" b="b"/>
              <a:pathLst>
                <a:path w="5273040" h="2148840">
                  <a:moveTo>
                    <a:pt x="0" y="73139"/>
                  </a:moveTo>
                  <a:lnTo>
                    <a:pt x="5786" y="44785"/>
                  </a:lnTo>
                  <a:lnTo>
                    <a:pt x="21525" y="21524"/>
                  </a:lnTo>
                  <a:lnTo>
                    <a:pt x="44788" y="5786"/>
                  </a:lnTo>
                  <a:lnTo>
                    <a:pt x="73146" y="0"/>
                  </a:lnTo>
                  <a:lnTo>
                    <a:pt x="5199735" y="0"/>
                  </a:lnTo>
                  <a:lnTo>
                    <a:pt x="5228096" y="5786"/>
                  </a:lnTo>
                  <a:lnTo>
                    <a:pt x="5251361" y="21524"/>
                  </a:lnTo>
                  <a:lnTo>
                    <a:pt x="5267101" y="44785"/>
                  </a:lnTo>
                  <a:lnTo>
                    <a:pt x="5272887" y="73139"/>
                  </a:lnTo>
                  <a:lnTo>
                    <a:pt x="5272887" y="2075688"/>
                  </a:lnTo>
                  <a:lnTo>
                    <a:pt x="5267101" y="2104048"/>
                  </a:lnTo>
                  <a:lnTo>
                    <a:pt x="5251361" y="2127313"/>
                  </a:lnTo>
                  <a:lnTo>
                    <a:pt x="5228096" y="2143053"/>
                  </a:lnTo>
                  <a:lnTo>
                    <a:pt x="5199735" y="2148840"/>
                  </a:lnTo>
                  <a:lnTo>
                    <a:pt x="73146" y="2148840"/>
                  </a:lnTo>
                  <a:lnTo>
                    <a:pt x="44788" y="2143053"/>
                  </a:lnTo>
                  <a:lnTo>
                    <a:pt x="21525" y="2127313"/>
                  </a:lnTo>
                  <a:lnTo>
                    <a:pt x="5786" y="2104048"/>
                  </a:lnTo>
                  <a:lnTo>
                    <a:pt x="0" y="2075688"/>
                  </a:lnTo>
                  <a:lnTo>
                    <a:pt x="0" y="73139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580479" y="2029967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79" h="55244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567779" y="2177834"/>
            <a:ext cx="3693795" cy="57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OUTLIER</a:t>
            </a:r>
            <a:r>
              <a:rPr sz="1500" b="1" spc="2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DETECTION</a:t>
            </a:r>
            <a:r>
              <a:rPr sz="1500" b="1" spc="18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 </a:t>
            </a:r>
            <a:r>
              <a:rPr sz="15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·</a:t>
            </a:r>
            <a:r>
              <a:rPr sz="1500" b="1" spc="18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 </a:t>
            </a:r>
            <a:r>
              <a:rPr sz="15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IQR</a:t>
            </a:r>
            <a:r>
              <a:rPr sz="1500" b="1" spc="2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METHOD</a:t>
            </a:r>
            <a:endParaRPr sz="1500">
              <a:latin typeface="Arial" panose="020B0604020202090204"/>
              <a:cs typeface="Arial" panose="020B0604020202090204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Amount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67779" y="2859239"/>
            <a:ext cx="57785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Duration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67779" y="3170135"/>
            <a:ext cx="28575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Age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947495" y="2445791"/>
            <a:ext cx="251460" cy="95821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600" b="1" spc="-25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72</a:t>
            </a:r>
            <a:endParaRPr sz="1600">
              <a:latin typeface="Arial" panose="020B0604020202090204"/>
              <a:cs typeface="Arial" panose="020B0604020202090204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b="1" spc="-25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70</a:t>
            </a:r>
            <a:endParaRPr sz="1600">
              <a:latin typeface="Arial" panose="020B0604020202090204"/>
              <a:cs typeface="Arial" panose="020B0604020202090204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b="1" spc="-25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23</a:t>
            </a:r>
            <a:endParaRPr sz="16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67779" y="3601339"/>
            <a:ext cx="26917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Not</a:t>
            </a:r>
            <a:r>
              <a:rPr sz="900" i="1" spc="-15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i="1" spc="-1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auto-</a:t>
            </a:r>
            <a:r>
              <a:rPr sz="900" i="1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removed</a:t>
            </a:r>
            <a:r>
              <a:rPr sz="900" i="1" spc="-1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i="1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—</a:t>
            </a:r>
            <a:r>
              <a:rPr sz="900" i="1" spc="-15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i="1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may</a:t>
            </a:r>
            <a:r>
              <a:rPr sz="900" i="1" spc="-1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i="1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represent</a:t>
            </a:r>
            <a:r>
              <a:rPr sz="900" i="1" spc="-15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i="1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valid</a:t>
            </a:r>
            <a:r>
              <a:rPr sz="900" i="1" spc="-1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applicants.</a:t>
            </a:r>
            <a:endParaRPr sz="9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79450" y="4154170"/>
            <a:ext cx="5285740" cy="2161540"/>
            <a:chOff x="679450" y="4154170"/>
            <a:chExt cx="5285740" cy="2161540"/>
          </a:xfrm>
        </p:grpSpPr>
        <p:sp>
          <p:nvSpPr>
            <p:cNvPr id="23" name="object 23"/>
            <p:cNvSpPr/>
            <p:nvPr/>
          </p:nvSpPr>
          <p:spPr>
            <a:xfrm>
              <a:off x="685800" y="4160520"/>
              <a:ext cx="5273040" cy="2148840"/>
            </a:xfrm>
            <a:custGeom>
              <a:avLst/>
              <a:gdLst/>
              <a:ahLst/>
              <a:cxnLst/>
              <a:rect l="l" t="t" r="r" b="b"/>
              <a:pathLst>
                <a:path w="5273040" h="2148840">
                  <a:moveTo>
                    <a:pt x="5199735" y="0"/>
                  </a:moveTo>
                  <a:lnTo>
                    <a:pt x="73146" y="0"/>
                  </a:lnTo>
                  <a:lnTo>
                    <a:pt x="44788" y="5786"/>
                  </a:lnTo>
                  <a:lnTo>
                    <a:pt x="21525" y="21524"/>
                  </a:lnTo>
                  <a:lnTo>
                    <a:pt x="5786" y="44785"/>
                  </a:lnTo>
                  <a:lnTo>
                    <a:pt x="0" y="73139"/>
                  </a:lnTo>
                  <a:lnTo>
                    <a:pt x="0" y="2075688"/>
                  </a:lnTo>
                  <a:lnTo>
                    <a:pt x="5786" y="2104048"/>
                  </a:lnTo>
                  <a:lnTo>
                    <a:pt x="21525" y="2127313"/>
                  </a:lnTo>
                  <a:lnTo>
                    <a:pt x="44788" y="2143053"/>
                  </a:lnTo>
                  <a:lnTo>
                    <a:pt x="73146" y="2148840"/>
                  </a:lnTo>
                  <a:lnTo>
                    <a:pt x="5199735" y="2148840"/>
                  </a:lnTo>
                  <a:lnTo>
                    <a:pt x="5228096" y="2143053"/>
                  </a:lnTo>
                  <a:lnTo>
                    <a:pt x="5251361" y="2127313"/>
                  </a:lnTo>
                  <a:lnTo>
                    <a:pt x="5267101" y="2104048"/>
                  </a:lnTo>
                  <a:lnTo>
                    <a:pt x="5272887" y="2075688"/>
                  </a:lnTo>
                  <a:lnTo>
                    <a:pt x="5272887" y="73139"/>
                  </a:lnTo>
                  <a:lnTo>
                    <a:pt x="5267101" y="44785"/>
                  </a:lnTo>
                  <a:lnTo>
                    <a:pt x="5251361" y="21524"/>
                  </a:lnTo>
                  <a:lnTo>
                    <a:pt x="5228096" y="5786"/>
                  </a:lnTo>
                  <a:lnTo>
                    <a:pt x="5199735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85800" y="4160520"/>
              <a:ext cx="5273040" cy="2148840"/>
            </a:xfrm>
            <a:custGeom>
              <a:avLst/>
              <a:gdLst/>
              <a:ahLst/>
              <a:cxnLst/>
              <a:rect l="l" t="t" r="r" b="b"/>
              <a:pathLst>
                <a:path w="5273040" h="2148840">
                  <a:moveTo>
                    <a:pt x="0" y="73139"/>
                  </a:moveTo>
                  <a:lnTo>
                    <a:pt x="5786" y="44785"/>
                  </a:lnTo>
                  <a:lnTo>
                    <a:pt x="21525" y="21524"/>
                  </a:lnTo>
                  <a:lnTo>
                    <a:pt x="44788" y="5786"/>
                  </a:lnTo>
                  <a:lnTo>
                    <a:pt x="73146" y="0"/>
                  </a:lnTo>
                  <a:lnTo>
                    <a:pt x="5199735" y="0"/>
                  </a:lnTo>
                  <a:lnTo>
                    <a:pt x="5228096" y="5786"/>
                  </a:lnTo>
                  <a:lnTo>
                    <a:pt x="5251361" y="21524"/>
                  </a:lnTo>
                  <a:lnTo>
                    <a:pt x="5267101" y="44785"/>
                  </a:lnTo>
                  <a:lnTo>
                    <a:pt x="5272887" y="73139"/>
                  </a:lnTo>
                  <a:lnTo>
                    <a:pt x="5272887" y="2075688"/>
                  </a:lnTo>
                  <a:lnTo>
                    <a:pt x="5267101" y="2104048"/>
                  </a:lnTo>
                  <a:lnTo>
                    <a:pt x="5251361" y="2127313"/>
                  </a:lnTo>
                  <a:lnTo>
                    <a:pt x="5228096" y="2143053"/>
                  </a:lnTo>
                  <a:lnTo>
                    <a:pt x="5199735" y="2148840"/>
                  </a:lnTo>
                  <a:lnTo>
                    <a:pt x="73146" y="2148840"/>
                  </a:lnTo>
                  <a:lnTo>
                    <a:pt x="44788" y="2143053"/>
                  </a:lnTo>
                  <a:lnTo>
                    <a:pt x="21525" y="2127313"/>
                  </a:lnTo>
                  <a:lnTo>
                    <a:pt x="5786" y="2104048"/>
                  </a:lnTo>
                  <a:lnTo>
                    <a:pt x="0" y="2075688"/>
                  </a:lnTo>
                  <a:lnTo>
                    <a:pt x="0" y="73139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033272" y="4453128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80" h="55245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020572" y="4600994"/>
            <a:ext cx="17640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PREPROCESSING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51560" y="5020055"/>
            <a:ext cx="73660" cy="992505"/>
            <a:chOff x="1051560" y="5020055"/>
            <a:chExt cx="73660" cy="992505"/>
          </a:xfrm>
        </p:grpSpPr>
        <p:pic>
          <p:nvPicPr>
            <p:cNvPr id="28" name="object 2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51560" y="5020055"/>
              <a:ext cx="73151" cy="7315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1560" y="5326379"/>
              <a:ext cx="73151" cy="7315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51560" y="5632704"/>
              <a:ext cx="73151" cy="7315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51560" y="5939027"/>
              <a:ext cx="73151" cy="73151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267460" y="4997678"/>
            <a:ext cx="24930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One-</a:t>
            </a:r>
            <a:r>
              <a:rPr sz="10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Hot</a:t>
            </a:r>
            <a:r>
              <a:rPr sz="10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Encoding</a:t>
            </a:r>
            <a:r>
              <a:rPr sz="10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→</a:t>
            </a:r>
            <a:r>
              <a:rPr sz="10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categorical features</a:t>
            </a:r>
            <a:endParaRPr sz="10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67460" y="5304002"/>
            <a:ext cx="22479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StandardScaler</a:t>
            </a:r>
            <a:r>
              <a:rPr sz="1050" spc="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→</a:t>
            </a:r>
            <a:r>
              <a:rPr sz="1050" spc="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numerical</a:t>
            </a:r>
            <a:r>
              <a:rPr sz="1050" spc="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features</a:t>
            </a:r>
            <a:endParaRPr sz="10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67460" y="5610326"/>
            <a:ext cx="17284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80:20</a:t>
            </a:r>
            <a:r>
              <a:rPr sz="10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stratified</a:t>
            </a:r>
            <a:r>
              <a:rPr sz="10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train-</a:t>
            </a:r>
            <a:r>
              <a:rPr sz="10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test</a:t>
            </a:r>
            <a:r>
              <a:rPr sz="10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split</a:t>
            </a:r>
            <a:endParaRPr sz="10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67460" y="5916650"/>
            <a:ext cx="23755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Fitted</a:t>
            </a:r>
            <a:r>
              <a:rPr sz="1050" spc="-3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only</a:t>
            </a:r>
            <a:r>
              <a:rPr sz="105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on</a:t>
            </a:r>
            <a:r>
              <a:rPr sz="1050" spc="-3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training</a:t>
            </a:r>
            <a:r>
              <a:rPr sz="105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data</a:t>
            </a:r>
            <a:r>
              <a:rPr sz="105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(no</a:t>
            </a:r>
            <a:r>
              <a:rPr sz="1050" spc="-3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leakage)</a:t>
            </a:r>
            <a:endParaRPr sz="10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226657" y="4154170"/>
            <a:ext cx="5285740" cy="2161540"/>
            <a:chOff x="6226657" y="4154170"/>
            <a:chExt cx="5285740" cy="2161540"/>
          </a:xfrm>
        </p:grpSpPr>
        <p:sp>
          <p:nvSpPr>
            <p:cNvPr id="37" name="object 37"/>
            <p:cNvSpPr/>
            <p:nvPr/>
          </p:nvSpPr>
          <p:spPr>
            <a:xfrm>
              <a:off x="6233007" y="4160520"/>
              <a:ext cx="5273040" cy="2148840"/>
            </a:xfrm>
            <a:custGeom>
              <a:avLst/>
              <a:gdLst/>
              <a:ahLst/>
              <a:cxnLst/>
              <a:rect l="l" t="t" r="r" b="b"/>
              <a:pathLst>
                <a:path w="5273040" h="2148840">
                  <a:moveTo>
                    <a:pt x="5199735" y="0"/>
                  </a:moveTo>
                  <a:lnTo>
                    <a:pt x="73146" y="0"/>
                  </a:lnTo>
                  <a:lnTo>
                    <a:pt x="44788" y="5786"/>
                  </a:lnTo>
                  <a:lnTo>
                    <a:pt x="21525" y="21524"/>
                  </a:lnTo>
                  <a:lnTo>
                    <a:pt x="5786" y="44785"/>
                  </a:lnTo>
                  <a:lnTo>
                    <a:pt x="0" y="73139"/>
                  </a:lnTo>
                  <a:lnTo>
                    <a:pt x="0" y="2075688"/>
                  </a:lnTo>
                  <a:lnTo>
                    <a:pt x="5786" y="2104048"/>
                  </a:lnTo>
                  <a:lnTo>
                    <a:pt x="21525" y="2127313"/>
                  </a:lnTo>
                  <a:lnTo>
                    <a:pt x="44788" y="2143053"/>
                  </a:lnTo>
                  <a:lnTo>
                    <a:pt x="73146" y="2148840"/>
                  </a:lnTo>
                  <a:lnTo>
                    <a:pt x="5199735" y="2148840"/>
                  </a:lnTo>
                  <a:lnTo>
                    <a:pt x="5228096" y="2143053"/>
                  </a:lnTo>
                  <a:lnTo>
                    <a:pt x="5251361" y="2127313"/>
                  </a:lnTo>
                  <a:lnTo>
                    <a:pt x="5267101" y="2104048"/>
                  </a:lnTo>
                  <a:lnTo>
                    <a:pt x="5272887" y="2075688"/>
                  </a:lnTo>
                  <a:lnTo>
                    <a:pt x="5272887" y="73139"/>
                  </a:lnTo>
                  <a:lnTo>
                    <a:pt x="5267101" y="44785"/>
                  </a:lnTo>
                  <a:lnTo>
                    <a:pt x="5251361" y="21524"/>
                  </a:lnTo>
                  <a:lnTo>
                    <a:pt x="5228096" y="5786"/>
                  </a:lnTo>
                  <a:lnTo>
                    <a:pt x="5199735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233007" y="4160520"/>
              <a:ext cx="5273040" cy="2148840"/>
            </a:xfrm>
            <a:custGeom>
              <a:avLst/>
              <a:gdLst/>
              <a:ahLst/>
              <a:cxnLst/>
              <a:rect l="l" t="t" r="r" b="b"/>
              <a:pathLst>
                <a:path w="5273040" h="2148840">
                  <a:moveTo>
                    <a:pt x="0" y="73139"/>
                  </a:moveTo>
                  <a:lnTo>
                    <a:pt x="5786" y="44785"/>
                  </a:lnTo>
                  <a:lnTo>
                    <a:pt x="21525" y="21524"/>
                  </a:lnTo>
                  <a:lnTo>
                    <a:pt x="44788" y="5786"/>
                  </a:lnTo>
                  <a:lnTo>
                    <a:pt x="73146" y="0"/>
                  </a:lnTo>
                  <a:lnTo>
                    <a:pt x="5199735" y="0"/>
                  </a:lnTo>
                  <a:lnTo>
                    <a:pt x="5228096" y="5786"/>
                  </a:lnTo>
                  <a:lnTo>
                    <a:pt x="5251361" y="21524"/>
                  </a:lnTo>
                  <a:lnTo>
                    <a:pt x="5267101" y="44785"/>
                  </a:lnTo>
                  <a:lnTo>
                    <a:pt x="5272887" y="73139"/>
                  </a:lnTo>
                  <a:lnTo>
                    <a:pt x="5272887" y="2075688"/>
                  </a:lnTo>
                  <a:lnTo>
                    <a:pt x="5267101" y="2104048"/>
                  </a:lnTo>
                  <a:lnTo>
                    <a:pt x="5251361" y="2127313"/>
                  </a:lnTo>
                  <a:lnTo>
                    <a:pt x="5228096" y="2143053"/>
                  </a:lnTo>
                  <a:lnTo>
                    <a:pt x="5199735" y="2148840"/>
                  </a:lnTo>
                  <a:lnTo>
                    <a:pt x="73146" y="2148840"/>
                  </a:lnTo>
                  <a:lnTo>
                    <a:pt x="44788" y="2143053"/>
                  </a:lnTo>
                  <a:lnTo>
                    <a:pt x="21525" y="2127313"/>
                  </a:lnTo>
                  <a:lnTo>
                    <a:pt x="5786" y="2104048"/>
                  </a:lnTo>
                  <a:lnTo>
                    <a:pt x="0" y="2075688"/>
                  </a:lnTo>
                  <a:lnTo>
                    <a:pt x="0" y="73139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580479" y="4453128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79" h="55245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6567779" y="4600994"/>
            <a:ext cx="24790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FEATURE</a:t>
            </a:r>
            <a:r>
              <a:rPr sz="1500" b="1" spc="36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PREPARATION</a:t>
            </a:r>
            <a:endParaRPr sz="15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67779" y="4886502"/>
            <a:ext cx="1867535" cy="76136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4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20</a:t>
            </a:r>
            <a:r>
              <a:rPr sz="2400" b="1" spc="20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60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→</a:t>
            </a:r>
            <a:r>
              <a:rPr sz="1600" spc="434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400" b="1" spc="-25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61</a:t>
            </a:r>
            <a:endParaRPr sz="2400">
              <a:latin typeface="Arial" panose="020B0604020202090204"/>
              <a:cs typeface="Arial" panose="020B0604020202090204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90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input</a:t>
            </a:r>
            <a:r>
              <a:rPr sz="900" spc="-15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features</a:t>
            </a:r>
            <a:r>
              <a:rPr sz="900" spc="-15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→</a:t>
            </a:r>
            <a:r>
              <a:rPr sz="900" spc="-15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processed</a:t>
            </a:r>
            <a:r>
              <a:rPr sz="900" spc="-15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spc="-10" dirty="0">
                <a:solidFill>
                  <a:srgbClr val="9A9A9F"/>
                </a:solidFill>
                <a:latin typeface="Arial" panose="020B0604020202090204"/>
                <a:cs typeface="Arial" panose="020B0604020202090204"/>
              </a:rPr>
              <a:t>features</a:t>
            </a:r>
            <a:endParaRPr sz="9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574129" y="5781802"/>
            <a:ext cx="2210435" cy="579755"/>
            <a:chOff x="6574129" y="5781802"/>
            <a:chExt cx="2210435" cy="579755"/>
          </a:xfrm>
        </p:grpSpPr>
        <p:sp>
          <p:nvSpPr>
            <p:cNvPr id="43" name="object 43"/>
            <p:cNvSpPr/>
            <p:nvPr/>
          </p:nvSpPr>
          <p:spPr>
            <a:xfrm>
              <a:off x="6580479" y="5788152"/>
              <a:ext cx="2197735" cy="567055"/>
            </a:xfrm>
            <a:custGeom>
              <a:avLst/>
              <a:gdLst/>
              <a:ahLst/>
              <a:cxnLst/>
              <a:rect l="l" t="t" r="r" b="b"/>
              <a:pathLst>
                <a:path w="2197734" h="567054">
                  <a:moveTo>
                    <a:pt x="2142667" y="0"/>
                  </a:moveTo>
                  <a:lnTo>
                    <a:pt x="54861" y="0"/>
                  </a:lnTo>
                  <a:lnTo>
                    <a:pt x="33592" y="4339"/>
                  </a:lnTo>
                  <a:lnTo>
                    <a:pt x="16144" y="16144"/>
                  </a:lnTo>
                  <a:lnTo>
                    <a:pt x="4339" y="33593"/>
                  </a:lnTo>
                  <a:lnTo>
                    <a:pt x="0" y="54864"/>
                  </a:lnTo>
                  <a:lnTo>
                    <a:pt x="0" y="512063"/>
                  </a:lnTo>
                  <a:lnTo>
                    <a:pt x="4339" y="533334"/>
                  </a:lnTo>
                  <a:lnTo>
                    <a:pt x="16144" y="550783"/>
                  </a:lnTo>
                  <a:lnTo>
                    <a:pt x="33592" y="562588"/>
                  </a:lnTo>
                  <a:lnTo>
                    <a:pt x="54861" y="566927"/>
                  </a:lnTo>
                  <a:lnTo>
                    <a:pt x="2142667" y="566927"/>
                  </a:lnTo>
                  <a:lnTo>
                    <a:pt x="2163938" y="562588"/>
                  </a:lnTo>
                  <a:lnTo>
                    <a:pt x="2181386" y="550783"/>
                  </a:lnTo>
                  <a:lnTo>
                    <a:pt x="2193191" y="533334"/>
                  </a:lnTo>
                  <a:lnTo>
                    <a:pt x="2197531" y="512063"/>
                  </a:lnTo>
                  <a:lnTo>
                    <a:pt x="2197531" y="54864"/>
                  </a:lnTo>
                  <a:lnTo>
                    <a:pt x="2193191" y="33593"/>
                  </a:lnTo>
                  <a:lnTo>
                    <a:pt x="2181386" y="16144"/>
                  </a:lnTo>
                  <a:lnTo>
                    <a:pt x="2163938" y="4339"/>
                  </a:lnTo>
                  <a:lnTo>
                    <a:pt x="2142667" y="0"/>
                  </a:lnTo>
                  <a:close/>
                </a:path>
              </a:pathLst>
            </a:custGeom>
            <a:solidFill>
              <a:srgbClr val="1D1D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580479" y="5788152"/>
              <a:ext cx="2197735" cy="567055"/>
            </a:xfrm>
            <a:custGeom>
              <a:avLst/>
              <a:gdLst/>
              <a:ahLst/>
              <a:cxnLst/>
              <a:rect l="l" t="t" r="r" b="b"/>
              <a:pathLst>
                <a:path w="2197734" h="567054">
                  <a:moveTo>
                    <a:pt x="0" y="54864"/>
                  </a:moveTo>
                  <a:lnTo>
                    <a:pt x="4339" y="33593"/>
                  </a:lnTo>
                  <a:lnTo>
                    <a:pt x="16144" y="16144"/>
                  </a:lnTo>
                  <a:lnTo>
                    <a:pt x="33592" y="4339"/>
                  </a:lnTo>
                  <a:lnTo>
                    <a:pt x="54861" y="0"/>
                  </a:lnTo>
                  <a:lnTo>
                    <a:pt x="2142667" y="0"/>
                  </a:lnTo>
                  <a:lnTo>
                    <a:pt x="2163938" y="4339"/>
                  </a:lnTo>
                  <a:lnTo>
                    <a:pt x="2181386" y="16144"/>
                  </a:lnTo>
                  <a:lnTo>
                    <a:pt x="2193191" y="33593"/>
                  </a:lnTo>
                  <a:lnTo>
                    <a:pt x="2197531" y="54864"/>
                  </a:lnTo>
                  <a:lnTo>
                    <a:pt x="2197531" y="512063"/>
                  </a:lnTo>
                  <a:lnTo>
                    <a:pt x="2193191" y="533334"/>
                  </a:lnTo>
                  <a:lnTo>
                    <a:pt x="2181386" y="550783"/>
                  </a:lnTo>
                  <a:lnTo>
                    <a:pt x="2163938" y="562588"/>
                  </a:lnTo>
                  <a:lnTo>
                    <a:pt x="2142667" y="566927"/>
                  </a:lnTo>
                  <a:lnTo>
                    <a:pt x="54861" y="566927"/>
                  </a:lnTo>
                  <a:lnTo>
                    <a:pt x="33592" y="562588"/>
                  </a:lnTo>
                  <a:lnTo>
                    <a:pt x="16144" y="550783"/>
                  </a:lnTo>
                  <a:lnTo>
                    <a:pt x="4339" y="533334"/>
                  </a:lnTo>
                  <a:lnTo>
                    <a:pt x="0" y="512063"/>
                  </a:lnTo>
                  <a:lnTo>
                    <a:pt x="0" y="54864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6580479" y="5788152"/>
            <a:ext cx="2197735" cy="56705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775"/>
              </a:spcBef>
            </a:pPr>
            <a:r>
              <a:rPr sz="950" b="1" spc="-10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train.csv</a:t>
            </a:r>
            <a:endParaRPr sz="950">
              <a:latin typeface="Arial" panose="020B0604020202090204"/>
              <a:cs typeface="Arial" panose="020B0604020202090204"/>
            </a:endParaRPr>
          </a:p>
          <a:p>
            <a:pPr marL="127635">
              <a:lnSpc>
                <a:spcPct val="100000"/>
              </a:lnSpc>
              <a:spcBef>
                <a:spcPts val="435"/>
              </a:spcBef>
            </a:pPr>
            <a:r>
              <a:rPr sz="12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800</a:t>
            </a:r>
            <a:r>
              <a:rPr sz="1200" b="1" spc="-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2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×</a:t>
            </a:r>
            <a:r>
              <a:rPr sz="1200" b="1" spc="-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200" b="1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62</a:t>
            </a:r>
            <a:endParaRPr sz="12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954541" y="5781802"/>
            <a:ext cx="2210435" cy="579755"/>
            <a:chOff x="8954541" y="5781802"/>
            <a:chExt cx="2210435" cy="579755"/>
          </a:xfrm>
        </p:grpSpPr>
        <p:sp>
          <p:nvSpPr>
            <p:cNvPr id="47" name="object 47"/>
            <p:cNvSpPr/>
            <p:nvPr/>
          </p:nvSpPr>
          <p:spPr>
            <a:xfrm>
              <a:off x="8960891" y="5788151"/>
              <a:ext cx="2197735" cy="567055"/>
            </a:xfrm>
            <a:custGeom>
              <a:avLst/>
              <a:gdLst/>
              <a:ahLst/>
              <a:cxnLst/>
              <a:rect l="l" t="t" r="r" b="b"/>
              <a:pathLst>
                <a:path w="2197734" h="567054">
                  <a:moveTo>
                    <a:pt x="2142667" y="0"/>
                  </a:moveTo>
                  <a:lnTo>
                    <a:pt x="54861" y="0"/>
                  </a:lnTo>
                  <a:lnTo>
                    <a:pt x="33592" y="4339"/>
                  </a:lnTo>
                  <a:lnTo>
                    <a:pt x="16144" y="16144"/>
                  </a:lnTo>
                  <a:lnTo>
                    <a:pt x="4339" y="33593"/>
                  </a:lnTo>
                  <a:lnTo>
                    <a:pt x="0" y="54864"/>
                  </a:lnTo>
                  <a:lnTo>
                    <a:pt x="0" y="512063"/>
                  </a:lnTo>
                  <a:lnTo>
                    <a:pt x="4339" y="533334"/>
                  </a:lnTo>
                  <a:lnTo>
                    <a:pt x="16144" y="550783"/>
                  </a:lnTo>
                  <a:lnTo>
                    <a:pt x="33592" y="562588"/>
                  </a:lnTo>
                  <a:lnTo>
                    <a:pt x="54861" y="566927"/>
                  </a:lnTo>
                  <a:lnTo>
                    <a:pt x="2142667" y="566927"/>
                  </a:lnTo>
                  <a:lnTo>
                    <a:pt x="2163938" y="562588"/>
                  </a:lnTo>
                  <a:lnTo>
                    <a:pt x="2181386" y="550783"/>
                  </a:lnTo>
                  <a:lnTo>
                    <a:pt x="2193191" y="533334"/>
                  </a:lnTo>
                  <a:lnTo>
                    <a:pt x="2197531" y="512063"/>
                  </a:lnTo>
                  <a:lnTo>
                    <a:pt x="2197531" y="54864"/>
                  </a:lnTo>
                  <a:lnTo>
                    <a:pt x="2193191" y="33593"/>
                  </a:lnTo>
                  <a:lnTo>
                    <a:pt x="2181386" y="16144"/>
                  </a:lnTo>
                  <a:lnTo>
                    <a:pt x="2163938" y="4339"/>
                  </a:lnTo>
                  <a:lnTo>
                    <a:pt x="2142667" y="0"/>
                  </a:lnTo>
                  <a:close/>
                </a:path>
              </a:pathLst>
            </a:custGeom>
            <a:solidFill>
              <a:srgbClr val="1D1D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960891" y="5788151"/>
              <a:ext cx="2197735" cy="567055"/>
            </a:xfrm>
            <a:custGeom>
              <a:avLst/>
              <a:gdLst/>
              <a:ahLst/>
              <a:cxnLst/>
              <a:rect l="l" t="t" r="r" b="b"/>
              <a:pathLst>
                <a:path w="2197734" h="567054">
                  <a:moveTo>
                    <a:pt x="0" y="54864"/>
                  </a:moveTo>
                  <a:lnTo>
                    <a:pt x="4339" y="33593"/>
                  </a:lnTo>
                  <a:lnTo>
                    <a:pt x="16144" y="16144"/>
                  </a:lnTo>
                  <a:lnTo>
                    <a:pt x="33592" y="4339"/>
                  </a:lnTo>
                  <a:lnTo>
                    <a:pt x="54861" y="0"/>
                  </a:lnTo>
                  <a:lnTo>
                    <a:pt x="2142667" y="0"/>
                  </a:lnTo>
                  <a:lnTo>
                    <a:pt x="2163938" y="4339"/>
                  </a:lnTo>
                  <a:lnTo>
                    <a:pt x="2181386" y="16144"/>
                  </a:lnTo>
                  <a:lnTo>
                    <a:pt x="2193191" y="33593"/>
                  </a:lnTo>
                  <a:lnTo>
                    <a:pt x="2197531" y="54864"/>
                  </a:lnTo>
                  <a:lnTo>
                    <a:pt x="2197531" y="512063"/>
                  </a:lnTo>
                  <a:lnTo>
                    <a:pt x="2193191" y="533334"/>
                  </a:lnTo>
                  <a:lnTo>
                    <a:pt x="2181386" y="550783"/>
                  </a:lnTo>
                  <a:lnTo>
                    <a:pt x="2163938" y="562588"/>
                  </a:lnTo>
                  <a:lnTo>
                    <a:pt x="2142667" y="566927"/>
                  </a:lnTo>
                  <a:lnTo>
                    <a:pt x="54861" y="566927"/>
                  </a:lnTo>
                  <a:lnTo>
                    <a:pt x="33592" y="562588"/>
                  </a:lnTo>
                  <a:lnTo>
                    <a:pt x="16144" y="550783"/>
                  </a:lnTo>
                  <a:lnTo>
                    <a:pt x="4339" y="533334"/>
                  </a:lnTo>
                  <a:lnTo>
                    <a:pt x="0" y="512063"/>
                  </a:lnTo>
                  <a:lnTo>
                    <a:pt x="0" y="54864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8960891" y="5788152"/>
            <a:ext cx="2197735" cy="56705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775"/>
              </a:spcBef>
            </a:pPr>
            <a:r>
              <a:rPr sz="950" b="1" spc="-10" dirty="0">
                <a:solidFill>
                  <a:srgbClr val="FF3A3A"/>
                </a:solidFill>
                <a:latin typeface="Arial" panose="020B0604020202090204"/>
                <a:cs typeface="Arial" panose="020B0604020202090204"/>
              </a:rPr>
              <a:t>test.csv</a:t>
            </a:r>
            <a:endParaRPr sz="950">
              <a:latin typeface="Arial" panose="020B0604020202090204"/>
              <a:cs typeface="Arial" panose="020B0604020202090204"/>
            </a:endParaRPr>
          </a:p>
          <a:p>
            <a:pPr marL="127635">
              <a:lnSpc>
                <a:spcPct val="100000"/>
              </a:lnSpc>
              <a:spcBef>
                <a:spcPts val="435"/>
              </a:spcBef>
            </a:pPr>
            <a:r>
              <a:rPr sz="12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200</a:t>
            </a:r>
            <a:r>
              <a:rPr sz="1200" b="1" spc="-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2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×</a:t>
            </a:r>
            <a:r>
              <a:rPr sz="1200" b="1" spc="-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200" b="1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62</a:t>
            </a:r>
            <a:endParaRPr sz="1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44500" y="6408546"/>
            <a:ext cx="20199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900" spc="-6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spc="-1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900" spc="-6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900" spc="39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K</a:t>
            </a:r>
            <a:r>
              <a:rPr sz="900" spc="39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P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900" spc="-5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N</a:t>
            </a:r>
            <a:endParaRPr sz="9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1749648" y="6392760"/>
            <a:ext cx="1809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04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530351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4">
                <a:moveTo>
                  <a:pt x="146304" y="0"/>
                </a:moveTo>
                <a:lnTo>
                  <a:pt x="0" y="0"/>
                </a:lnTo>
                <a:lnTo>
                  <a:pt x="0" y="146303"/>
                </a:lnTo>
                <a:lnTo>
                  <a:pt x="146304" y="146303"/>
                </a:lnTo>
                <a:lnTo>
                  <a:pt x="146304" y="0"/>
                </a:lnTo>
                <a:close/>
              </a:path>
            </a:pathLst>
          </a:custGeom>
          <a:solidFill>
            <a:srgbClr val="E100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29132" y="506463"/>
            <a:ext cx="25584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100" b="1" spc="-2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X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P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Y</a:t>
            </a:r>
            <a:r>
              <a:rPr sz="1100" b="1" spc="13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100" b="1" spc="-1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A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Y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-5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S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EXPLORATORY</a:t>
            </a:r>
            <a:r>
              <a:rPr spc="-145" dirty="0"/>
              <a:t> </a:t>
            </a:r>
            <a:r>
              <a:rPr dirty="0"/>
              <a:t>DATA</a:t>
            </a:r>
            <a:r>
              <a:rPr spc="-140" dirty="0"/>
              <a:t> </a:t>
            </a:r>
            <a:r>
              <a:rPr spc="-10" dirty="0"/>
              <a:t>ANALYSIS</a:t>
            </a:r>
            <a:endParaRPr spc="-10" dirty="0"/>
          </a:p>
        </p:txBody>
      </p:sp>
      <p:grpSp>
        <p:nvGrpSpPr>
          <p:cNvPr id="7" name="object 7"/>
          <p:cNvGrpSpPr/>
          <p:nvPr/>
        </p:nvGrpSpPr>
        <p:grpSpPr>
          <a:xfrm>
            <a:off x="679450" y="1685289"/>
            <a:ext cx="5285740" cy="2252980"/>
            <a:chOff x="679450" y="1685289"/>
            <a:chExt cx="5285740" cy="2252980"/>
          </a:xfrm>
        </p:grpSpPr>
        <p:sp>
          <p:nvSpPr>
            <p:cNvPr id="8" name="object 8"/>
            <p:cNvSpPr/>
            <p:nvPr/>
          </p:nvSpPr>
          <p:spPr>
            <a:xfrm>
              <a:off x="685800" y="1691639"/>
              <a:ext cx="5273040" cy="2240280"/>
            </a:xfrm>
            <a:custGeom>
              <a:avLst/>
              <a:gdLst/>
              <a:ahLst/>
              <a:cxnLst/>
              <a:rect l="l" t="t" r="r" b="b"/>
              <a:pathLst>
                <a:path w="5273040" h="2240279">
                  <a:moveTo>
                    <a:pt x="5225186" y="0"/>
                  </a:moveTo>
                  <a:lnTo>
                    <a:pt x="47695" y="0"/>
                  </a:lnTo>
                  <a:lnTo>
                    <a:pt x="29204" y="3772"/>
                  </a:lnTo>
                  <a:lnTo>
                    <a:pt x="14035" y="14035"/>
                  </a:lnTo>
                  <a:lnTo>
                    <a:pt x="3772" y="29205"/>
                  </a:lnTo>
                  <a:lnTo>
                    <a:pt x="0" y="47701"/>
                  </a:lnTo>
                  <a:lnTo>
                    <a:pt x="0" y="2192578"/>
                  </a:lnTo>
                  <a:lnTo>
                    <a:pt x="3772" y="2211074"/>
                  </a:lnTo>
                  <a:lnTo>
                    <a:pt x="14035" y="2226244"/>
                  </a:lnTo>
                  <a:lnTo>
                    <a:pt x="29204" y="2236507"/>
                  </a:lnTo>
                  <a:lnTo>
                    <a:pt x="47695" y="2240279"/>
                  </a:lnTo>
                  <a:lnTo>
                    <a:pt x="5225186" y="2240279"/>
                  </a:lnTo>
                  <a:lnTo>
                    <a:pt x="5243682" y="2236507"/>
                  </a:lnTo>
                  <a:lnTo>
                    <a:pt x="5258852" y="2226244"/>
                  </a:lnTo>
                  <a:lnTo>
                    <a:pt x="5269115" y="2211074"/>
                  </a:lnTo>
                  <a:lnTo>
                    <a:pt x="5272887" y="2192578"/>
                  </a:lnTo>
                  <a:lnTo>
                    <a:pt x="5272887" y="47701"/>
                  </a:lnTo>
                  <a:lnTo>
                    <a:pt x="5269115" y="29205"/>
                  </a:lnTo>
                  <a:lnTo>
                    <a:pt x="5258852" y="14035"/>
                  </a:lnTo>
                  <a:lnTo>
                    <a:pt x="5243682" y="3772"/>
                  </a:lnTo>
                  <a:lnTo>
                    <a:pt x="5225186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800" y="1691639"/>
              <a:ext cx="5273040" cy="2240280"/>
            </a:xfrm>
            <a:custGeom>
              <a:avLst/>
              <a:gdLst/>
              <a:ahLst/>
              <a:cxnLst/>
              <a:rect l="l" t="t" r="r" b="b"/>
              <a:pathLst>
                <a:path w="5273040" h="2240279">
                  <a:moveTo>
                    <a:pt x="0" y="47701"/>
                  </a:moveTo>
                  <a:lnTo>
                    <a:pt x="3772" y="29205"/>
                  </a:lnTo>
                  <a:lnTo>
                    <a:pt x="14035" y="14035"/>
                  </a:lnTo>
                  <a:lnTo>
                    <a:pt x="29204" y="3772"/>
                  </a:lnTo>
                  <a:lnTo>
                    <a:pt x="47695" y="0"/>
                  </a:lnTo>
                  <a:lnTo>
                    <a:pt x="5225186" y="0"/>
                  </a:lnTo>
                  <a:lnTo>
                    <a:pt x="5243682" y="3772"/>
                  </a:lnTo>
                  <a:lnTo>
                    <a:pt x="5258852" y="14035"/>
                  </a:lnTo>
                  <a:lnTo>
                    <a:pt x="5269115" y="29205"/>
                  </a:lnTo>
                  <a:lnTo>
                    <a:pt x="5272887" y="47701"/>
                  </a:lnTo>
                  <a:lnTo>
                    <a:pt x="5272887" y="2192578"/>
                  </a:lnTo>
                  <a:lnTo>
                    <a:pt x="5269115" y="2211074"/>
                  </a:lnTo>
                  <a:lnTo>
                    <a:pt x="5258852" y="2226244"/>
                  </a:lnTo>
                  <a:lnTo>
                    <a:pt x="5243682" y="2236507"/>
                  </a:lnTo>
                  <a:lnTo>
                    <a:pt x="5225186" y="2240279"/>
                  </a:lnTo>
                  <a:lnTo>
                    <a:pt x="47695" y="2240279"/>
                  </a:lnTo>
                  <a:lnTo>
                    <a:pt x="29204" y="2236507"/>
                  </a:lnTo>
                  <a:lnTo>
                    <a:pt x="14035" y="2226244"/>
                  </a:lnTo>
                  <a:lnTo>
                    <a:pt x="3772" y="2211074"/>
                  </a:lnTo>
                  <a:lnTo>
                    <a:pt x="0" y="2192578"/>
                  </a:lnTo>
                  <a:lnTo>
                    <a:pt x="0" y="47701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14400" y="1837943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80" h="55244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85800" y="1691639"/>
            <a:ext cx="5273040" cy="224028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80"/>
              </a:spcBef>
            </a:pPr>
            <a:endParaRPr sz="1100">
              <a:latin typeface="Times New Roman" panose="02020503050405090304"/>
              <a:cs typeface="Times New Roman" panose="02020503050405090304"/>
            </a:endParaRPr>
          </a:p>
          <a:p>
            <a:pPr marL="228600">
              <a:lnSpc>
                <a:spcPct val="100000"/>
              </a:lnSpc>
            </a:pPr>
            <a:r>
              <a:rPr sz="1100" b="1" spc="7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1100" b="1" spc="204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6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RISK</a:t>
            </a:r>
            <a:r>
              <a:rPr sz="1100" b="1" spc="204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7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DISTRIBUTION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216086" y="2157983"/>
            <a:ext cx="2212301" cy="1682496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6226657" y="1685289"/>
            <a:ext cx="5285740" cy="2252980"/>
            <a:chOff x="6226657" y="1685289"/>
            <a:chExt cx="5285740" cy="2252980"/>
          </a:xfrm>
        </p:grpSpPr>
        <p:sp>
          <p:nvSpPr>
            <p:cNvPr id="14" name="object 14"/>
            <p:cNvSpPr/>
            <p:nvPr/>
          </p:nvSpPr>
          <p:spPr>
            <a:xfrm>
              <a:off x="6233007" y="1691639"/>
              <a:ext cx="5273040" cy="2240280"/>
            </a:xfrm>
            <a:custGeom>
              <a:avLst/>
              <a:gdLst/>
              <a:ahLst/>
              <a:cxnLst/>
              <a:rect l="l" t="t" r="r" b="b"/>
              <a:pathLst>
                <a:path w="5273040" h="2240279">
                  <a:moveTo>
                    <a:pt x="5225186" y="0"/>
                  </a:moveTo>
                  <a:lnTo>
                    <a:pt x="47695" y="0"/>
                  </a:lnTo>
                  <a:lnTo>
                    <a:pt x="29204" y="3772"/>
                  </a:lnTo>
                  <a:lnTo>
                    <a:pt x="14035" y="14035"/>
                  </a:lnTo>
                  <a:lnTo>
                    <a:pt x="3772" y="29205"/>
                  </a:lnTo>
                  <a:lnTo>
                    <a:pt x="0" y="47701"/>
                  </a:lnTo>
                  <a:lnTo>
                    <a:pt x="0" y="2192578"/>
                  </a:lnTo>
                  <a:lnTo>
                    <a:pt x="3772" y="2211074"/>
                  </a:lnTo>
                  <a:lnTo>
                    <a:pt x="14035" y="2226244"/>
                  </a:lnTo>
                  <a:lnTo>
                    <a:pt x="29204" y="2236507"/>
                  </a:lnTo>
                  <a:lnTo>
                    <a:pt x="47695" y="2240279"/>
                  </a:lnTo>
                  <a:lnTo>
                    <a:pt x="5225186" y="2240279"/>
                  </a:lnTo>
                  <a:lnTo>
                    <a:pt x="5243682" y="2236507"/>
                  </a:lnTo>
                  <a:lnTo>
                    <a:pt x="5258852" y="2226244"/>
                  </a:lnTo>
                  <a:lnTo>
                    <a:pt x="5269115" y="2211074"/>
                  </a:lnTo>
                  <a:lnTo>
                    <a:pt x="5272887" y="2192578"/>
                  </a:lnTo>
                  <a:lnTo>
                    <a:pt x="5272887" y="47701"/>
                  </a:lnTo>
                  <a:lnTo>
                    <a:pt x="5269115" y="29205"/>
                  </a:lnTo>
                  <a:lnTo>
                    <a:pt x="5258852" y="14035"/>
                  </a:lnTo>
                  <a:lnTo>
                    <a:pt x="5243682" y="3772"/>
                  </a:lnTo>
                  <a:lnTo>
                    <a:pt x="5225186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233007" y="1691639"/>
              <a:ext cx="5273040" cy="2240280"/>
            </a:xfrm>
            <a:custGeom>
              <a:avLst/>
              <a:gdLst/>
              <a:ahLst/>
              <a:cxnLst/>
              <a:rect l="l" t="t" r="r" b="b"/>
              <a:pathLst>
                <a:path w="5273040" h="2240279">
                  <a:moveTo>
                    <a:pt x="0" y="47701"/>
                  </a:moveTo>
                  <a:lnTo>
                    <a:pt x="3772" y="29205"/>
                  </a:lnTo>
                  <a:lnTo>
                    <a:pt x="14035" y="14035"/>
                  </a:lnTo>
                  <a:lnTo>
                    <a:pt x="29204" y="3772"/>
                  </a:lnTo>
                  <a:lnTo>
                    <a:pt x="47695" y="0"/>
                  </a:lnTo>
                  <a:lnTo>
                    <a:pt x="5225186" y="0"/>
                  </a:lnTo>
                  <a:lnTo>
                    <a:pt x="5243682" y="3772"/>
                  </a:lnTo>
                  <a:lnTo>
                    <a:pt x="5258852" y="14035"/>
                  </a:lnTo>
                  <a:lnTo>
                    <a:pt x="5269115" y="29205"/>
                  </a:lnTo>
                  <a:lnTo>
                    <a:pt x="5272887" y="47701"/>
                  </a:lnTo>
                  <a:lnTo>
                    <a:pt x="5272887" y="2192578"/>
                  </a:lnTo>
                  <a:lnTo>
                    <a:pt x="5269115" y="2211074"/>
                  </a:lnTo>
                  <a:lnTo>
                    <a:pt x="5258852" y="2226244"/>
                  </a:lnTo>
                  <a:lnTo>
                    <a:pt x="5243682" y="2236507"/>
                  </a:lnTo>
                  <a:lnTo>
                    <a:pt x="5225186" y="2240279"/>
                  </a:lnTo>
                  <a:lnTo>
                    <a:pt x="47695" y="2240279"/>
                  </a:lnTo>
                  <a:lnTo>
                    <a:pt x="29204" y="2236507"/>
                  </a:lnTo>
                  <a:lnTo>
                    <a:pt x="14035" y="2226244"/>
                  </a:lnTo>
                  <a:lnTo>
                    <a:pt x="3772" y="2211074"/>
                  </a:lnTo>
                  <a:lnTo>
                    <a:pt x="0" y="2192578"/>
                  </a:lnTo>
                  <a:lnTo>
                    <a:pt x="0" y="47701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461607" y="1837943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79" h="55244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233007" y="1691639"/>
            <a:ext cx="5273040" cy="224028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80"/>
              </a:spcBef>
            </a:pPr>
            <a:endParaRPr sz="1100">
              <a:latin typeface="Times New Roman" panose="02020503050405090304"/>
              <a:cs typeface="Times New Roman" panose="02020503050405090304"/>
            </a:endParaRPr>
          </a:p>
          <a:p>
            <a:pPr marL="228600">
              <a:lnSpc>
                <a:spcPct val="100000"/>
              </a:lnSpc>
            </a:pPr>
            <a:r>
              <a:rPr sz="1100" b="1" spc="8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CORRELATION</a:t>
            </a:r>
            <a:r>
              <a:rPr sz="1100" b="1" spc="19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6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HEATMAP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2953" y="2157983"/>
            <a:ext cx="2172982" cy="1682496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679450" y="4017009"/>
            <a:ext cx="5285740" cy="2252980"/>
            <a:chOff x="679450" y="4017009"/>
            <a:chExt cx="5285740" cy="2252980"/>
          </a:xfrm>
        </p:grpSpPr>
        <p:sp>
          <p:nvSpPr>
            <p:cNvPr id="20" name="object 20"/>
            <p:cNvSpPr/>
            <p:nvPr/>
          </p:nvSpPr>
          <p:spPr>
            <a:xfrm>
              <a:off x="685800" y="4023359"/>
              <a:ext cx="5273040" cy="2240280"/>
            </a:xfrm>
            <a:custGeom>
              <a:avLst/>
              <a:gdLst/>
              <a:ahLst/>
              <a:cxnLst/>
              <a:rect l="l" t="t" r="r" b="b"/>
              <a:pathLst>
                <a:path w="5273040" h="2240279">
                  <a:moveTo>
                    <a:pt x="5225186" y="0"/>
                  </a:moveTo>
                  <a:lnTo>
                    <a:pt x="47695" y="0"/>
                  </a:lnTo>
                  <a:lnTo>
                    <a:pt x="29204" y="3772"/>
                  </a:lnTo>
                  <a:lnTo>
                    <a:pt x="14035" y="14035"/>
                  </a:lnTo>
                  <a:lnTo>
                    <a:pt x="3772" y="29205"/>
                  </a:lnTo>
                  <a:lnTo>
                    <a:pt x="0" y="47701"/>
                  </a:lnTo>
                  <a:lnTo>
                    <a:pt x="0" y="2192578"/>
                  </a:lnTo>
                  <a:lnTo>
                    <a:pt x="3772" y="2211074"/>
                  </a:lnTo>
                  <a:lnTo>
                    <a:pt x="14035" y="2226244"/>
                  </a:lnTo>
                  <a:lnTo>
                    <a:pt x="29204" y="2236507"/>
                  </a:lnTo>
                  <a:lnTo>
                    <a:pt x="47695" y="2240279"/>
                  </a:lnTo>
                  <a:lnTo>
                    <a:pt x="5225186" y="2240279"/>
                  </a:lnTo>
                  <a:lnTo>
                    <a:pt x="5243682" y="2236507"/>
                  </a:lnTo>
                  <a:lnTo>
                    <a:pt x="5258852" y="2226244"/>
                  </a:lnTo>
                  <a:lnTo>
                    <a:pt x="5269115" y="2211074"/>
                  </a:lnTo>
                  <a:lnTo>
                    <a:pt x="5272887" y="2192578"/>
                  </a:lnTo>
                  <a:lnTo>
                    <a:pt x="5272887" y="47701"/>
                  </a:lnTo>
                  <a:lnTo>
                    <a:pt x="5269115" y="29205"/>
                  </a:lnTo>
                  <a:lnTo>
                    <a:pt x="5258852" y="14035"/>
                  </a:lnTo>
                  <a:lnTo>
                    <a:pt x="5243682" y="3772"/>
                  </a:lnTo>
                  <a:lnTo>
                    <a:pt x="5225186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85800" y="4023359"/>
              <a:ext cx="5273040" cy="2240280"/>
            </a:xfrm>
            <a:custGeom>
              <a:avLst/>
              <a:gdLst/>
              <a:ahLst/>
              <a:cxnLst/>
              <a:rect l="l" t="t" r="r" b="b"/>
              <a:pathLst>
                <a:path w="5273040" h="2240279">
                  <a:moveTo>
                    <a:pt x="0" y="47701"/>
                  </a:moveTo>
                  <a:lnTo>
                    <a:pt x="3772" y="29205"/>
                  </a:lnTo>
                  <a:lnTo>
                    <a:pt x="14035" y="14035"/>
                  </a:lnTo>
                  <a:lnTo>
                    <a:pt x="29204" y="3772"/>
                  </a:lnTo>
                  <a:lnTo>
                    <a:pt x="47695" y="0"/>
                  </a:lnTo>
                  <a:lnTo>
                    <a:pt x="5225186" y="0"/>
                  </a:lnTo>
                  <a:lnTo>
                    <a:pt x="5243682" y="3772"/>
                  </a:lnTo>
                  <a:lnTo>
                    <a:pt x="5258852" y="14035"/>
                  </a:lnTo>
                  <a:lnTo>
                    <a:pt x="5269115" y="29205"/>
                  </a:lnTo>
                  <a:lnTo>
                    <a:pt x="5272887" y="47701"/>
                  </a:lnTo>
                  <a:lnTo>
                    <a:pt x="5272887" y="2192578"/>
                  </a:lnTo>
                  <a:lnTo>
                    <a:pt x="5269115" y="2211074"/>
                  </a:lnTo>
                  <a:lnTo>
                    <a:pt x="5258852" y="2226244"/>
                  </a:lnTo>
                  <a:lnTo>
                    <a:pt x="5243682" y="2236507"/>
                  </a:lnTo>
                  <a:lnTo>
                    <a:pt x="5225186" y="2240279"/>
                  </a:lnTo>
                  <a:lnTo>
                    <a:pt x="47695" y="2240279"/>
                  </a:lnTo>
                  <a:lnTo>
                    <a:pt x="29204" y="2236507"/>
                  </a:lnTo>
                  <a:lnTo>
                    <a:pt x="14035" y="2226244"/>
                  </a:lnTo>
                  <a:lnTo>
                    <a:pt x="3772" y="2211074"/>
                  </a:lnTo>
                  <a:lnTo>
                    <a:pt x="0" y="2192578"/>
                  </a:lnTo>
                  <a:lnTo>
                    <a:pt x="0" y="47701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14400" y="4169663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80" h="55245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85800" y="4023359"/>
            <a:ext cx="5273040" cy="224028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80"/>
              </a:spcBef>
            </a:pPr>
            <a:endParaRPr sz="1100">
              <a:latin typeface="Times New Roman" panose="02020503050405090304"/>
              <a:cs typeface="Times New Roman" panose="02020503050405090304"/>
            </a:endParaRPr>
          </a:p>
          <a:p>
            <a:pPr marL="228600">
              <a:lnSpc>
                <a:spcPct val="100000"/>
              </a:lnSpc>
            </a:pPr>
            <a:r>
              <a:rPr sz="1100" b="1" spc="8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CHECKING</a:t>
            </a:r>
            <a:r>
              <a:rPr sz="1100" b="1" spc="2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7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STATUS</a:t>
            </a:r>
            <a:r>
              <a:rPr sz="1100" b="1" spc="2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VS</a:t>
            </a:r>
            <a:r>
              <a:rPr sz="1100" b="1" spc="2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7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1100" b="1" spc="2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4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RISK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95829" y="4489703"/>
            <a:ext cx="2252827" cy="1682496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6226657" y="4017009"/>
            <a:ext cx="5285740" cy="2252980"/>
            <a:chOff x="6226657" y="4017009"/>
            <a:chExt cx="5285740" cy="2252980"/>
          </a:xfrm>
        </p:grpSpPr>
        <p:sp>
          <p:nvSpPr>
            <p:cNvPr id="26" name="object 26"/>
            <p:cNvSpPr/>
            <p:nvPr/>
          </p:nvSpPr>
          <p:spPr>
            <a:xfrm>
              <a:off x="6233007" y="4023359"/>
              <a:ext cx="5273040" cy="2240280"/>
            </a:xfrm>
            <a:custGeom>
              <a:avLst/>
              <a:gdLst/>
              <a:ahLst/>
              <a:cxnLst/>
              <a:rect l="l" t="t" r="r" b="b"/>
              <a:pathLst>
                <a:path w="5273040" h="2240279">
                  <a:moveTo>
                    <a:pt x="5225186" y="0"/>
                  </a:moveTo>
                  <a:lnTo>
                    <a:pt x="47695" y="0"/>
                  </a:lnTo>
                  <a:lnTo>
                    <a:pt x="29204" y="3772"/>
                  </a:lnTo>
                  <a:lnTo>
                    <a:pt x="14035" y="14035"/>
                  </a:lnTo>
                  <a:lnTo>
                    <a:pt x="3772" y="29205"/>
                  </a:lnTo>
                  <a:lnTo>
                    <a:pt x="0" y="47701"/>
                  </a:lnTo>
                  <a:lnTo>
                    <a:pt x="0" y="2192578"/>
                  </a:lnTo>
                  <a:lnTo>
                    <a:pt x="3772" y="2211074"/>
                  </a:lnTo>
                  <a:lnTo>
                    <a:pt x="14035" y="2226244"/>
                  </a:lnTo>
                  <a:lnTo>
                    <a:pt x="29204" y="2236507"/>
                  </a:lnTo>
                  <a:lnTo>
                    <a:pt x="47695" y="2240279"/>
                  </a:lnTo>
                  <a:lnTo>
                    <a:pt x="5225186" y="2240279"/>
                  </a:lnTo>
                  <a:lnTo>
                    <a:pt x="5243682" y="2236507"/>
                  </a:lnTo>
                  <a:lnTo>
                    <a:pt x="5258852" y="2226244"/>
                  </a:lnTo>
                  <a:lnTo>
                    <a:pt x="5269115" y="2211074"/>
                  </a:lnTo>
                  <a:lnTo>
                    <a:pt x="5272887" y="2192578"/>
                  </a:lnTo>
                  <a:lnTo>
                    <a:pt x="5272887" y="47701"/>
                  </a:lnTo>
                  <a:lnTo>
                    <a:pt x="5269115" y="29205"/>
                  </a:lnTo>
                  <a:lnTo>
                    <a:pt x="5258852" y="14035"/>
                  </a:lnTo>
                  <a:lnTo>
                    <a:pt x="5243682" y="3772"/>
                  </a:lnTo>
                  <a:lnTo>
                    <a:pt x="5225186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233007" y="4023359"/>
              <a:ext cx="5273040" cy="2240280"/>
            </a:xfrm>
            <a:custGeom>
              <a:avLst/>
              <a:gdLst/>
              <a:ahLst/>
              <a:cxnLst/>
              <a:rect l="l" t="t" r="r" b="b"/>
              <a:pathLst>
                <a:path w="5273040" h="2240279">
                  <a:moveTo>
                    <a:pt x="0" y="47701"/>
                  </a:moveTo>
                  <a:lnTo>
                    <a:pt x="3772" y="29205"/>
                  </a:lnTo>
                  <a:lnTo>
                    <a:pt x="14035" y="14035"/>
                  </a:lnTo>
                  <a:lnTo>
                    <a:pt x="29204" y="3772"/>
                  </a:lnTo>
                  <a:lnTo>
                    <a:pt x="47695" y="0"/>
                  </a:lnTo>
                  <a:lnTo>
                    <a:pt x="5225186" y="0"/>
                  </a:lnTo>
                  <a:lnTo>
                    <a:pt x="5243682" y="3772"/>
                  </a:lnTo>
                  <a:lnTo>
                    <a:pt x="5258852" y="14035"/>
                  </a:lnTo>
                  <a:lnTo>
                    <a:pt x="5269115" y="29205"/>
                  </a:lnTo>
                  <a:lnTo>
                    <a:pt x="5272887" y="47701"/>
                  </a:lnTo>
                  <a:lnTo>
                    <a:pt x="5272887" y="2192578"/>
                  </a:lnTo>
                  <a:lnTo>
                    <a:pt x="5269115" y="2211074"/>
                  </a:lnTo>
                  <a:lnTo>
                    <a:pt x="5258852" y="2226244"/>
                  </a:lnTo>
                  <a:lnTo>
                    <a:pt x="5243682" y="2236507"/>
                  </a:lnTo>
                  <a:lnTo>
                    <a:pt x="5225186" y="2240279"/>
                  </a:lnTo>
                  <a:lnTo>
                    <a:pt x="47695" y="2240279"/>
                  </a:lnTo>
                  <a:lnTo>
                    <a:pt x="29204" y="2236507"/>
                  </a:lnTo>
                  <a:lnTo>
                    <a:pt x="14035" y="2226244"/>
                  </a:lnTo>
                  <a:lnTo>
                    <a:pt x="3772" y="2211074"/>
                  </a:lnTo>
                  <a:lnTo>
                    <a:pt x="0" y="2192578"/>
                  </a:lnTo>
                  <a:lnTo>
                    <a:pt x="0" y="47701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461607" y="4169663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79" h="55245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233007" y="4023359"/>
            <a:ext cx="5273040" cy="224028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80"/>
              </a:spcBef>
            </a:pPr>
            <a:endParaRPr sz="1100">
              <a:latin typeface="Times New Roman" panose="02020503050405090304"/>
              <a:cs typeface="Times New Roman" panose="02020503050405090304"/>
            </a:endParaRPr>
          </a:p>
          <a:p>
            <a:pPr marL="228600">
              <a:lnSpc>
                <a:spcPct val="100000"/>
              </a:lnSpc>
            </a:pPr>
            <a:r>
              <a:rPr sz="1100" b="1" spc="7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1100" b="1" spc="2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7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AMOUNT</a:t>
            </a:r>
            <a:r>
              <a:rPr sz="1100" b="1" spc="2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BY</a:t>
            </a:r>
            <a:r>
              <a:rPr sz="1100" b="1" spc="2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7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1100" b="1" spc="2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4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RISK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907" y="4489703"/>
            <a:ext cx="2193086" cy="16824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4500" y="6403060"/>
            <a:ext cx="20199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900" spc="-6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spc="-1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900" spc="-6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900" spc="39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K</a:t>
            </a:r>
            <a:r>
              <a:rPr sz="900" spc="39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P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900" spc="-5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N</a:t>
            </a:r>
            <a:endParaRPr sz="9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49648" y="6386055"/>
            <a:ext cx="1809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05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530351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4">
                <a:moveTo>
                  <a:pt x="146304" y="0"/>
                </a:moveTo>
                <a:lnTo>
                  <a:pt x="0" y="0"/>
                </a:lnTo>
                <a:lnTo>
                  <a:pt x="0" y="146303"/>
                </a:lnTo>
                <a:lnTo>
                  <a:pt x="146304" y="146303"/>
                </a:lnTo>
                <a:lnTo>
                  <a:pt x="146304" y="0"/>
                </a:lnTo>
                <a:close/>
              </a:path>
            </a:pathLst>
          </a:custGeom>
          <a:solidFill>
            <a:srgbClr val="E100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29132" y="506463"/>
            <a:ext cx="11684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100" b="1" spc="-1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-5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G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145" dirty="0"/>
              <a:t> </a:t>
            </a:r>
            <a:r>
              <a:rPr dirty="0"/>
              <a:t>LEARNING</a:t>
            </a:r>
            <a:r>
              <a:rPr spc="-145" dirty="0"/>
              <a:t> </a:t>
            </a:r>
            <a:r>
              <a:rPr spc="-10" dirty="0"/>
              <a:t>APPROACH</a:t>
            </a:r>
            <a:endParaRPr spc="-10" dirty="0"/>
          </a:p>
        </p:txBody>
      </p:sp>
      <p:grpSp>
        <p:nvGrpSpPr>
          <p:cNvPr id="7" name="object 7"/>
          <p:cNvGrpSpPr/>
          <p:nvPr/>
        </p:nvGrpSpPr>
        <p:grpSpPr>
          <a:xfrm>
            <a:off x="679450" y="1685290"/>
            <a:ext cx="3449320" cy="2161540"/>
            <a:chOff x="679450" y="1685290"/>
            <a:chExt cx="3449320" cy="2161540"/>
          </a:xfrm>
        </p:grpSpPr>
        <p:sp>
          <p:nvSpPr>
            <p:cNvPr id="8" name="object 8"/>
            <p:cNvSpPr/>
            <p:nvPr/>
          </p:nvSpPr>
          <p:spPr>
            <a:xfrm>
              <a:off x="685800" y="1691640"/>
              <a:ext cx="3436620" cy="2148840"/>
            </a:xfrm>
            <a:custGeom>
              <a:avLst/>
              <a:gdLst/>
              <a:ahLst/>
              <a:cxnLst/>
              <a:rect l="l" t="t" r="r" b="b"/>
              <a:pathLst>
                <a:path w="3436620" h="2148840">
                  <a:moveTo>
                    <a:pt x="3390265" y="0"/>
                  </a:moveTo>
                  <a:lnTo>
                    <a:pt x="45748" y="0"/>
                  </a:lnTo>
                  <a:lnTo>
                    <a:pt x="28012" y="3618"/>
                  </a:lnTo>
                  <a:lnTo>
                    <a:pt x="13462" y="13461"/>
                  </a:lnTo>
                  <a:lnTo>
                    <a:pt x="3618" y="28010"/>
                  </a:lnTo>
                  <a:lnTo>
                    <a:pt x="0" y="45745"/>
                  </a:lnTo>
                  <a:lnTo>
                    <a:pt x="0" y="2103094"/>
                  </a:lnTo>
                  <a:lnTo>
                    <a:pt x="3618" y="2120829"/>
                  </a:lnTo>
                  <a:lnTo>
                    <a:pt x="13462" y="2135378"/>
                  </a:lnTo>
                  <a:lnTo>
                    <a:pt x="28012" y="2145221"/>
                  </a:lnTo>
                  <a:lnTo>
                    <a:pt x="45748" y="2148840"/>
                  </a:lnTo>
                  <a:lnTo>
                    <a:pt x="3390265" y="2148840"/>
                  </a:lnTo>
                  <a:lnTo>
                    <a:pt x="3407999" y="2145221"/>
                  </a:lnTo>
                  <a:lnTo>
                    <a:pt x="3422548" y="2135378"/>
                  </a:lnTo>
                  <a:lnTo>
                    <a:pt x="3432391" y="2120829"/>
                  </a:lnTo>
                  <a:lnTo>
                    <a:pt x="3436010" y="2103094"/>
                  </a:lnTo>
                  <a:lnTo>
                    <a:pt x="3436010" y="45745"/>
                  </a:lnTo>
                  <a:lnTo>
                    <a:pt x="3432391" y="28010"/>
                  </a:lnTo>
                  <a:lnTo>
                    <a:pt x="3422548" y="13461"/>
                  </a:lnTo>
                  <a:lnTo>
                    <a:pt x="3407999" y="3618"/>
                  </a:lnTo>
                  <a:lnTo>
                    <a:pt x="3390265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800" y="1691640"/>
              <a:ext cx="3436620" cy="2148840"/>
            </a:xfrm>
            <a:custGeom>
              <a:avLst/>
              <a:gdLst/>
              <a:ahLst/>
              <a:cxnLst/>
              <a:rect l="l" t="t" r="r" b="b"/>
              <a:pathLst>
                <a:path w="3436620" h="2148840">
                  <a:moveTo>
                    <a:pt x="0" y="45745"/>
                  </a:moveTo>
                  <a:lnTo>
                    <a:pt x="3618" y="28010"/>
                  </a:lnTo>
                  <a:lnTo>
                    <a:pt x="13462" y="13461"/>
                  </a:lnTo>
                  <a:lnTo>
                    <a:pt x="28012" y="3618"/>
                  </a:lnTo>
                  <a:lnTo>
                    <a:pt x="45748" y="0"/>
                  </a:lnTo>
                  <a:lnTo>
                    <a:pt x="3390265" y="0"/>
                  </a:lnTo>
                  <a:lnTo>
                    <a:pt x="3407999" y="3618"/>
                  </a:lnTo>
                  <a:lnTo>
                    <a:pt x="3422548" y="13461"/>
                  </a:lnTo>
                  <a:lnTo>
                    <a:pt x="3432391" y="28010"/>
                  </a:lnTo>
                  <a:lnTo>
                    <a:pt x="3436010" y="45745"/>
                  </a:lnTo>
                  <a:lnTo>
                    <a:pt x="3436010" y="2103094"/>
                  </a:lnTo>
                  <a:lnTo>
                    <a:pt x="3432391" y="2120829"/>
                  </a:lnTo>
                  <a:lnTo>
                    <a:pt x="3422548" y="2135378"/>
                  </a:lnTo>
                  <a:lnTo>
                    <a:pt x="3407999" y="2145221"/>
                  </a:lnTo>
                  <a:lnTo>
                    <a:pt x="3390265" y="2148840"/>
                  </a:lnTo>
                  <a:lnTo>
                    <a:pt x="45748" y="2148840"/>
                  </a:lnTo>
                  <a:lnTo>
                    <a:pt x="28012" y="2145221"/>
                  </a:lnTo>
                  <a:lnTo>
                    <a:pt x="13462" y="2135378"/>
                  </a:lnTo>
                  <a:lnTo>
                    <a:pt x="3618" y="2120829"/>
                  </a:lnTo>
                  <a:lnTo>
                    <a:pt x="0" y="2103094"/>
                  </a:lnTo>
                  <a:lnTo>
                    <a:pt x="0" y="45745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78408" y="1965960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80" h="55244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85800" y="1691639"/>
            <a:ext cx="3436620" cy="2148840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5"/>
              </a:spcBef>
            </a:pPr>
            <a:endParaRPr sz="1500">
              <a:latin typeface="Times New Roman" panose="02020503050405090304"/>
              <a:cs typeface="Times New Roman" panose="02020503050405090304"/>
            </a:endParaRPr>
          </a:p>
          <a:p>
            <a:pPr marL="292100">
              <a:lnSpc>
                <a:spcPct val="100000"/>
              </a:lnSpc>
            </a:pPr>
            <a:r>
              <a:rPr sz="15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ALGORITHMS</a:t>
            </a:r>
            <a:r>
              <a:rPr sz="1500" b="1" spc="4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 </a:t>
            </a:r>
            <a:r>
              <a:rPr sz="1500" b="1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TRIED</a:t>
            </a:r>
            <a:endParaRPr sz="15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500">
              <a:latin typeface="Arial" panose="020B0604020202090204"/>
              <a:cs typeface="Arial" panose="020B0604020202090204"/>
            </a:endParaRPr>
          </a:p>
          <a:p>
            <a:pPr marL="520700" indent="-228600">
              <a:lnSpc>
                <a:spcPct val="100000"/>
              </a:lnSpc>
              <a:buClr>
                <a:srgbClr val="E1001A"/>
              </a:buClr>
              <a:buChar char="•"/>
              <a:tabLst>
                <a:tab pos="520700" algn="l"/>
              </a:tabLst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Logistic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Regression</a:t>
            </a:r>
            <a:endParaRPr sz="1150">
              <a:latin typeface="Arial" panose="020B0604020202090204"/>
              <a:cs typeface="Arial" panose="020B0604020202090204"/>
            </a:endParaRPr>
          </a:p>
          <a:p>
            <a:pPr marL="520700" indent="-228600">
              <a:lnSpc>
                <a:spcPct val="100000"/>
              </a:lnSpc>
              <a:spcBef>
                <a:spcPts val="610"/>
              </a:spcBef>
              <a:buClr>
                <a:srgbClr val="E1001A"/>
              </a:buClr>
              <a:buChar char="•"/>
              <a:tabLst>
                <a:tab pos="520700" algn="l"/>
              </a:tabLst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Decision</a:t>
            </a:r>
            <a:r>
              <a:rPr sz="1150" spc="-3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Tree</a:t>
            </a:r>
            <a:endParaRPr sz="1150">
              <a:latin typeface="Arial" panose="020B0604020202090204"/>
              <a:cs typeface="Arial" panose="020B0604020202090204"/>
            </a:endParaRPr>
          </a:p>
          <a:p>
            <a:pPr marL="520700" indent="-228600">
              <a:lnSpc>
                <a:spcPct val="100000"/>
              </a:lnSpc>
              <a:spcBef>
                <a:spcPts val="610"/>
              </a:spcBef>
              <a:buClr>
                <a:srgbClr val="E1001A"/>
              </a:buClr>
              <a:buChar char="•"/>
              <a:tabLst>
                <a:tab pos="520700" algn="l"/>
              </a:tabLst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Random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Forest</a:t>
            </a:r>
            <a:endParaRPr sz="1150">
              <a:latin typeface="Arial" panose="020B0604020202090204"/>
              <a:cs typeface="Arial" panose="020B0604020202090204"/>
            </a:endParaRPr>
          </a:p>
          <a:p>
            <a:pPr marL="520700" indent="-228600">
              <a:lnSpc>
                <a:spcPct val="100000"/>
              </a:lnSpc>
              <a:spcBef>
                <a:spcPts val="610"/>
              </a:spcBef>
              <a:buClr>
                <a:srgbClr val="E1001A"/>
              </a:buClr>
              <a:buChar char="•"/>
              <a:tabLst>
                <a:tab pos="520700" algn="l"/>
              </a:tabLst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Gradient</a:t>
            </a:r>
            <a:r>
              <a:rPr sz="1150" spc="-8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Boosting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371492" y="1685290"/>
            <a:ext cx="3449320" cy="2161540"/>
            <a:chOff x="4371492" y="1685290"/>
            <a:chExt cx="3449320" cy="2161540"/>
          </a:xfrm>
        </p:grpSpPr>
        <p:sp>
          <p:nvSpPr>
            <p:cNvPr id="13" name="object 13"/>
            <p:cNvSpPr/>
            <p:nvPr/>
          </p:nvSpPr>
          <p:spPr>
            <a:xfrm>
              <a:off x="4377842" y="1691640"/>
              <a:ext cx="3436620" cy="2148840"/>
            </a:xfrm>
            <a:custGeom>
              <a:avLst/>
              <a:gdLst/>
              <a:ahLst/>
              <a:cxnLst/>
              <a:rect l="l" t="t" r="r" b="b"/>
              <a:pathLst>
                <a:path w="3436620" h="2148840">
                  <a:moveTo>
                    <a:pt x="3390265" y="0"/>
                  </a:moveTo>
                  <a:lnTo>
                    <a:pt x="45748" y="0"/>
                  </a:lnTo>
                  <a:lnTo>
                    <a:pt x="28012" y="3618"/>
                  </a:lnTo>
                  <a:lnTo>
                    <a:pt x="13462" y="13461"/>
                  </a:lnTo>
                  <a:lnTo>
                    <a:pt x="3618" y="28010"/>
                  </a:lnTo>
                  <a:lnTo>
                    <a:pt x="0" y="45745"/>
                  </a:lnTo>
                  <a:lnTo>
                    <a:pt x="0" y="2103094"/>
                  </a:lnTo>
                  <a:lnTo>
                    <a:pt x="3618" y="2120829"/>
                  </a:lnTo>
                  <a:lnTo>
                    <a:pt x="13462" y="2135378"/>
                  </a:lnTo>
                  <a:lnTo>
                    <a:pt x="28012" y="2145221"/>
                  </a:lnTo>
                  <a:lnTo>
                    <a:pt x="45748" y="2148840"/>
                  </a:lnTo>
                  <a:lnTo>
                    <a:pt x="3390265" y="2148840"/>
                  </a:lnTo>
                  <a:lnTo>
                    <a:pt x="3407999" y="2145221"/>
                  </a:lnTo>
                  <a:lnTo>
                    <a:pt x="3422548" y="2135378"/>
                  </a:lnTo>
                  <a:lnTo>
                    <a:pt x="3432391" y="2120829"/>
                  </a:lnTo>
                  <a:lnTo>
                    <a:pt x="3436010" y="2103094"/>
                  </a:lnTo>
                  <a:lnTo>
                    <a:pt x="3436010" y="45745"/>
                  </a:lnTo>
                  <a:lnTo>
                    <a:pt x="3432391" y="28010"/>
                  </a:lnTo>
                  <a:lnTo>
                    <a:pt x="3422548" y="13461"/>
                  </a:lnTo>
                  <a:lnTo>
                    <a:pt x="3407999" y="3618"/>
                  </a:lnTo>
                  <a:lnTo>
                    <a:pt x="3390265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377842" y="1691640"/>
              <a:ext cx="3436620" cy="2148840"/>
            </a:xfrm>
            <a:custGeom>
              <a:avLst/>
              <a:gdLst/>
              <a:ahLst/>
              <a:cxnLst/>
              <a:rect l="l" t="t" r="r" b="b"/>
              <a:pathLst>
                <a:path w="3436620" h="2148840">
                  <a:moveTo>
                    <a:pt x="0" y="45745"/>
                  </a:moveTo>
                  <a:lnTo>
                    <a:pt x="3618" y="28010"/>
                  </a:lnTo>
                  <a:lnTo>
                    <a:pt x="13462" y="13461"/>
                  </a:lnTo>
                  <a:lnTo>
                    <a:pt x="28012" y="3618"/>
                  </a:lnTo>
                  <a:lnTo>
                    <a:pt x="45748" y="0"/>
                  </a:lnTo>
                  <a:lnTo>
                    <a:pt x="3390265" y="0"/>
                  </a:lnTo>
                  <a:lnTo>
                    <a:pt x="3407999" y="3618"/>
                  </a:lnTo>
                  <a:lnTo>
                    <a:pt x="3422548" y="13461"/>
                  </a:lnTo>
                  <a:lnTo>
                    <a:pt x="3432391" y="28010"/>
                  </a:lnTo>
                  <a:lnTo>
                    <a:pt x="3436010" y="45745"/>
                  </a:lnTo>
                  <a:lnTo>
                    <a:pt x="3436010" y="2103094"/>
                  </a:lnTo>
                  <a:lnTo>
                    <a:pt x="3432391" y="2120829"/>
                  </a:lnTo>
                  <a:lnTo>
                    <a:pt x="3422548" y="2135378"/>
                  </a:lnTo>
                  <a:lnTo>
                    <a:pt x="3407999" y="2145221"/>
                  </a:lnTo>
                  <a:lnTo>
                    <a:pt x="3390265" y="2148840"/>
                  </a:lnTo>
                  <a:lnTo>
                    <a:pt x="45748" y="2148840"/>
                  </a:lnTo>
                  <a:lnTo>
                    <a:pt x="28012" y="2145221"/>
                  </a:lnTo>
                  <a:lnTo>
                    <a:pt x="13462" y="2135378"/>
                  </a:lnTo>
                  <a:lnTo>
                    <a:pt x="3618" y="2120829"/>
                  </a:lnTo>
                  <a:lnTo>
                    <a:pt x="0" y="2103094"/>
                  </a:lnTo>
                  <a:lnTo>
                    <a:pt x="0" y="45745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670450" y="1965960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79" h="55244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377842" y="1691639"/>
            <a:ext cx="3436620" cy="2148840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5"/>
              </a:spcBef>
            </a:pPr>
            <a:endParaRPr sz="1500">
              <a:latin typeface="Times New Roman" panose="02020503050405090304"/>
              <a:cs typeface="Times New Roman" panose="02020503050405090304"/>
            </a:endParaRPr>
          </a:p>
          <a:p>
            <a:pPr marL="292100">
              <a:lnSpc>
                <a:spcPct val="100000"/>
              </a:lnSpc>
            </a:pPr>
            <a:r>
              <a:rPr sz="15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WHY</a:t>
            </a:r>
            <a:r>
              <a:rPr sz="1500" b="1" spc="23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THESE</a:t>
            </a:r>
            <a:r>
              <a:rPr sz="1500" b="1" spc="24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MODELS?</a:t>
            </a:r>
            <a:endParaRPr sz="15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500">
              <a:latin typeface="Arial" panose="020B0604020202090204"/>
              <a:cs typeface="Arial" panose="020B0604020202090204"/>
            </a:endParaRPr>
          </a:p>
          <a:p>
            <a:pPr marL="520700" marR="390525" indent="-228600">
              <a:lnSpc>
                <a:spcPct val="108000"/>
              </a:lnSpc>
              <a:buClr>
                <a:srgbClr val="E1001A"/>
              </a:buClr>
              <a:buChar char="•"/>
              <a:tabLst>
                <a:tab pos="520700" algn="l"/>
              </a:tabLst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Selected</a:t>
            </a:r>
            <a:r>
              <a:rPr sz="1150" spc="-4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to</a:t>
            </a:r>
            <a:r>
              <a:rPr sz="1150" spc="-4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compare</a:t>
            </a:r>
            <a:r>
              <a:rPr sz="1150" spc="-4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different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classification</a:t>
            </a:r>
            <a:r>
              <a:rPr sz="115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approaches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for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predicting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Credit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Risk.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063534" y="1685290"/>
            <a:ext cx="3449320" cy="2161540"/>
            <a:chOff x="8063534" y="1685290"/>
            <a:chExt cx="3449320" cy="2161540"/>
          </a:xfrm>
        </p:grpSpPr>
        <p:sp>
          <p:nvSpPr>
            <p:cNvPr id="18" name="object 18"/>
            <p:cNvSpPr/>
            <p:nvPr/>
          </p:nvSpPr>
          <p:spPr>
            <a:xfrm>
              <a:off x="8069884" y="1691640"/>
              <a:ext cx="3436620" cy="2148840"/>
            </a:xfrm>
            <a:custGeom>
              <a:avLst/>
              <a:gdLst/>
              <a:ahLst/>
              <a:cxnLst/>
              <a:rect l="l" t="t" r="r" b="b"/>
              <a:pathLst>
                <a:path w="3436620" h="2148840">
                  <a:moveTo>
                    <a:pt x="3390265" y="0"/>
                  </a:moveTo>
                  <a:lnTo>
                    <a:pt x="45748" y="0"/>
                  </a:lnTo>
                  <a:lnTo>
                    <a:pt x="28012" y="3618"/>
                  </a:lnTo>
                  <a:lnTo>
                    <a:pt x="13462" y="13461"/>
                  </a:lnTo>
                  <a:lnTo>
                    <a:pt x="3618" y="28010"/>
                  </a:lnTo>
                  <a:lnTo>
                    <a:pt x="0" y="45745"/>
                  </a:lnTo>
                  <a:lnTo>
                    <a:pt x="0" y="2103094"/>
                  </a:lnTo>
                  <a:lnTo>
                    <a:pt x="3618" y="2120829"/>
                  </a:lnTo>
                  <a:lnTo>
                    <a:pt x="13462" y="2135378"/>
                  </a:lnTo>
                  <a:lnTo>
                    <a:pt x="28012" y="2145221"/>
                  </a:lnTo>
                  <a:lnTo>
                    <a:pt x="45748" y="2148840"/>
                  </a:lnTo>
                  <a:lnTo>
                    <a:pt x="3390265" y="2148840"/>
                  </a:lnTo>
                  <a:lnTo>
                    <a:pt x="3407999" y="2145221"/>
                  </a:lnTo>
                  <a:lnTo>
                    <a:pt x="3422548" y="2135378"/>
                  </a:lnTo>
                  <a:lnTo>
                    <a:pt x="3432391" y="2120829"/>
                  </a:lnTo>
                  <a:lnTo>
                    <a:pt x="3436010" y="2103094"/>
                  </a:lnTo>
                  <a:lnTo>
                    <a:pt x="3436010" y="45745"/>
                  </a:lnTo>
                  <a:lnTo>
                    <a:pt x="3432391" y="28010"/>
                  </a:lnTo>
                  <a:lnTo>
                    <a:pt x="3422548" y="13461"/>
                  </a:lnTo>
                  <a:lnTo>
                    <a:pt x="3407999" y="3618"/>
                  </a:lnTo>
                  <a:lnTo>
                    <a:pt x="3390265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069884" y="1691640"/>
              <a:ext cx="3436620" cy="2148840"/>
            </a:xfrm>
            <a:custGeom>
              <a:avLst/>
              <a:gdLst/>
              <a:ahLst/>
              <a:cxnLst/>
              <a:rect l="l" t="t" r="r" b="b"/>
              <a:pathLst>
                <a:path w="3436620" h="2148840">
                  <a:moveTo>
                    <a:pt x="0" y="45745"/>
                  </a:moveTo>
                  <a:lnTo>
                    <a:pt x="3618" y="28010"/>
                  </a:lnTo>
                  <a:lnTo>
                    <a:pt x="13462" y="13461"/>
                  </a:lnTo>
                  <a:lnTo>
                    <a:pt x="28012" y="3618"/>
                  </a:lnTo>
                  <a:lnTo>
                    <a:pt x="45748" y="0"/>
                  </a:lnTo>
                  <a:lnTo>
                    <a:pt x="3390265" y="0"/>
                  </a:lnTo>
                  <a:lnTo>
                    <a:pt x="3407999" y="3618"/>
                  </a:lnTo>
                  <a:lnTo>
                    <a:pt x="3422548" y="13461"/>
                  </a:lnTo>
                  <a:lnTo>
                    <a:pt x="3432391" y="28010"/>
                  </a:lnTo>
                  <a:lnTo>
                    <a:pt x="3436010" y="45745"/>
                  </a:lnTo>
                  <a:lnTo>
                    <a:pt x="3436010" y="2103094"/>
                  </a:lnTo>
                  <a:lnTo>
                    <a:pt x="3432391" y="2120829"/>
                  </a:lnTo>
                  <a:lnTo>
                    <a:pt x="3422548" y="2135378"/>
                  </a:lnTo>
                  <a:lnTo>
                    <a:pt x="3407999" y="2145221"/>
                  </a:lnTo>
                  <a:lnTo>
                    <a:pt x="3390265" y="2148840"/>
                  </a:lnTo>
                  <a:lnTo>
                    <a:pt x="45748" y="2148840"/>
                  </a:lnTo>
                  <a:lnTo>
                    <a:pt x="28012" y="2145221"/>
                  </a:lnTo>
                  <a:lnTo>
                    <a:pt x="13462" y="2135378"/>
                  </a:lnTo>
                  <a:lnTo>
                    <a:pt x="3618" y="2120829"/>
                  </a:lnTo>
                  <a:lnTo>
                    <a:pt x="0" y="2103094"/>
                  </a:lnTo>
                  <a:lnTo>
                    <a:pt x="0" y="45745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362492" y="1965960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79" h="55244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8069884" y="1691639"/>
            <a:ext cx="3436620" cy="21488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35"/>
              </a:spcBef>
            </a:pPr>
            <a:endParaRPr sz="1500">
              <a:latin typeface="Times New Roman" panose="02020503050405090304"/>
              <a:cs typeface="Times New Roman" panose="02020503050405090304"/>
            </a:endParaRPr>
          </a:p>
          <a:p>
            <a:pPr marL="292100" marR="1196975">
              <a:lnSpc>
                <a:spcPct val="108000"/>
              </a:lnSpc>
              <a:spcBef>
                <a:spcPts val="5"/>
              </a:spcBef>
            </a:pPr>
            <a:r>
              <a:rPr sz="15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TRAIN-TEST</a:t>
            </a:r>
            <a:r>
              <a:rPr sz="1500" b="1" spc="409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SPLIT</a:t>
            </a:r>
            <a:r>
              <a:rPr sz="1500" b="1" spc="409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spc="-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/ </a:t>
            </a:r>
            <a:r>
              <a:rPr sz="1500" b="1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VALIDATION</a:t>
            </a:r>
            <a:endParaRPr sz="1500">
              <a:latin typeface="Arial" panose="020B0604020202090204"/>
              <a:cs typeface="Arial" panose="020B0604020202090204"/>
            </a:endParaRPr>
          </a:p>
          <a:p>
            <a:pPr marL="520700" marR="334010" indent="-228600">
              <a:lnSpc>
                <a:spcPct val="108000"/>
              </a:lnSpc>
              <a:spcBef>
                <a:spcPts val="1370"/>
              </a:spcBef>
              <a:buClr>
                <a:srgbClr val="E1001A"/>
              </a:buClr>
              <a:buChar char="•"/>
              <a:tabLst>
                <a:tab pos="520700" algn="l"/>
              </a:tabLst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Used</a:t>
            </a:r>
            <a:r>
              <a:rPr sz="115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the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processed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training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and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testing datasets.</a:t>
            </a:r>
            <a:endParaRPr sz="1150">
              <a:latin typeface="Arial" panose="020B0604020202090204"/>
              <a:cs typeface="Arial" panose="020B0604020202090204"/>
            </a:endParaRPr>
          </a:p>
          <a:p>
            <a:pPr marL="520700" marR="878205" indent="-228600">
              <a:lnSpc>
                <a:spcPct val="108000"/>
              </a:lnSpc>
              <a:spcBef>
                <a:spcPts val="500"/>
              </a:spcBef>
              <a:buClr>
                <a:srgbClr val="E1001A"/>
              </a:buClr>
              <a:buChar char="•"/>
              <a:tabLst>
                <a:tab pos="520700" algn="l"/>
              </a:tabLst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Applied</a:t>
            </a:r>
            <a:r>
              <a:rPr sz="1150" spc="-4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5-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Fold</a:t>
            </a:r>
            <a:r>
              <a:rPr sz="1150" spc="-4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Stratified</a:t>
            </a:r>
            <a:r>
              <a:rPr sz="1150" spc="-4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Cross-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Validation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for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model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validation.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79450" y="4017010"/>
            <a:ext cx="5285740" cy="2115820"/>
            <a:chOff x="679450" y="4017010"/>
            <a:chExt cx="5285740" cy="2115820"/>
          </a:xfrm>
        </p:grpSpPr>
        <p:sp>
          <p:nvSpPr>
            <p:cNvPr id="23" name="object 23"/>
            <p:cNvSpPr/>
            <p:nvPr/>
          </p:nvSpPr>
          <p:spPr>
            <a:xfrm>
              <a:off x="685800" y="4023360"/>
              <a:ext cx="5273040" cy="2103120"/>
            </a:xfrm>
            <a:custGeom>
              <a:avLst/>
              <a:gdLst/>
              <a:ahLst/>
              <a:cxnLst/>
              <a:rect l="l" t="t" r="r" b="b"/>
              <a:pathLst>
                <a:path w="5273040" h="2103120">
                  <a:moveTo>
                    <a:pt x="5228107" y="0"/>
                  </a:moveTo>
                  <a:lnTo>
                    <a:pt x="44775" y="0"/>
                  </a:lnTo>
                  <a:lnTo>
                    <a:pt x="27416" y="3541"/>
                  </a:lnTo>
                  <a:lnTo>
                    <a:pt x="13176" y="13174"/>
                  </a:lnTo>
                  <a:lnTo>
                    <a:pt x="3541" y="27415"/>
                  </a:lnTo>
                  <a:lnTo>
                    <a:pt x="0" y="44780"/>
                  </a:lnTo>
                  <a:lnTo>
                    <a:pt x="0" y="2058339"/>
                  </a:lnTo>
                  <a:lnTo>
                    <a:pt x="3541" y="2075698"/>
                  </a:lnTo>
                  <a:lnTo>
                    <a:pt x="13176" y="2089940"/>
                  </a:lnTo>
                  <a:lnTo>
                    <a:pt x="27416" y="2099577"/>
                  </a:lnTo>
                  <a:lnTo>
                    <a:pt x="44775" y="2103120"/>
                  </a:lnTo>
                  <a:lnTo>
                    <a:pt x="5228107" y="2103120"/>
                  </a:lnTo>
                  <a:lnTo>
                    <a:pt x="5245471" y="2099577"/>
                  </a:lnTo>
                  <a:lnTo>
                    <a:pt x="5259712" y="2089940"/>
                  </a:lnTo>
                  <a:lnTo>
                    <a:pt x="5269346" y="2075698"/>
                  </a:lnTo>
                  <a:lnTo>
                    <a:pt x="5272887" y="2058339"/>
                  </a:lnTo>
                  <a:lnTo>
                    <a:pt x="5272887" y="44780"/>
                  </a:lnTo>
                  <a:lnTo>
                    <a:pt x="5269346" y="27415"/>
                  </a:lnTo>
                  <a:lnTo>
                    <a:pt x="5259712" y="13174"/>
                  </a:lnTo>
                  <a:lnTo>
                    <a:pt x="5245471" y="3541"/>
                  </a:lnTo>
                  <a:lnTo>
                    <a:pt x="5228107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85800" y="4023360"/>
              <a:ext cx="5273040" cy="2103120"/>
            </a:xfrm>
            <a:custGeom>
              <a:avLst/>
              <a:gdLst/>
              <a:ahLst/>
              <a:cxnLst/>
              <a:rect l="l" t="t" r="r" b="b"/>
              <a:pathLst>
                <a:path w="5273040" h="2103120">
                  <a:moveTo>
                    <a:pt x="0" y="44780"/>
                  </a:moveTo>
                  <a:lnTo>
                    <a:pt x="3541" y="27415"/>
                  </a:lnTo>
                  <a:lnTo>
                    <a:pt x="13176" y="13174"/>
                  </a:lnTo>
                  <a:lnTo>
                    <a:pt x="27416" y="3541"/>
                  </a:lnTo>
                  <a:lnTo>
                    <a:pt x="44775" y="0"/>
                  </a:lnTo>
                  <a:lnTo>
                    <a:pt x="5228107" y="0"/>
                  </a:lnTo>
                  <a:lnTo>
                    <a:pt x="5245471" y="3541"/>
                  </a:lnTo>
                  <a:lnTo>
                    <a:pt x="5259712" y="13174"/>
                  </a:lnTo>
                  <a:lnTo>
                    <a:pt x="5269346" y="27415"/>
                  </a:lnTo>
                  <a:lnTo>
                    <a:pt x="5272887" y="44780"/>
                  </a:lnTo>
                  <a:lnTo>
                    <a:pt x="5272887" y="2058339"/>
                  </a:lnTo>
                  <a:lnTo>
                    <a:pt x="5269346" y="2075698"/>
                  </a:lnTo>
                  <a:lnTo>
                    <a:pt x="5259712" y="2089940"/>
                  </a:lnTo>
                  <a:lnTo>
                    <a:pt x="5245471" y="2099577"/>
                  </a:lnTo>
                  <a:lnTo>
                    <a:pt x="5228107" y="2103120"/>
                  </a:lnTo>
                  <a:lnTo>
                    <a:pt x="44775" y="2103120"/>
                  </a:lnTo>
                  <a:lnTo>
                    <a:pt x="27416" y="2099577"/>
                  </a:lnTo>
                  <a:lnTo>
                    <a:pt x="13176" y="2089940"/>
                  </a:lnTo>
                  <a:lnTo>
                    <a:pt x="3541" y="2075698"/>
                  </a:lnTo>
                  <a:lnTo>
                    <a:pt x="0" y="2058339"/>
                  </a:lnTo>
                  <a:lnTo>
                    <a:pt x="0" y="44780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78408" y="4297680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80" h="55245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685800" y="4023359"/>
            <a:ext cx="5273040" cy="2103120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5"/>
              </a:spcBef>
            </a:pPr>
            <a:endParaRPr sz="1500">
              <a:latin typeface="Times New Roman" panose="02020503050405090304"/>
              <a:cs typeface="Times New Roman" panose="02020503050405090304"/>
            </a:endParaRPr>
          </a:p>
          <a:p>
            <a:pPr marL="292100">
              <a:lnSpc>
                <a:spcPct val="100000"/>
              </a:lnSpc>
            </a:pPr>
            <a:r>
              <a:rPr sz="1500" b="1" spc="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HYPERPARAMETER</a:t>
            </a:r>
            <a:r>
              <a:rPr sz="1500" b="1" spc="5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 </a:t>
            </a:r>
            <a:r>
              <a:rPr sz="1500" b="1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TUNING</a:t>
            </a:r>
            <a:endParaRPr sz="15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500">
              <a:latin typeface="Arial" panose="020B0604020202090204"/>
              <a:cs typeface="Arial" panose="020B0604020202090204"/>
            </a:endParaRPr>
          </a:p>
          <a:p>
            <a:pPr marL="520700" indent="-228600">
              <a:lnSpc>
                <a:spcPct val="100000"/>
              </a:lnSpc>
              <a:buClr>
                <a:srgbClr val="E1001A"/>
              </a:buClr>
              <a:buChar char="•"/>
              <a:tabLst>
                <a:tab pos="520700" algn="l"/>
              </a:tabLst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GridSearchCV</a:t>
            </a:r>
            <a:r>
              <a:rPr sz="115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was</a:t>
            </a:r>
            <a:r>
              <a:rPr sz="115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used</a:t>
            </a:r>
            <a:r>
              <a:rPr sz="115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to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tune</a:t>
            </a:r>
            <a:r>
              <a:rPr sz="115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the</a:t>
            </a:r>
            <a:r>
              <a:rPr sz="115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Gradient</a:t>
            </a:r>
            <a:r>
              <a:rPr sz="1150" spc="-3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Boosting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model.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226657" y="4017010"/>
            <a:ext cx="5285740" cy="2115820"/>
            <a:chOff x="6226657" y="4017010"/>
            <a:chExt cx="5285740" cy="2115820"/>
          </a:xfrm>
        </p:grpSpPr>
        <p:sp>
          <p:nvSpPr>
            <p:cNvPr id="28" name="object 28"/>
            <p:cNvSpPr/>
            <p:nvPr/>
          </p:nvSpPr>
          <p:spPr>
            <a:xfrm>
              <a:off x="6233007" y="4023360"/>
              <a:ext cx="5273040" cy="2103120"/>
            </a:xfrm>
            <a:custGeom>
              <a:avLst/>
              <a:gdLst/>
              <a:ahLst/>
              <a:cxnLst/>
              <a:rect l="l" t="t" r="r" b="b"/>
              <a:pathLst>
                <a:path w="5273040" h="2103120">
                  <a:moveTo>
                    <a:pt x="5228107" y="0"/>
                  </a:moveTo>
                  <a:lnTo>
                    <a:pt x="44775" y="0"/>
                  </a:lnTo>
                  <a:lnTo>
                    <a:pt x="27416" y="3541"/>
                  </a:lnTo>
                  <a:lnTo>
                    <a:pt x="13176" y="13174"/>
                  </a:lnTo>
                  <a:lnTo>
                    <a:pt x="3541" y="27415"/>
                  </a:lnTo>
                  <a:lnTo>
                    <a:pt x="0" y="44780"/>
                  </a:lnTo>
                  <a:lnTo>
                    <a:pt x="0" y="2058339"/>
                  </a:lnTo>
                  <a:lnTo>
                    <a:pt x="3541" y="2075698"/>
                  </a:lnTo>
                  <a:lnTo>
                    <a:pt x="13176" y="2089940"/>
                  </a:lnTo>
                  <a:lnTo>
                    <a:pt x="27416" y="2099577"/>
                  </a:lnTo>
                  <a:lnTo>
                    <a:pt x="44775" y="2103120"/>
                  </a:lnTo>
                  <a:lnTo>
                    <a:pt x="5228107" y="2103120"/>
                  </a:lnTo>
                  <a:lnTo>
                    <a:pt x="5245471" y="2099577"/>
                  </a:lnTo>
                  <a:lnTo>
                    <a:pt x="5259712" y="2089940"/>
                  </a:lnTo>
                  <a:lnTo>
                    <a:pt x="5269346" y="2075698"/>
                  </a:lnTo>
                  <a:lnTo>
                    <a:pt x="5272887" y="2058339"/>
                  </a:lnTo>
                  <a:lnTo>
                    <a:pt x="5272887" y="44780"/>
                  </a:lnTo>
                  <a:lnTo>
                    <a:pt x="5269346" y="27415"/>
                  </a:lnTo>
                  <a:lnTo>
                    <a:pt x="5259712" y="13174"/>
                  </a:lnTo>
                  <a:lnTo>
                    <a:pt x="5245471" y="3541"/>
                  </a:lnTo>
                  <a:lnTo>
                    <a:pt x="5228107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233007" y="4023360"/>
              <a:ext cx="5273040" cy="2103120"/>
            </a:xfrm>
            <a:custGeom>
              <a:avLst/>
              <a:gdLst/>
              <a:ahLst/>
              <a:cxnLst/>
              <a:rect l="l" t="t" r="r" b="b"/>
              <a:pathLst>
                <a:path w="5273040" h="2103120">
                  <a:moveTo>
                    <a:pt x="0" y="44780"/>
                  </a:moveTo>
                  <a:lnTo>
                    <a:pt x="3541" y="27415"/>
                  </a:lnTo>
                  <a:lnTo>
                    <a:pt x="13176" y="13174"/>
                  </a:lnTo>
                  <a:lnTo>
                    <a:pt x="27416" y="3541"/>
                  </a:lnTo>
                  <a:lnTo>
                    <a:pt x="44775" y="0"/>
                  </a:lnTo>
                  <a:lnTo>
                    <a:pt x="5228107" y="0"/>
                  </a:lnTo>
                  <a:lnTo>
                    <a:pt x="5245471" y="3541"/>
                  </a:lnTo>
                  <a:lnTo>
                    <a:pt x="5259712" y="13174"/>
                  </a:lnTo>
                  <a:lnTo>
                    <a:pt x="5269346" y="27415"/>
                  </a:lnTo>
                  <a:lnTo>
                    <a:pt x="5272887" y="44780"/>
                  </a:lnTo>
                  <a:lnTo>
                    <a:pt x="5272887" y="2058339"/>
                  </a:lnTo>
                  <a:lnTo>
                    <a:pt x="5269346" y="2075698"/>
                  </a:lnTo>
                  <a:lnTo>
                    <a:pt x="5259712" y="2089940"/>
                  </a:lnTo>
                  <a:lnTo>
                    <a:pt x="5245471" y="2099577"/>
                  </a:lnTo>
                  <a:lnTo>
                    <a:pt x="5228107" y="2103120"/>
                  </a:lnTo>
                  <a:lnTo>
                    <a:pt x="44775" y="2103120"/>
                  </a:lnTo>
                  <a:lnTo>
                    <a:pt x="27416" y="2099577"/>
                  </a:lnTo>
                  <a:lnTo>
                    <a:pt x="13176" y="2089940"/>
                  </a:lnTo>
                  <a:lnTo>
                    <a:pt x="3541" y="2075698"/>
                  </a:lnTo>
                  <a:lnTo>
                    <a:pt x="0" y="2058339"/>
                  </a:lnTo>
                  <a:lnTo>
                    <a:pt x="0" y="44780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525615" y="4297680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79" h="55245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233007" y="4023359"/>
            <a:ext cx="5273040" cy="2103120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5"/>
              </a:spcBef>
            </a:pPr>
            <a:endParaRPr sz="1500">
              <a:latin typeface="Times New Roman" panose="02020503050405090304"/>
              <a:cs typeface="Times New Roman" panose="02020503050405090304"/>
            </a:endParaRPr>
          </a:p>
          <a:p>
            <a:pPr marL="292100">
              <a:lnSpc>
                <a:spcPct val="100000"/>
              </a:lnSpc>
            </a:pPr>
            <a:r>
              <a:rPr sz="15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FINAL</a:t>
            </a:r>
            <a:r>
              <a:rPr sz="1500" b="1" spc="35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SELECTED</a:t>
            </a:r>
            <a:r>
              <a:rPr sz="1500" b="1" spc="35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MODEL</a:t>
            </a:r>
            <a:endParaRPr sz="15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500">
              <a:latin typeface="Arial" panose="020B0604020202090204"/>
              <a:cs typeface="Arial" panose="020B0604020202090204"/>
            </a:endParaRPr>
          </a:p>
          <a:p>
            <a:pPr marL="292100">
              <a:lnSpc>
                <a:spcPct val="100000"/>
              </a:lnSpc>
            </a:pPr>
            <a:r>
              <a:rPr sz="14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Gradient</a:t>
            </a:r>
            <a:r>
              <a:rPr sz="14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4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Boosting</a:t>
            </a:r>
            <a:r>
              <a:rPr sz="14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400" b="1" spc="-1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Classifier</a:t>
            </a:r>
            <a:endParaRPr sz="1400">
              <a:latin typeface="Arial" panose="020B0604020202090204"/>
              <a:cs typeface="Arial" panose="020B0604020202090204"/>
            </a:endParaRPr>
          </a:p>
          <a:p>
            <a:pPr marL="520700" indent="-228600">
              <a:lnSpc>
                <a:spcPct val="100000"/>
              </a:lnSpc>
              <a:spcBef>
                <a:spcPts val="640"/>
              </a:spcBef>
              <a:buClr>
                <a:srgbClr val="E1001A"/>
              </a:buClr>
              <a:buChar char="•"/>
              <a:tabLst>
                <a:tab pos="520700" algn="l"/>
              </a:tabLst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The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model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achieved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74.50%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accuracy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after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tuning.</a:t>
            </a:r>
            <a:endParaRPr sz="1150">
              <a:latin typeface="Arial" panose="020B0604020202090204"/>
              <a:cs typeface="Arial" panose="020B0604020202090204"/>
            </a:endParaRPr>
          </a:p>
          <a:p>
            <a:pPr marL="520700" indent="-228600">
              <a:lnSpc>
                <a:spcPct val="100000"/>
              </a:lnSpc>
              <a:spcBef>
                <a:spcPts val="610"/>
              </a:spcBef>
              <a:buClr>
                <a:srgbClr val="E1001A"/>
              </a:buClr>
              <a:buChar char="•"/>
              <a:tabLst>
                <a:tab pos="520700" algn="l"/>
              </a:tabLst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Saved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as</a:t>
            </a:r>
            <a:r>
              <a:rPr sz="1150" spc="-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final_gradient_boosting_model.pkl.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6403060"/>
            <a:ext cx="20199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900" spc="-6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spc="-1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900" spc="-6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900" spc="39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K</a:t>
            </a:r>
            <a:r>
              <a:rPr sz="900" spc="39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P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900" spc="-5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N</a:t>
            </a:r>
            <a:endParaRPr sz="9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49648" y="6386055"/>
            <a:ext cx="1809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06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530351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4">
                <a:moveTo>
                  <a:pt x="146304" y="0"/>
                </a:moveTo>
                <a:lnTo>
                  <a:pt x="0" y="0"/>
                </a:lnTo>
                <a:lnTo>
                  <a:pt x="0" y="146303"/>
                </a:lnTo>
                <a:lnTo>
                  <a:pt x="146304" y="146303"/>
                </a:lnTo>
                <a:lnTo>
                  <a:pt x="146304" y="0"/>
                </a:lnTo>
                <a:close/>
              </a:path>
            </a:pathLst>
          </a:custGeom>
          <a:solidFill>
            <a:srgbClr val="E100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29132" y="506463"/>
            <a:ext cx="90614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1100" b="1" spc="-2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1100" b="1" spc="-2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100" b="1" spc="-2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-6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S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MODEL</a:t>
            </a:r>
            <a:r>
              <a:rPr spc="-70" dirty="0"/>
              <a:t> </a:t>
            </a:r>
            <a:r>
              <a:rPr spc="-10" dirty="0"/>
              <a:t>EVALUATION</a:t>
            </a:r>
            <a:endParaRPr spc="-10" dirty="0"/>
          </a:p>
        </p:txBody>
      </p:sp>
      <p:grpSp>
        <p:nvGrpSpPr>
          <p:cNvPr id="7" name="object 7"/>
          <p:cNvGrpSpPr/>
          <p:nvPr/>
        </p:nvGrpSpPr>
        <p:grpSpPr>
          <a:xfrm>
            <a:off x="679450" y="1685290"/>
            <a:ext cx="6413500" cy="2298700"/>
            <a:chOff x="679450" y="1685290"/>
            <a:chExt cx="6413500" cy="2298700"/>
          </a:xfrm>
        </p:grpSpPr>
        <p:sp>
          <p:nvSpPr>
            <p:cNvPr id="8" name="object 8"/>
            <p:cNvSpPr/>
            <p:nvPr/>
          </p:nvSpPr>
          <p:spPr>
            <a:xfrm>
              <a:off x="685800" y="1691640"/>
              <a:ext cx="6400800" cy="2286000"/>
            </a:xfrm>
            <a:custGeom>
              <a:avLst/>
              <a:gdLst/>
              <a:ahLst/>
              <a:cxnLst/>
              <a:rect l="l" t="t" r="r" b="b"/>
              <a:pathLst>
                <a:path w="6400800" h="2286000">
                  <a:moveTo>
                    <a:pt x="6352133" y="0"/>
                  </a:moveTo>
                  <a:lnTo>
                    <a:pt x="48668" y="0"/>
                  </a:lnTo>
                  <a:lnTo>
                    <a:pt x="29800" y="3850"/>
                  </a:lnTo>
                  <a:lnTo>
                    <a:pt x="14322" y="14322"/>
                  </a:lnTo>
                  <a:lnTo>
                    <a:pt x="3849" y="29800"/>
                  </a:lnTo>
                  <a:lnTo>
                    <a:pt x="0" y="48666"/>
                  </a:lnTo>
                  <a:lnTo>
                    <a:pt x="0" y="2237333"/>
                  </a:lnTo>
                  <a:lnTo>
                    <a:pt x="3849" y="2256199"/>
                  </a:lnTo>
                  <a:lnTo>
                    <a:pt x="14322" y="2271677"/>
                  </a:lnTo>
                  <a:lnTo>
                    <a:pt x="29800" y="2282149"/>
                  </a:lnTo>
                  <a:lnTo>
                    <a:pt x="48668" y="2286000"/>
                  </a:lnTo>
                  <a:lnTo>
                    <a:pt x="6352133" y="2286000"/>
                  </a:lnTo>
                  <a:lnTo>
                    <a:pt x="6370999" y="2282149"/>
                  </a:lnTo>
                  <a:lnTo>
                    <a:pt x="6386477" y="2271677"/>
                  </a:lnTo>
                  <a:lnTo>
                    <a:pt x="6396949" y="2256199"/>
                  </a:lnTo>
                  <a:lnTo>
                    <a:pt x="6400800" y="2237333"/>
                  </a:lnTo>
                  <a:lnTo>
                    <a:pt x="6400800" y="48666"/>
                  </a:lnTo>
                  <a:lnTo>
                    <a:pt x="6396949" y="29800"/>
                  </a:lnTo>
                  <a:lnTo>
                    <a:pt x="6386477" y="14322"/>
                  </a:lnTo>
                  <a:lnTo>
                    <a:pt x="6370999" y="3850"/>
                  </a:lnTo>
                  <a:lnTo>
                    <a:pt x="6352133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85800" y="1691640"/>
              <a:ext cx="6400800" cy="2286000"/>
            </a:xfrm>
            <a:custGeom>
              <a:avLst/>
              <a:gdLst/>
              <a:ahLst/>
              <a:cxnLst/>
              <a:rect l="l" t="t" r="r" b="b"/>
              <a:pathLst>
                <a:path w="6400800" h="2286000">
                  <a:moveTo>
                    <a:pt x="0" y="48666"/>
                  </a:moveTo>
                  <a:lnTo>
                    <a:pt x="3849" y="29800"/>
                  </a:lnTo>
                  <a:lnTo>
                    <a:pt x="14322" y="14322"/>
                  </a:lnTo>
                  <a:lnTo>
                    <a:pt x="29800" y="3850"/>
                  </a:lnTo>
                  <a:lnTo>
                    <a:pt x="48668" y="0"/>
                  </a:lnTo>
                  <a:lnTo>
                    <a:pt x="6352133" y="0"/>
                  </a:lnTo>
                  <a:lnTo>
                    <a:pt x="6370999" y="3850"/>
                  </a:lnTo>
                  <a:lnTo>
                    <a:pt x="6386477" y="14322"/>
                  </a:lnTo>
                  <a:lnTo>
                    <a:pt x="6396949" y="29800"/>
                  </a:lnTo>
                  <a:lnTo>
                    <a:pt x="6400800" y="48666"/>
                  </a:lnTo>
                  <a:lnTo>
                    <a:pt x="6400800" y="2237333"/>
                  </a:lnTo>
                  <a:lnTo>
                    <a:pt x="6396949" y="2256199"/>
                  </a:lnTo>
                  <a:lnTo>
                    <a:pt x="6386477" y="2271677"/>
                  </a:lnTo>
                  <a:lnTo>
                    <a:pt x="6370999" y="2282149"/>
                  </a:lnTo>
                  <a:lnTo>
                    <a:pt x="6352133" y="2286000"/>
                  </a:lnTo>
                  <a:lnTo>
                    <a:pt x="48668" y="2286000"/>
                  </a:lnTo>
                  <a:lnTo>
                    <a:pt x="29800" y="2282149"/>
                  </a:lnTo>
                  <a:lnTo>
                    <a:pt x="14322" y="2271677"/>
                  </a:lnTo>
                  <a:lnTo>
                    <a:pt x="3849" y="2256199"/>
                  </a:lnTo>
                  <a:lnTo>
                    <a:pt x="0" y="2237333"/>
                  </a:lnTo>
                  <a:lnTo>
                    <a:pt x="0" y="48666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85800" y="1685290"/>
          <a:ext cx="6477000" cy="2270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/>
                <a:gridCol w="2011680"/>
                <a:gridCol w="1005840"/>
                <a:gridCol w="1005839"/>
                <a:gridCol w="1005839"/>
                <a:gridCol w="1005839"/>
                <a:gridCol w="137160"/>
              </a:tblGrid>
              <a:tr h="520700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2286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spc="75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MODEL</a:t>
                      </a:r>
                      <a:r>
                        <a:rPr sz="1100" b="1" spc="19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b="1" spc="85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COMPARISON</a:t>
                      </a:r>
                      <a:r>
                        <a:rPr sz="1100" b="1" spc="195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b="1" spc="7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PERFORMANCE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42545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347345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000" b="1" spc="-10" dirty="0">
                          <a:solidFill>
                            <a:srgbClr val="E1001A"/>
                          </a:solidFill>
                          <a:latin typeface="Arial" panose="020B0604020202090204"/>
                          <a:cs typeface="Arial" panose="020B0604020202090204"/>
                        </a:rPr>
                        <a:t>Model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000" b="1" spc="-10" dirty="0">
                          <a:solidFill>
                            <a:srgbClr val="E1001A"/>
                          </a:solidFill>
                          <a:latin typeface="Arial" panose="020B0604020202090204"/>
                          <a:cs typeface="Arial" panose="020B0604020202090204"/>
                        </a:rPr>
                        <a:t>Accuracy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000" b="1" spc="-10" dirty="0">
                          <a:solidFill>
                            <a:srgbClr val="E1001A"/>
                          </a:solidFill>
                          <a:latin typeface="Arial" panose="020B0604020202090204"/>
                          <a:cs typeface="Arial" panose="020B0604020202090204"/>
                        </a:rPr>
                        <a:t>Precision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000" b="1" spc="-10" dirty="0">
                          <a:solidFill>
                            <a:srgbClr val="E1001A"/>
                          </a:solidFill>
                          <a:latin typeface="Arial" panose="020B0604020202090204"/>
                          <a:cs typeface="Arial" panose="020B0604020202090204"/>
                        </a:rPr>
                        <a:t>Recall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000" b="1" spc="-10" dirty="0">
                          <a:solidFill>
                            <a:srgbClr val="E1001A"/>
                          </a:solidFill>
                          <a:latin typeface="Arial" panose="020B0604020202090204"/>
                          <a:cs typeface="Arial" panose="020B0604020202090204"/>
                        </a:rPr>
                        <a:t>F1-score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347345">
                <a:tc vMerge="1"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Logistic</a:t>
                      </a:r>
                      <a:r>
                        <a:rPr sz="1100" spc="-4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Regression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spc="-1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78.00%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spc="-1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74.12%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spc="-1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70.95%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spc="-1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72.10%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347345">
                <a:tc vMerge="1"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spc="-1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Decision</a:t>
                      </a:r>
                      <a:r>
                        <a:rPr sz="110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spc="-2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Tree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spc="-1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63.00%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spc="-1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55.59%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spc="-1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55.48%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spc="-1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55.52%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347345">
                <a:tc vMerge="1"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Random</a:t>
                      </a:r>
                      <a:r>
                        <a:rPr sz="1100" spc="-45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 </a:t>
                      </a:r>
                      <a:r>
                        <a:rPr sz="1100" spc="-1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Forest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spc="-1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74.00%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spc="-1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68.84%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spc="-1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63.81%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spc="-10" dirty="0">
                          <a:solidFill>
                            <a:srgbClr val="F3F3F3"/>
                          </a:solidFill>
                          <a:latin typeface="Arial" panose="020B0604020202090204"/>
                          <a:cs typeface="Arial" panose="020B0604020202090204"/>
                        </a:rPr>
                        <a:t>64.86%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360680">
                <a:tc vMerge="1"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b="1" dirty="0">
                          <a:solidFill>
                            <a:srgbClr val="E1001A"/>
                          </a:solidFill>
                          <a:latin typeface="Arial" panose="020B0604020202090204"/>
                          <a:cs typeface="Arial" panose="020B0604020202090204"/>
                        </a:rPr>
                        <a:t>Gradient </a:t>
                      </a:r>
                      <a:r>
                        <a:rPr sz="1100" b="1" spc="-10" dirty="0">
                          <a:solidFill>
                            <a:srgbClr val="E1001A"/>
                          </a:solidFill>
                          <a:latin typeface="Arial" panose="020B0604020202090204"/>
                          <a:cs typeface="Arial" panose="020B0604020202090204"/>
                        </a:rPr>
                        <a:t>Boosting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b="1" spc="-10" dirty="0">
                          <a:solidFill>
                            <a:srgbClr val="E1001A"/>
                          </a:solidFill>
                          <a:latin typeface="Arial" panose="020B0604020202090204"/>
                          <a:cs typeface="Arial" panose="020B0604020202090204"/>
                        </a:rPr>
                        <a:t>79.00%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b="1" spc="-10" dirty="0">
                          <a:solidFill>
                            <a:srgbClr val="E1001A"/>
                          </a:solidFill>
                          <a:latin typeface="Arial" panose="020B0604020202090204"/>
                          <a:cs typeface="Arial" panose="020B0604020202090204"/>
                        </a:rPr>
                        <a:t>75.33%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b="1" spc="-10" dirty="0">
                          <a:solidFill>
                            <a:srgbClr val="E1001A"/>
                          </a:solidFill>
                          <a:latin typeface="Arial" panose="020B0604020202090204"/>
                          <a:cs typeface="Arial" panose="020B0604020202090204"/>
                        </a:rPr>
                        <a:t>72.62%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100" b="1" spc="-10" dirty="0">
                          <a:solidFill>
                            <a:srgbClr val="E1001A"/>
                          </a:solidFill>
                          <a:latin typeface="Arial" panose="020B0604020202090204"/>
                          <a:cs typeface="Arial" panose="020B0604020202090204"/>
                        </a:rPr>
                        <a:t>73.67%</a:t>
                      </a:r>
                      <a:endParaRPr sz="11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7308850" y="1685289"/>
            <a:ext cx="4203700" cy="2298700"/>
            <a:chOff x="7308850" y="1685289"/>
            <a:chExt cx="4203700" cy="2298700"/>
          </a:xfrm>
        </p:grpSpPr>
        <p:sp>
          <p:nvSpPr>
            <p:cNvPr id="12" name="object 12"/>
            <p:cNvSpPr/>
            <p:nvPr/>
          </p:nvSpPr>
          <p:spPr>
            <a:xfrm>
              <a:off x="7315200" y="1691639"/>
              <a:ext cx="4191000" cy="2286000"/>
            </a:xfrm>
            <a:custGeom>
              <a:avLst/>
              <a:gdLst/>
              <a:ahLst/>
              <a:cxnLst/>
              <a:rect l="l" t="t" r="r" b="b"/>
              <a:pathLst>
                <a:path w="4191000" h="2286000">
                  <a:moveTo>
                    <a:pt x="4142028" y="0"/>
                  </a:moveTo>
                  <a:lnTo>
                    <a:pt x="48668" y="0"/>
                  </a:lnTo>
                  <a:lnTo>
                    <a:pt x="29800" y="3850"/>
                  </a:lnTo>
                  <a:lnTo>
                    <a:pt x="14322" y="14322"/>
                  </a:lnTo>
                  <a:lnTo>
                    <a:pt x="3849" y="29800"/>
                  </a:lnTo>
                  <a:lnTo>
                    <a:pt x="0" y="48666"/>
                  </a:lnTo>
                  <a:lnTo>
                    <a:pt x="0" y="2237333"/>
                  </a:lnTo>
                  <a:lnTo>
                    <a:pt x="3849" y="2256199"/>
                  </a:lnTo>
                  <a:lnTo>
                    <a:pt x="14322" y="2271677"/>
                  </a:lnTo>
                  <a:lnTo>
                    <a:pt x="29800" y="2282149"/>
                  </a:lnTo>
                  <a:lnTo>
                    <a:pt x="48668" y="2286000"/>
                  </a:lnTo>
                  <a:lnTo>
                    <a:pt x="4142028" y="2286000"/>
                  </a:lnTo>
                  <a:lnTo>
                    <a:pt x="4160895" y="2282149"/>
                  </a:lnTo>
                  <a:lnTo>
                    <a:pt x="4176372" y="2271677"/>
                  </a:lnTo>
                  <a:lnTo>
                    <a:pt x="4186845" y="2256199"/>
                  </a:lnTo>
                  <a:lnTo>
                    <a:pt x="4190695" y="2237333"/>
                  </a:lnTo>
                  <a:lnTo>
                    <a:pt x="4190695" y="48666"/>
                  </a:lnTo>
                  <a:lnTo>
                    <a:pt x="4186845" y="29800"/>
                  </a:lnTo>
                  <a:lnTo>
                    <a:pt x="4176372" y="14322"/>
                  </a:lnTo>
                  <a:lnTo>
                    <a:pt x="4160895" y="3850"/>
                  </a:lnTo>
                  <a:lnTo>
                    <a:pt x="4142028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315200" y="1691639"/>
              <a:ext cx="4191000" cy="2286000"/>
            </a:xfrm>
            <a:custGeom>
              <a:avLst/>
              <a:gdLst/>
              <a:ahLst/>
              <a:cxnLst/>
              <a:rect l="l" t="t" r="r" b="b"/>
              <a:pathLst>
                <a:path w="4191000" h="2286000">
                  <a:moveTo>
                    <a:pt x="0" y="48666"/>
                  </a:moveTo>
                  <a:lnTo>
                    <a:pt x="3849" y="29800"/>
                  </a:lnTo>
                  <a:lnTo>
                    <a:pt x="14322" y="14322"/>
                  </a:lnTo>
                  <a:lnTo>
                    <a:pt x="29800" y="3850"/>
                  </a:lnTo>
                  <a:lnTo>
                    <a:pt x="48668" y="0"/>
                  </a:lnTo>
                  <a:lnTo>
                    <a:pt x="4142028" y="0"/>
                  </a:lnTo>
                  <a:lnTo>
                    <a:pt x="4160895" y="3850"/>
                  </a:lnTo>
                  <a:lnTo>
                    <a:pt x="4176372" y="14322"/>
                  </a:lnTo>
                  <a:lnTo>
                    <a:pt x="4186845" y="29800"/>
                  </a:lnTo>
                  <a:lnTo>
                    <a:pt x="4190695" y="48666"/>
                  </a:lnTo>
                  <a:lnTo>
                    <a:pt x="4190695" y="2237333"/>
                  </a:lnTo>
                  <a:lnTo>
                    <a:pt x="4186845" y="2256199"/>
                  </a:lnTo>
                  <a:lnTo>
                    <a:pt x="4176372" y="2271677"/>
                  </a:lnTo>
                  <a:lnTo>
                    <a:pt x="4160895" y="2282149"/>
                  </a:lnTo>
                  <a:lnTo>
                    <a:pt x="4142028" y="2286000"/>
                  </a:lnTo>
                  <a:lnTo>
                    <a:pt x="48668" y="2286000"/>
                  </a:lnTo>
                  <a:lnTo>
                    <a:pt x="29800" y="2282149"/>
                  </a:lnTo>
                  <a:lnTo>
                    <a:pt x="14322" y="2271677"/>
                  </a:lnTo>
                  <a:lnTo>
                    <a:pt x="3849" y="2256199"/>
                  </a:lnTo>
                  <a:lnTo>
                    <a:pt x="0" y="2237333"/>
                  </a:lnTo>
                  <a:lnTo>
                    <a:pt x="0" y="48666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315200" y="1691639"/>
            <a:ext cx="4191000" cy="228600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5"/>
              </a:spcBef>
            </a:pPr>
            <a:endParaRPr sz="1100">
              <a:latin typeface="Times New Roman" panose="02020503050405090304"/>
              <a:cs typeface="Times New Roman" panose="02020503050405090304"/>
            </a:endParaRPr>
          </a:p>
          <a:p>
            <a:pPr marL="228600">
              <a:lnSpc>
                <a:spcPct val="100000"/>
              </a:lnSpc>
              <a:spcBef>
                <a:spcPts val="5"/>
              </a:spcBef>
            </a:pPr>
            <a:r>
              <a:rPr sz="1100" b="1" spc="8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CONFUSION</a:t>
            </a:r>
            <a:r>
              <a:rPr sz="1100" b="1" spc="19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7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MATRIX</a:t>
            </a:r>
            <a:r>
              <a:rPr sz="1100" b="1" spc="19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·</a:t>
            </a:r>
            <a:r>
              <a:rPr sz="1100" b="1" spc="19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7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TUNED</a:t>
            </a:r>
            <a:r>
              <a:rPr sz="1100" b="1" spc="19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GB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002244" y="2103120"/>
            <a:ext cx="1975561" cy="1761312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679450" y="4154170"/>
            <a:ext cx="5285740" cy="2115820"/>
            <a:chOff x="679450" y="4154170"/>
            <a:chExt cx="5285740" cy="2115820"/>
          </a:xfrm>
        </p:grpSpPr>
        <p:sp>
          <p:nvSpPr>
            <p:cNvPr id="16" name="object 16"/>
            <p:cNvSpPr/>
            <p:nvPr/>
          </p:nvSpPr>
          <p:spPr>
            <a:xfrm>
              <a:off x="685800" y="4160519"/>
              <a:ext cx="5273040" cy="2103120"/>
            </a:xfrm>
            <a:custGeom>
              <a:avLst/>
              <a:gdLst/>
              <a:ahLst/>
              <a:cxnLst/>
              <a:rect l="l" t="t" r="r" b="b"/>
              <a:pathLst>
                <a:path w="5273040" h="2103120">
                  <a:moveTo>
                    <a:pt x="5228107" y="0"/>
                  </a:moveTo>
                  <a:lnTo>
                    <a:pt x="44775" y="0"/>
                  </a:lnTo>
                  <a:lnTo>
                    <a:pt x="27416" y="3541"/>
                  </a:lnTo>
                  <a:lnTo>
                    <a:pt x="13176" y="13174"/>
                  </a:lnTo>
                  <a:lnTo>
                    <a:pt x="3541" y="27415"/>
                  </a:lnTo>
                  <a:lnTo>
                    <a:pt x="0" y="44780"/>
                  </a:lnTo>
                  <a:lnTo>
                    <a:pt x="0" y="2058339"/>
                  </a:lnTo>
                  <a:lnTo>
                    <a:pt x="3541" y="2075698"/>
                  </a:lnTo>
                  <a:lnTo>
                    <a:pt x="13176" y="2089940"/>
                  </a:lnTo>
                  <a:lnTo>
                    <a:pt x="27416" y="2099577"/>
                  </a:lnTo>
                  <a:lnTo>
                    <a:pt x="44775" y="2103120"/>
                  </a:lnTo>
                  <a:lnTo>
                    <a:pt x="5228107" y="2103120"/>
                  </a:lnTo>
                  <a:lnTo>
                    <a:pt x="5245471" y="2099577"/>
                  </a:lnTo>
                  <a:lnTo>
                    <a:pt x="5259712" y="2089940"/>
                  </a:lnTo>
                  <a:lnTo>
                    <a:pt x="5269346" y="2075698"/>
                  </a:lnTo>
                  <a:lnTo>
                    <a:pt x="5272887" y="2058339"/>
                  </a:lnTo>
                  <a:lnTo>
                    <a:pt x="5272887" y="44780"/>
                  </a:lnTo>
                  <a:lnTo>
                    <a:pt x="5269346" y="27415"/>
                  </a:lnTo>
                  <a:lnTo>
                    <a:pt x="5259712" y="13174"/>
                  </a:lnTo>
                  <a:lnTo>
                    <a:pt x="5245471" y="3541"/>
                  </a:lnTo>
                  <a:lnTo>
                    <a:pt x="5228107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85800" y="4160519"/>
              <a:ext cx="5273040" cy="2103120"/>
            </a:xfrm>
            <a:custGeom>
              <a:avLst/>
              <a:gdLst/>
              <a:ahLst/>
              <a:cxnLst/>
              <a:rect l="l" t="t" r="r" b="b"/>
              <a:pathLst>
                <a:path w="5273040" h="2103120">
                  <a:moveTo>
                    <a:pt x="0" y="44780"/>
                  </a:moveTo>
                  <a:lnTo>
                    <a:pt x="3541" y="27415"/>
                  </a:lnTo>
                  <a:lnTo>
                    <a:pt x="13176" y="13174"/>
                  </a:lnTo>
                  <a:lnTo>
                    <a:pt x="27416" y="3541"/>
                  </a:lnTo>
                  <a:lnTo>
                    <a:pt x="44775" y="0"/>
                  </a:lnTo>
                  <a:lnTo>
                    <a:pt x="5228107" y="0"/>
                  </a:lnTo>
                  <a:lnTo>
                    <a:pt x="5245471" y="3541"/>
                  </a:lnTo>
                  <a:lnTo>
                    <a:pt x="5259712" y="13174"/>
                  </a:lnTo>
                  <a:lnTo>
                    <a:pt x="5269346" y="27415"/>
                  </a:lnTo>
                  <a:lnTo>
                    <a:pt x="5272887" y="44780"/>
                  </a:lnTo>
                  <a:lnTo>
                    <a:pt x="5272887" y="2058339"/>
                  </a:lnTo>
                  <a:lnTo>
                    <a:pt x="5269346" y="2075698"/>
                  </a:lnTo>
                  <a:lnTo>
                    <a:pt x="5259712" y="2089940"/>
                  </a:lnTo>
                  <a:lnTo>
                    <a:pt x="5245471" y="2099577"/>
                  </a:lnTo>
                  <a:lnTo>
                    <a:pt x="5228107" y="2103120"/>
                  </a:lnTo>
                  <a:lnTo>
                    <a:pt x="44775" y="2103120"/>
                  </a:lnTo>
                  <a:lnTo>
                    <a:pt x="27416" y="2099577"/>
                  </a:lnTo>
                  <a:lnTo>
                    <a:pt x="13176" y="2089940"/>
                  </a:lnTo>
                  <a:lnTo>
                    <a:pt x="3541" y="2075698"/>
                  </a:lnTo>
                  <a:lnTo>
                    <a:pt x="0" y="2058339"/>
                  </a:lnTo>
                  <a:lnTo>
                    <a:pt x="0" y="44780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78408" y="4434839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80" h="55245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85800" y="4160520"/>
            <a:ext cx="5273040" cy="2103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292100">
              <a:lnSpc>
                <a:spcPct val="100000"/>
              </a:lnSpc>
              <a:spcBef>
                <a:spcPts val="5"/>
              </a:spcBef>
            </a:pPr>
            <a:r>
              <a:rPr sz="13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WHERE</a:t>
            </a:r>
            <a:r>
              <a:rPr sz="1300" b="1" spc="29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3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THE</a:t>
            </a:r>
            <a:r>
              <a:rPr sz="1300" b="1" spc="29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3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MODEL</a:t>
            </a:r>
            <a:r>
              <a:rPr sz="1300" b="1" spc="29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3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PERFORMS</a:t>
            </a:r>
            <a:r>
              <a:rPr sz="1300" b="1" spc="29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300" b="1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WELL</a:t>
            </a:r>
            <a:endParaRPr sz="1300">
              <a:latin typeface="Arial" panose="020B0604020202090204"/>
              <a:cs typeface="Arial" panose="020B0604020202090204"/>
            </a:endParaRPr>
          </a:p>
          <a:p>
            <a:pPr marL="520700" marR="791210" indent="-228600">
              <a:lnSpc>
                <a:spcPct val="108000"/>
              </a:lnSpc>
              <a:spcBef>
                <a:spcPts val="1010"/>
              </a:spcBef>
              <a:buClr>
                <a:srgbClr val="E1001A"/>
              </a:buClr>
              <a:buChar char="•"/>
              <a:tabLst>
                <a:tab pos="520700" algn="l"/>
              </a:tabLst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Good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balance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between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Precision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and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Recall,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reflected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by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the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68.20% 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F1-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score.</a:t>
            </a:r>
            <a:endParaRPr sz="1150">
              <a:latin typeface="Arial" panose="020B0604020202090204"/>
              <a:cs typeface="Arial" panose="020B0604020202090204"/>
            </a:endParaRPr>
          </a:p>
          <a:p>
            <a:pPr marL="520700" indent="-228600">
              <a:lnSpc>
                <a:spcPct val="100000"/>
              </a:lnSpc>
              <a:spcBef>
                <a:spcPts val="610"/>
              </a:spcBef>
              <a:buClr>
                <a:srgbClr val="E1001A"/>
              </a:buClr>
              <a:buChar char="•"/>
              <a:tabLst>
                <a:tab pos="520700" algn="l"/>
              </a:tabLst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Recall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improved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from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56.67%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to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67.50%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after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tuning.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26657" y="4154170"/>
            <a:ext cx="5285740" cy="2115820"/>
            <a:chOff x="6226657" y="4154170"/>
            <a:chExt cx="5285740" cy="2115820"/>
          </a:xfrm>
        </p:grpSpPr>
        <p:sp>
          <p:nvSpPr>
            <p:cNvPr id="21" name="object 21"/>
            <p:cNvSpPr/>
            <p:nvPr/>
          </p:nvSpPr>
          <p:spPr>
            <a:xfrm>
              <a:off x="6233007" y="4160519"/>
              <a:ext cx="5273040" cy="2103120"/>
            </a:xfrm>
            <a:custGeom>
              <a:avLst/>
              <a:gdLst/>
              <a:ahLst/>
              <a:cxnLst/>
              <a:rect l="l" t="t" r="r" b="b"/>
              <a:pathLst>
                <a:path w="5273040" h="2103120">
                  <a:moveTo>
                    <a:pt x="5228107" y="0"/>
                  </a:moveTo>
                  <a:lnTo>
                    <a:pt x="44775" y="0"/>
                  </a:lnTo>
                  <a:lnTo>
                    <a:pt x="27416" y="3541"/>
                  </a:lnTo>
                  <a:lnTo>
                    <a:pt x="13176" y="13174"/>
                  </a:lnTo>
                  <a:lnTo>
                    <a:pt x="3541" y="27415"/>
                  </a:lnTo>
                  <a:lnTo>
                    <a:pt x="0" y="44780"/>
                  </a:lnTo>
                  <a:lnTo>
                    <a:pt x="0" y="2058339"/>
                  </a:lnTo>
                  <a:lnTo>
                    <a:pt x="3541" y="2075698"/>
                  </a:lnTo>
                  <a:lnTo>
                    <a:pt x="13176" y="2089940"/>
                  </a:lnTo>
                  <a:lnTo>
                    <a:pt x="27416" y="2099577"/>
                  </a:lnTo>
                  <a:lnTo>
                    <a:pt x="44775" y="2103120"/>
                  </a:lnTo>
                  <a:lnTo>
                    <a:pt x="5228107" y="2103120"/>
                  </a:lnTo>
                  <a:lnTo>
                    <a:pt x="5245471" y="2099577"/>
                  </a:lnTo>
                  <a:lnTo>
                    <a:pt x="5259712" y="2089940"/>
                  </a:lnTo>
                  <a:lnTo>
                    <a:pt x="5269346" y="2075698"/>
                  </a:lnTo>
                  <a:lnTo>
                    <a:pt x="5272887" y="2058339"/>
                  </a:lnTo>
                  <a:lnTo>
                    <a:pt x="5272887" y="44780"/>
                  </a:lnTo>
                  <a:lnTo>
                    <a:pt x="5269346" y="27415"/>
                  </a:lnTo>
                  <a:lnTo>
                    <a:pt x="5259712" y="13174"/>
                  </a:lnTo>
                  <a:lnTo>
                    <a:pt x="5245471" y="3541"/>
                  </a:lnTo>
                  <a:lnTo>
                    <a:pt x="5228107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33007" y="4160519"/>
              <a:ext cx="5273040" cy="2103120"/>
            </a:xfrm>
            <a:custGeom>
              <a:avLst/>
              <a:gdLst/>
              <a:ahLst/>
              <a:cxnLst/>
              <a:rect l="l" t="t" r="r" b="b"/>
              <a:pathLst>
                <a:path w="5273040" h="2103120">
                  <a:moveTo>
                    <a:pt x="0" y="44780"/>
                  </a:moveTo>
                  <a:lnTo>
                    <a:pt x="3541" y="27415"/>
                  </a:lnTo>
                  <a:lnTo>
                    <a:pt x="13176" y="13174"/>
                  </a:lnTo>
                  <a:lnTo>
                    <a:pt x="27416" y="3541"/>
                  </a:lnTo>
                  <a:lnTo>
                    <a:pt x="44775" y="0"/>
                  </a:lnTo>
                  <a:lnTo>
                    <a:pt x="5228107" y="0"/>
                  </a:lnTo>
                  <a:lnTo>
                    <a:pt x="5245471" y="3541"/>
                  </a:lnTo>
                  <a:lnTo>
                    <a:pt x="5259712" y="13174"/>
                  </a:lnTo>
                  <a:lnTo>
                    <a:pt x="5269346" y="27415"/>
                  </a:lnTo>
                  <a:lnTo>
                    <a:pt x="5272887" y="44780"/>
                  </a:lnTo>
                  <a:lnTo>
                    <a:pt x="5272887" y="2058339"/>
                  </a:lnTo>
                  <a:lnTo>
                    <a:pt x="5269346" y="2075698"/>
                  </a:lnTo>
                  <a:lnTo>
                    <a:pt x="5259712" y="2089940"/>
                  </a:lnTo>
                  <a:lnTo>
                    <a:pt x="5245471" y="2099577"/>
                  </a:lnTo>
                  <a:lnTo>
                    <a:pt x="5228107" y="2103120"/>
                  </a:lnTo>
                  <a:lnTo>
                    <a:pt x="44775" y="2103120"/>
                  </a:lnTo>
                  <a:lnTo>
                    <a:pt x="27416" y="2099577"/>
                  </a:lnTo>
                  <a:lnTo>
                    <a:pt x="13176" y="2089940"/>
                  </a:lnTo>
                  <a:lnTo>
                    <a:pt x="3541" y="2075698"/>
                  </a:lnTo>
                  <a:lnTo>
                    <a:pt x="0" y="2058339"/>
                  </a:lnTo>
                  <a:lnTo>
                    <a:pt x="0" y="44780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525615" y="4434839"/>
              <a:ext cx="411480" cy="55244"/>
            </a:xfrm>
            <a:custGeom>
              <a:avLst/>
              <a:gdLst/>
              <a:ahLst/>
              <a:cxnLst/>
              <a:rect l="l" t="t" r="r" b="b"/>
              <a:pathLst>
                <a:path w="411479" h="55245">
                  <a:moveTo>
                    <a:pt x="411480" y="0"/>
                  </a:moveTo>
                  <a:lnTo>
                    <a:pt x="0" y="0"/>
                  </a:lnTo>
                  <a:lnTo>
                    <a:pt x="0" y="54864"/>
                  </a:lnTo>
                  <a:lnTo>
                    <a:pt x="411480" y="54864"/>
                  </a:lnTo>
                  <a:lnTo>
                    <a:pt x="411480" y="0"/>
                  </a:lnTo>
                  <a:close/>
                </a:path>
              </a:pathLst>
            </a:custGeom>
            <a:solidFill>
              <a:srgbClr val="E100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233007" y="4160520"/>
            <a:ext cx="5273040" cy="2103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292100">
              <a:lnSpc>
                <a:spcPct val="100000"/>
              </a:lnSpc>
              <a:spcBef>
                <a:spcPts val="5"/>
              </a:spcBef>
            </a:pPr>
            <a:r>
              <a:rPr sz="13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WHERE</a:t>
            </a:r>
            <a:r>
              <a:rPr sz="1300" b="1" spc="28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3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IT</a:t>
            </a:r>
            <a:r>
              <a:rPr sz="1300" b="1" spc="28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300" b="1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PERFORMS</a:t>
            </a:r>
            <a:r>
              <a:rPr sz="1300" b="1" spc="28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300" b="1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POORLY</a:t>
            </a:r>
            <a:endParaRPr sz="1300">
              <a:latin typeface="Arial" panose="020B0604020202090204"/>
              <a:cs typeface="Arial" panose="020B0604020202090204"/>
            </a:endParaRPr>
          </a:p>
          <a:p>
            <a:pPr marL="520700" indent="-228600">
              <a:lnSpc>
                <a:spcPct val="100000"/>
              </a:lnSpc>
              <a:spcBef>
                <a:spcPts val="1120"/>
              </a:spcBef>
              <a:buClr>
                <a:srgbClr val="E1001A"/>
              </a:buClr>
              <a:buChar char="•"/>
              <a:tabLst>
                <a:tab pos="520700" algn="l"/>
              </a:tabLst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30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of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60</a:t>
            </a:r>
            <a:r>
              <a:rPr sz="1150" spc="-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class-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1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cases</a:t>
            </a:r>
            <a:r>
              <a:rPr sz="1150" spc="-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were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misclassified</a:t>
            </a:r>
            <a:r>
              <a:rPr sz="1150" spc="-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as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class</a:t>
            </a:r>
            <a:r>
              <a:rPr sz="1150" spc="-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2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0.</a:t>
            </a:r>
            <a:endParaRPr sz="1150">
              <a:latin typeface="Arial" panose="020B0604020202090204"/>
              <a:cs typeface="Arial" panose="020B0604020202090204"/>
            </a:endParaRPr>
          </a:p>
          <a:p>
            <a:pPr marL="520700" indent="-228600">
              <a:lnSpc>
                <a:spcPct val="100000"/>
              </a:lnSpc>
              <a:spcBef>
                <a:spcPts val="610"/>
              </a:spcBef>
              <a:buClr>
                <a:srgbClr val="E1001A"/>
              </a:buClr>
              <a:buChar char="•"/>
              <a:tabLst>
                <a:tab pos="520700" algn="l"/>
              </a:tabLst>
            </a:pP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Overall</a:t>
            </a:r>
            <a:r>
              <a:rPr sz="1150" spc="-2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accuracy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after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tuning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is</a:t>
            </a:r>
            <a:r>
              <a:rPr sz="1150" spc="-15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50" spc="-10" dirty="0">
                <a:solidFill>
                  <a:srgbClr val="F3F3F3"/>
                </a:solidFill>
                <a:latin typeface="Arial" panose="020B0604020202090204"/>
                <a:cs typeface="Arial" panose="020B0604020202090204"/>
              </a:rPr>
              <a:t>74.50%.</a:t>
            </a:r>
            <a:endParaRPr sz="11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6403060"/>
            <a:ext cx="20199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900" spc="-6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spc="-1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900" spc="-6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900" spc="39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S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K</a:t>
            </a:r>
            <a:r>
              <a:rPr sz="900" spc="39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P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R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900" spc="-5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900" spc="-50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 N</a:t>
            </a:r>
            <a:endParaRPr sz="9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49648" y="6386055"/>
            <a:ext cx="1809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07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object 75"/>
          <p:cNvSpPr/>
          <p:nvPr/>
        </p:nvSpPr>
        <p:spPr>
          <a:xfrm>
            <a:off x="685800" y="226000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5">
                <a:moveTo>
                  <a:pt x="146304" y="0"/>
                </a:moveTo>
                <a:lnTo>
                  <a:pt x="0" y="0"/>
                </a:lnTo>
                <a:lnTo>
                  <a:pt x="0" y="146303"/>
                </a:lnTo>
                <a:lnTo>
                  <a:pt x="146304" y="146303"/>
                </a:lnTo>
                <a:lnTo>
                  <a:pt x="146304" y="0"/>
                </a:lnTo>
                <a:close/>
              </a:path>
            </a:pathLst>
          </a:custGeom>
          <a:solidFill>
            <a:srgbClr val="E100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929132" y="200248"/>
            <a:ext cx="29356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M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D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100" b="1" spc="1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100" b="1" spc="-1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X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C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U</a:t>
            </a:r>
            <a:r>
              <a:rPr sz="1100" b="1" spc="-1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T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O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100" b="1" spc="13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P</a:t>
            </a:r>
            <a:r>
              <a:rPr sz="1100" b="1" spc="-1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P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L</a:t>
            </a:r>
            <a:r>
              <a:rPr sz="1100" b="1" spc="-1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I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N</a:t>
            </a:r>
            <a:r>
              <a:rPr sz="1100" b="1" spc="-1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-5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E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788530" y="200248"/>
            <a:ext cx="1422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5F5F66"/>
                </a:solidFill>
                <a:latin typeface="Arial" panose="020B0604020202090204"/>
                <a:cs typeface="Arial" panose="020B0604020202090204"/>
              </a:rPr>
              <a:t>8.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8" name="object 58" descr="$PPTXTitle"/>
          <p:cNvSpPr txBox="1">
            <a:spLocks noGrp="1"/>
          </p:cNvSpPr>
          <p:nvPr>
            <p:ph type="title"/>
          </p:nvPr>
        </p:nvSpPr>
        <p:spPr>
          <a:xfrm>
            <a:off x="627380" y="412194"/>
            <a:ext cx="1840864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/>
              <a:t>LIVE</a:t>
            </a:r>
            <a:r>
              <a:rPr sz="2600" spc="-45" dirty="0"/>
              <a:t> </a:t>
            </a:r>
            <a:r>
              <a:rPr sz="2600" spc="-20" dirty="0"/>
              <a:t>DEMO</a:t>
            </a:r>
            <a:endParaRPr sz="2600"/>
          </a:p>
        </p:txBody>
      </p:sp>
      <p:grpSp>
        <p:nvGrpSpPr>
          <p:cNvPr id="5" name="object 5"/>
          <p:cNvGrpSpPr/>
          <p:nvPr/>
        </p:nvGrpSpPr>
        <p:grpSpPr>
          <a:xfrm>
            <a:off x="222250" y="869950"/>
            <a:ext cx="3444875" cy="1721485"/>
            <a:chOff x="222250" y="869950"/>
            <a:chExt cx="3444875" cy="1721485"/>
          </a:xfrm>
        </p:grpSpPr>
        <p:sp>
          <p:nvSpPr>
            <p:cNvPr id="6" name="object 6"/>
            <p:cNvSpPr/>
            <p:nvPr/>
          </p:nvSpPr>
          <p:spPr>
            <a:xfrm>
              <a:off x="228599" y="876299"/>
              <a:ext cx="3432175" cy="1708785"/>
            </a:xfrm>
            <a:custGeom>
              <a:avLst/>
              <a:gdLst/>
              <a:ahLst/>
              <a:cxnLst/>
              <a:rect l="l" t="t" r="r" b="b"/>
              <a:pathLst>
                <a:path w="3432175" h="1708785">
                  <a:moveTo>
                    <a:pt x="3380727" y="0"/>
                  </a:moveTo>
                  <a:lnTo>
                    <a:pt x="51251" y="0"/>
                  </a:lnTo>
                  <a:lnTo>
                    <a:pt x="31382" y="4054"/>
                  </a:lnTo>
                  <a:lnTo>
                    <a:pt x="15082" y="15084"/>
                  </a:lnTo>
                  <a:lnTo>
                    <a:pt x="4054" y="31386"/>
                  </a:lnTo>
                  <a:lnTo>
                    <a:pt x="0" y="51257"/>
                  </a:lnTo>
                  <a:lnTo>
                    <a:pt x="0" y="1657146"/>
                  </a:lnTo>
                  <a:lnTo>
                    <a:pt x="4054" y="1677017"/>
                  </a:lnTo>
                  <a:lnTo>
                    <a:pt x="15082" y="1693319"/>
                  </a:lnTo>
                  <a:lnTo>
                    <a:pt x="31382" y="1704349"/>
                  </a:lnTo>
                  <a:lnTo>
                    <a:pt x="51251" y="1708403"/>
                  </a:lnTo>
                  <a:lnTo>
                    <a:pt x="3380727" y="1708403"/>
                  </a:lnTo>
                  <a:lnTo>
                    <a:pt x="3400596" y="1704349"/>
                  </a:lnTo>
                  <a:lnTo>
                    <a:pt x="3416893" y="1693319"/>
                  </a:lnTo>
                  <a:lnTo>
                    <a:pt x="3427918" y="1677017"/>
                  </a:lnTo>
                  <a:lnTo>
                    <a:pt x="3431971" y="1657146"/>
                  </a:lnTo>
                  <a:lnTo>
                    <a:pt x="3431971" y="51257"/>
                  </a:lnTo>
                  <a:lnTo>
                    <a:pt x="3427918" y="31386"/>
                  </a:lnTo>
                  <a:lnTo>
                    <a:pt x="3416893" y="15084"/>
                  </a:lnTo>
                  <a:lnTo>
                    <a:pt x="3400596" y="4054"/>
                  </a:lnTo>
                  <a:lnTo>
                    <a:pt x="3380727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28599" y="876299"/>
              <a:ext cx="3432175" cy="1708785"/>
            </a:xfrm>
            <a:custGeom>
              <a:avLst/>
              <a:gdLst/>
              <a:ahLst/>
              <a:cxnLst/>
              <a:rect l="l" t="t" r="r" b="b"/>
              <a:pathLst>
                <a:path w="3432175" h="1708785">
                  <a:moveTo>
                    <a:pt x="0" y="51257"/>
                  </a:moveTo>
                  <a:lnTo>
                    <a:pt x="4054" y="31386"/>
                  </a:lnTo>
                  <a:lnTo>
                    <a:pt x="15082" y="15084"/>
                  </a:lnTo>
                  <a:lnTo>
                    <a:pt x="31382" y="4054"/>
                  </a:lnTo>
                  <a:lnTo>
                    <a:pt x="51251" y="0"/>
                  </a:lnTo>
                  <a:lnTo>
                    <a:pt x="3380727" y="0"/>
                  </a:lnTo>
                  <a:lnTo>
                    <a:pt x="3400596" y="4054"/>
                  </a:lnTo>
                  <a:lnTo>
                    <a:pt x="3416893" y="15084"/>
                  </a:lnTo>
                  <a:lnTo>
                    <a:pt x="3427918" y="31386"/>
                  </a:lnTo>
                  <a:lnTo>
                    <a:pt x="3431971" y="51257"/>
                  </a:lnTo>
                  <a:lnTo>
                    <a:pt x="3431971" y="1657146"/>
                  </a:lnTo>
                  <a:lnTo>
                    <a:pt x="3427918" y="1677017"/>
                  </a:lnTo>
                  <a:lnTo>
                    <a:pt x="3416893" y="1693319"/>
                  </a:lnTo>
                  <a:lnTo>
                    <a:pt x="3400596" y="1704349"/>
                  </a:lnTo>
                  <a:lnTo>
                    <a:pt x="3380727" y="1708403"/>
                  </a:lnTo>
                  <a:lnTo>
                    <a:pt x="51251" y="1708403"/>
                  </a:lnTo>
                  <a:lnTo>
                    <a:pt x="31382" y="1704349"/>
                  </a:lnTo>
                  <a:lnTo>
                    <a:pt x="15082" y="1693319"/>
                  </a:lnTo>
                  <a:lnTo>
                    <a:pt x="4054" y="1677017"/>
                  </a:lnTo>
                  <a:lnTo>
                    <a:pt x="0" y="1657146"/>
                  </a:lnTo>
                  <a:lnTo>
                    <a:pt x="0" y="51257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5" name="object 4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93871" y="981075"/>
            <a:ext cx="133350" cy="152400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336550" y="1289050"/>
            <a:ext cx="3216275" cy="930910"/>
            <a:chOff x="336550" y="1289050"/>
            <a:chExt cx="3216275" cy="930910"/>
          </a:xfrm>
        </p:grpSpPr>
        <p:sp>
          <p:nvSpPr>
            <p:cNvPr id="22" name="object 22"/>
            <p:cNvSpPr/>
            <p:nvPr/>
          </p:nvSpPr>
          <p:spPr>
            <a:xfrm>
              <a:off x="342899" y="1295399"/>
              <a:ext cx="3203575" cy="918210"/>
            </a:xfrm>
            <a:custGeom>
              <a:avLst/>
              <a:gdLst/>
              <a:ahLst/>
              <a:cxnLst/>
              <a:rect l="l" t="t" r="r" b="b"/>
              <a:pathLst>
                <a:path w="3203575" h="918210">
                  <a:moveTo>
                    <a:pt x="3148304" y="0"/>
                  </a:moveTo>
                  <a:lnTo>
                    <a:pt x="55069" y="0"/>
                  </a:lnTo>
                  <a:lnTo>
                    <a:pt x="33719" y="4355"/>
                  </a:lnTo>
                  <a:lnTo>
                    <a:pt x="16205" y="16203"/>
                  </a:lnTo>
                  <a:lnTo>
                    <a:pt x="4356" y="33716"/>
                  </a:lnTo>
                  <a:lnTo>
                    <a:pt x="0" y="55067"/>
                  </a:lnTo>
                  <a:lnTo>
                    <a:pt x="0" y="862749"/>
                  </a:lnTo>
                  <a:lnTo>
                    <a:pt x="4356" y="884101"/>
                  </a:lnTo>
                  <a:lnTo>
                    <a:pt x="16205" y="901619"/>
                  </a:lnTo>
                  <a:lnTo>
                    <a:pt x="33719" y="913471"/>
                  </a:lnTo>
                  <a:lnTo>
                    <a:pt x="55069" y="917828"/>
                  </a:lnTo>
                  <a:lnTo>
                    <a:pt x="3148304" y="917828"/>
                  </a:lnTo>
                  <a:lnTo>
                    <a:pt x="3169655" y="913471"/>
                  </a:lnTo>
                  <a:lnTo>
                    <a:pt x="3187168" y="901619"/>
                  </a:lnTo>
                  <a:lnTo>
                    <a:pt x="3199016" y="884101"/>
                  </a:lnTo>
                  <a:lnTo>
                    <a:pt x="3203371" y="862749"/>
                  </a:lnTo>
                  <a:lnTo>
                    <a:pt x="3203371" y="55067"/>
                  </a:lnTo>
                  <a:lnTo>
                    <a:pt x="3199016" y="33716"/>
                  </a:lnTo>
                  <a:lnTo>
                    <a:pt x="3187168" y="16203"/>
                  </a:lnTo>
                  <a:lnTo>
                    <a:pt x="3169655" y="4355"/>
                  </a:lnTo>
                  <a:lnTo>
                    <a:pt x="3148304" y="0"/>
                  </a:lnTo>
                  <a:close/>
                </a:path>
              </a:pathLst>
            </a:custGeom>
            <a:solidFill>
              <a:srgbClr val="0F0F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42899" y="1295399"/>
              <a:ext cx="3203575" cy="918210"/>
            </a:xfrm>
            <a:custGeom>
              <a:avLst/>
              <a:gdLst/>
              <a:ahLst/>
              <a:cxnLst/>
              <a:rect l="l" t="t" r="r" b="b"/>
              <a:pathLst>
                <a:path w="3203575" h="918210">
                  <a:moveTo>
                    <a:pt x="0" y="55067"/>
                  </a:moveTo>
                  <a:lnTo>
                    <a:pt x="4356" y="33716"/>
                  </a:lnTo>
                  <a:lnTo>
                    <a:pt x="16205" y="16203"/>
                  </a:lnTo>
                  <a:lnTo>
                    <a:pt x="33719" y="4355"/>
                  </a:lnTo>
                  <a:lnTo>
                    <a:pt x="55069" y="0"/>
                  </a:lnTo>
                  <a:lnTo>
                    <a:pt x="3148304" y="0"/>
                  </a:lnTo>
                  <a:lnTo>
                    <a:pt x="3169655" y="4355"/>
                  </a:lnTo>
                  <a:lnTo>
                    <a:pt x="3187168" y="16203"/>
                  </a:lnTo>
                  <a:lnTo>
                    <a:pt x="3199016" y="33716"/>
                  </a:lnTo>
                  <a:lnTo>
                    <a:pt x="3203371" y="55067"/>
                  </a:lnTo>
                  <a:lnTo>
                    <a:pt x="3203371" y="862749"/>
                  </a:lnTo>
                  <a:lnTo>
                    <a:pt x="3199016" y="884101"/>
                  </a:lnTo>
                  <a:lnTo>
                    <a:pt x="3187168" y="901619"/>
                  </a:lnTo>
                  <a:lnTo>
                    <a:pt x="3169655" y="913471"/>
                  </a:lnTo>
                  <a:lnTo>
                    <a:pt x="3148304" y="917828"/>
                  </a:lnTo>
                  <a:lnTo>
                    <a:pt x="55069" y="917828"/>
                  </a:lnTo>
                  <a:lnTo>
                    <a:pt x="33719" y="913471"/>
                  </a:lnTo>
                  <a:lnTo>
                    <a:pt x="16205" y="901619"/>
                  </a:lnTo>
                  <a:lnTo>
                    <a:pt x="4356" y="884101"/>
                  </a:lnTo>
                  <a:lnTo>
                    <a:pt x="0" y="862749"/>
                  </a:lnTo>
                  <a:lnTo>
                    <a:pt x="0" y="55067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949496" y="869950"/>
            <a:ext cx="3444875" cy="1721485"/>
            <a:chOff x="3949496" y="869950"/>
            <a:chExt cx="3444875" cy="1721485"/>
          </a:xfrm>
        </p:grpSpPr>
        <p:sp>
          <p:nvSpPr>
            <p:cNvPr id="9" name="object 9"/>
            <p:cNvSpPr/>
            <p:nvPr/>
          </p:nvSpPr>
          <p:spPr>
            <a:xfrm>
              <a:off x="3955846" y="876299"/>
              <a:ext cx="3432175" cy="1708785"/>
            </a:xfrm>
            <a:custGeom>
              <a:avLst/>
              <a:gdLst/>
              <a:ahLst/>
              <a:cxnLst/>
              <a:rect l="l" t="t" r="r" b="b"/>
              <a:pathLst>
                <a:path w="3432175" h="1708785">
                  <a:moveTo>
                    <a:pt x="3380727" y="0"/>
                  </a:moveTo>
                  <a:lnTo>
                    <a:pt x="51251" y="0"/>
                  </a:lnTo>
                  <a:lnTo>
                    <a:pt x="31382" y="4054"/>
                  </a:lnTo>
                  <a:lnTo>
                    <a:pt x="15082" y="15084"/>
                  </a:lnTo>
                  <a:lnTo>
                    <a:pt x="4054" y="31386"/>
                  </a:lnTo>
                  <a:lnTo>
                    <a:pt x="0" y="51257"/>
                  </a:lnTo>
                  <a:lnTo>
                    <a:pt x="0" y="1657146"/>
                  </a:lnTo>
                  <a:lnTo>
                    <a:pt x="4054" y="1677017"/>
                  </a:lnTo>
                  <a:lnTo>
                    <a:pt x="15082" y="1693319"/>
                  </a:lnTo>
                  <a:lnTo>
                    <a:pt x="31382" y="1704349"/>
                  </a:lnTo>
                  <a:lnTo>
                    <a:pt x="51251" y="1708403"/>
                  </a:lnTo>
                  <a:lnTo>
                    <a:pt x="3380727" y="1708403"/>
                  </a:lnTo>
                  <a:lnTo>
                    <a:pt x="3400596" y="1704349"/>
                  </a:lnTo>
                  <a:lnTo>
                    <a:pt x="3416893" y="1693319"/>
                  </a:lnTo>
                  <a:lnTo>
                    <a:pt x="3427918" y="1677017"/>
                  </a:lnTo>
                  <a:lnTo>
                    <a:pt x="3431971" y="1657146"/>
                  </a:lnTo>
                  <a:lnTo>
                    <a:pt x="3431971" y="51257"/>
                  </a:lnTo>
                  <a:lnTo>
                    <a:pt x="3427918" y="31386"/>
                  </a:lnTo>
                  <a:lnTo>
                    <a:pt x="3416893" y="15084"/>
                  </a:lnTo>
                  <a:lnTo>
                    <a:pt x="3400596" y="4054"/>
                  </a:lnTo>
                  <a:lnTo>
                    <a:pt x="3380727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955846" y="876299"/>
              <a:ext cx="3432175" cy="1708785"/>
            </a:xfrm>
            <a:custGeom>
              <a:avLst/>
              <a:gdLst/>
              <a:ahLst/>
              <a:cxnLst/>
              <a:rect l="l" t="t" r="r" b="b"/>
              <a:pathLst>
                <a:path w="3432175" h="1708785">
                  <a:moveTo>
                    <a:pt x="0" y="51257"/>
                  </a:moveTo>
                  <a:lnTo>
                    <a:pt x="4054" y="31386"/>
                  </a:lnTo>
                  <a:lnTo>
                    <a:pt x="15082" y="15084"/>
                  </a:lnTo>
                  <a:lnTo>
                    <a:pt x="31382" y="4054"/>
                  </a:lnTo>
                  <a:lnTo>
                    <a:pt x="51251" y="0"/>
                  </a:lnTo>
                  <a:lnTo>
                    <a:pt x="3380727" y="0"/>
                  </a:lnTo>
                  <a:lnTo>
                    <a:pt x="3400596" y="4054"/>
                  </a:lnTo>
                  <a:lnTo>
                    <a:pt x="3416893" y="15084"/>
                  </a:lnTo>
                  <a:lnTo>
                    <a:pt x="3427918" y="31386"/>
                  </a:lnTo>
                  <a:lnTo>
                    <a:pt x="3431971" y="51257"/>
                  </a:lnTo>
                  <a:lnTo>
                    <a:pt x="3431971" y="1657146"/>
                  </a:lnTo>
                  <a:lnTo>
                    <a:pt x="3427918" y="1677017"/>
                  </a:lnTo>
                  <a:lnTo>
                    <a:pt x="3416893" y="1693319"/>
                  </a:lnTo>
                  <a:lnTo>
                    <a:pt x="3400596" y="1704349"/>
                  </a:lnTo>
                  <a:lnTo>
                    <a:pt x="3380727" y="1708403"/>
                  </a:lnTo>
                  <a:lnTo>
                    <a:pt x="51251" y="1708403"/>
                  </a:lnTo>
                  <a:lnTo>
                    <a:pt x="31382" y="1704349"/>
                  </a:lnTo>
                  <a:lnTo>
                    <a:pt x="15082" y="1693319"/>
                  </a:lnTo>
                  <a:lnTo>
                    <a:pt x="4054" y="1677017"/>
                  </a:lnTo>
                  <a:lnTo>
                    <a:pt x="0" y="1657146"/>
                  </a:lnTo>
                  <a:lnTo>
                    <a:pt x="0" y="51257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4063796" y="1289050"/>
            <a:ext cx="3216275" cy="1188085"/>
            <a:chOff x="4063796" y="1289050"/>
            <a:chExt cx="3216275" cy="1188085"/>
          </a:xfrm>
        </p:grpSpPr>
        <p:sp>
          <p:nvSpPr>
            <p:cNvPr id="25" name="object 25"/>
            <p:cNvSpPr/>
            <p:nvPr/>
          </p:nvSpPr>
          <p:spPr>
            <a:xfrm>
              <a:off x="4070146" y="1295399"/>
              <a:ext cx="3203575" cy="1175385"/>
            </a:xfrm>
            <a:custGeom>
              <a:avLst/>
              <a:gdLst/>
              <a:ahLst/>
              <a:cxnLst/>
              <a:rect l="l" t="t" r="r" b="b"/>
              <a:pathLst>
                <a:path w="3203575" h="1175385">
                  <a:moveTo>
                    <a:pt x="3132874" y="0"/>
                  </a:moveTo>
                  <a:lnTo>
                    <a:pt x="70499" y="0"/>
                  </a:lnTo>
                  <a:lnTo>
                    <a:pt x="43168" y="5577"/>
                  </a:lnTo>
                  <a:lnTo>
                    <a:pt x="20746" y="20747"/>
                  </a:lnTo>
                  <a:lnTo>
                    <a:pt x="5576" y="43167"/>
                  </a:lnTo>
                  <a:lnTo>
                    <a:pt x="0" y="70497"/>
                  </a:lnTo>
                  <a:lnTo>
                    <a:pt x="0" y="1104493"/>
                  </a:lnTo>
                  <a:lnTo>
                    <a:pt x="5576" y="1131830"/>
                  </a:lnTo>
                  <a:lnTo>
                    <a:pt x="20746" y="1154255"/>
                  </a:lnTo>
                  <a:lnTo>
                    <a:pt x="43168" y="1169426"/>
                  </a:lnTo>
                  <a:lnTo>
                    <a:pt x="70499" y="1175003"/>
                  </a:lnTo>
                  <a:lnTo>
                    <a:pt x="3132874" y="1175003"/>
                  </a:lnTo>
                  <a:lnTo>
                    <a:pt x="3160203" y="1169426"/>
                  </a:lnTo>
                  <a:lnTo>
                    <a:pt x="3182624" y="1154255"/>
                  </a:lnTo>
                  <a:lnTo>
                    <a:pt x="3197794" y="1131830"/>
                  </a:lnTo>
                  <a:lnTo>
                    <a:pt x="3203371" y="1104493"/>
                  </a:lnTo>
                  <a:lnTo>
                    <a:pt x="3203371" y="70497"/>
                  </a:lnTo>
                  <a:lnTo>
                    <a:pt x="3197794" y="43167"/>
                  </a:lnTo>
                  <a:lnTo>
                    <a:pt x="3182624" y="20747"/>
                  </a:lnTo>
                  <a:lnTo>
                    <a:pt x="3160203" y="5577"/>
                  </a:lnTo>
                  <a:lnTo>
                    <a:pt x="3132874" y="0"/>
                  </a:lnTo>
                  <a:close/>
                </a:path>
              </a:pathLst>
            </a:custGeom>
            <a:solidFill>
              <a:srgbClr val="0F0F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070146" y="1295399"/>
              <a:ext cx="3203575" cy="1175385"/>
            </a:xfrm>
            <a:custGeom>
              <a:avLst/>
              <a:gdLst/>
              <a:ahLst/>
              <a:cxnLst/>
              <a:rect l="l" t="t" r="r" b="b"/>
              <a:pathLst>
                <a:path w="3203575" h="1175385">
                  <a:moveTo>
                    <a:pt x="0" y="70497"/>
                  </a:moveTo>
                  <a:lnTo>
                    <a:pt x="5576" y="43167"/>
                  </a:lnTo>
                  <a:lnTo>
                    <a:pt x="20746" y="20747"/>
                  </a:lnTo>
                  <a:lnTo>
                    <a:pt x="43168" y="5577"/>
                  </a:lnTo>
                  <a:lnTo>
                    <a:pt x="70499" y="0"/>
                  </a:lnTo>
                  <a:lnTo>
                    <a:pt x="3132874" y="0"/>
                  </a:lnTo>
                  <a:lnTo>
                    <a:pt x="3160203" y="5577"/>
                  </a:lnTo>
                  <a:lnTo>
                    <a:pt x="3182624" y="20747"/>
                  </a:lnTo>
                  <a:lnTo>
                    <a:pt x="3197794" y="43167"/>
                  </a:lnTo>
                  <a:lnTo>
                    <a:pt x="3203371" y="70497"/>
                  </a:lnTo>
                  <a:lnTo>
                    <a:pt x="3203371" y="1104493"/>
                  </a:lnTo>
                  <a:lnTo>
                    <a:pt x="3197794" y="1131830"/>
                  </a:lnTo>
                  <a:lnTo>
                    <a:pt x="3182624" y="1154255"/>
                  </a:lnTo>
                  <a:lnTo>
                    <a:pt x="3160203" y="1169426"/>
                  </a:lnTo>
                  <a:lnTo>
                    <a:pt x="3132874" y="1175003"/>
                  </a:lnTo>
                  <a:lnTo>
                    <a:pt x="70499" y="1175003"/>
                  </a:lnTo>
                  <a:lnTo>
                    <a:pt x="43168" y="1169426"/>
                  </a:lnTo>
                  <a:lnTo>
                    <a:pt x="20746" y="1154255"/>
                  </a:lnTo>
                  <a:lnTo>
                    <a:pt x="5576" y="1131830"/>
                  </a:lnTo>
                  <a:lnTo>
                    <a:pt x="0" y="1104493"/>
                  </a:lnTo>
                  <a:lnTo>
                    <a:pt x="0" y="70497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7676756" y="869950"/>
            <a:ext cx="4293235" cy="1721485"/>
            <a:chOff x="7676756" y="869950"/>
            <a:chExt cx="4293235" cy="1721485"/>
          </a:xfrm>
        </p:grpSpPr>
        <p:sp>
          <p:nvSpPr>
            <p:cNvPr id="12" name="object 12"/>
            <p:cNvSpPr/>
            <p:nvPr/>
          </p:nvSpPr>
          <p:spPr>
            <a:xfrm>
              <a:off x="7683106" y="876299"/>
              <a:ext cx="4280535" cy="1708785"/>
            </a:xfrm>
            <a:custGeom>
              <a:avLst/>
              <a:gdLst/>
              <a:ahLst/>
              <a:cxnLst/>
              <a:rect l="l" t="t" r="r" b="b"/>
              <a:pathLst>
                <a:path w="4280534" h="1708785">
                  <a:moveTo>
                    <a:pt x="4229188" y="0"/>
                  </a:moveTo>
                  <a:lnTo>
                    <a:pt x="51251" y="0"/>
                  </a:lnTo>
                  <a:lnTo>
                    <a:pt x="31382" y="4054"/>
                  </a:lnTo>
                  <a:lnTo>
                    <a:pt x="15082" y="15084"/>
                  </a:lnTo>
                  <a:lnTo>
                    <a:pt x="4054" y="31386"/>
                  </a:lnTo>
                  <a:lnTo>
                    <a:pt x="0" y="51257"/>
                  </a:lnTo>
                  <a:lnTo>
                    <a:pt x="0" y="1657146"/>
                  </a:lnTo>
                  <a:lnTo>
                    <a:pt x="4054" y="1677017"/>
                  </a:lnTo>
                  <a:lnTo>
                    <a:pt x="15082" y="1693319"/>
                  </a:lnTo>
                  <a:lnTo>
                    <a:pt x="31382" y="1704349"/>
                  </a:lnTo>
                  <a:lnTo>
                    <a:pt x="51251" y="1708403"/>
                  </a:lnTo>
                  <a:lnTo>
                    <a:pt x="4229188" y="1708403"/>
                  </a:lnTo>
                  <a:lnTo>
                    <a:pt x="4249060" y="1704349"/>
                  </a:lnTo>
                  <a:lnTo>
                    <a:pt x="4265361" y="1693319"/>
                  </a:lnTo>
                  <a:lnTo>
                    <a:pt x="4276391" y="1677017"/>
                  </a:lnTo>
                  <a:lnTo>
                    <a:pt x="4280446" y="1657146"/>
                  </a:lnTo>
                  <a:lnTo>
                    <a:pt x="4280446" y="51257"/>
                  </a:lnTo>
                  <a:lnTo>
                    <a:pt x="4276391" y="31386"/>
                  </a:lnTo>
                  <a:lnTo>
                    <a:pt x="4265361" y="15084"/>
                  </a:lnTo>
                  <a:lnTo>
                    <a:pt x="4249060" y="4054"/>
                  </a:lnTo>
                  <a:lnTo>
                    <a:pt x="4229188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683106" y="876299"/>
              <a:ext cx="4280535" cy="1708785"/>
            </a:xfrm>
            <a:custGeom>
              <a:avLst/>
              <a:gdLst/>
              <a:ahLst/>
              <a:cxnLst/>
              <a:rect l="l" t="t" r="r" b="b"/>
              <a:pathLst>
                <a:path w="4280534" h="1708785">
                  <a:moveTo>
                    <a:pt x="0" y="51257"/>
                  </a:moveTo>
                  <a:lnTo>
                    <a:pt x="4054" y="31386"/>
                  </a:lnTo>
                  <a:lnTo>
                    <a:pt x="15082" y="15084"/>
                  </a:lnTo>
                  <a:lnTo>
                    <a:pt x="31382" y="4054"/>
                  </a:lnTo>
                  <a:lnTo>
                    <a:pt x="51251" y="0"/>
                  </a:lnTo>
                  <a:lnTo>
                    <a:pt x="4229188" y="0"/>
                  </a:lnTo>
                  <a:lnTo>
                    <a:pt x="4249060" y="4054"/>
                  </a:lnTo>
                  <a:lnTo>
                    <a:pt x="4265361" y="15084"/>
                  </a:lnTo>
                  <a:lnTo>
                    <a:pt x="4276391" y="31386"/>
                  </a:lnTo>
                  <a:lnTo>
                    <a:pt x="4280446" y="51257"/>
                  </a:lnTo>
                  <a:lnTo>
                    <a:pt x="4280446" y="1657146"/>
                  </a:lnTo>
                  <a:lnTo>
                    <a:pt x="4276391" y="1677017"/>
                  </a:lnTo>
                  <a:lnTo>
                    <a:pt x="4265361" y="1693319"/>
                  </a:lnTo>
                  <a:lnTo>
                    <a:pt x="4249060" y="1704349"/>
                  </a:lnTo>
                  <a:lnTo>
                    <a:pt x="4229188" y="1708403"/>
                  </a:lnTo>
                  <a:lnTo>
                    <a:pt x="51251" y="1708403"/>
                  </a:lnTo>
                  <a:lnTo>
                    <a:pt x="31382" y="1704349"/>
                  </a:lnTo>
                  <a:lnTo>
                    <a:pt x="15082" y="1693319"/>
                  </a:lnTo>
                  <a:lnTo>
                    <a:pt x="4054" y="1677017"/>
                  </a:lnTo>
                  <a:lnTo>
                    <a:pt x="0" y="1657146"/>
                  </a:lnTo>
                  <a:lnTo>
                    <a:pt x="0" y="51257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7802" y="981075"/>
            <a:ext cx="152400" cy="152400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342900" y="1295400"/>
            <a:ext cx="3203575" cy="91821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3825" marR="447675">
              <a:lnSpc>
                <a:spcPts val="1200"/>
              </a:lnSpc>
              <a:spcBef>
                <a:spcPts val="840"/>
              </a:spcBef>
            </a:pP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Saved</a:t>
            </a:r>
            <a:r>
              <a:rPr sz="1050" spc="-4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successfully: data/processed/sample_applicants_data.csv</a:t>
            </a:r>
            <a:endParaRPr sz="105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050">
              <a:latin typeface="Arial" panose="020B0604020202090204"/>
              <a:cs typeface="Arial" panose="020B0604020202090204"/>
            </a:endParaRPr>
          </a:p>
          <a:p>
            <a:pPr marL="123825">
              <a:lnSpc>
                <a:spcPct val="100000"/>
              </a:lnSpc>
            </a:pP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Shape:</a:t>
            </a:r>
            <a:r>
              <a:rPr sz="1050" spc="-4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(10,</a:t>
            </a:r>
            <a:r>
              <a:rPr sz="1050" spc="-4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20)</a:t>
            </a:r>
            <a:endParaRPr sz="1050">
              <a:latin typeface="Arial" panose="020B0604020202090204"/>
              <a:cs typeface="Arial" panose="020B0604020202090204"/>
            </a:endParaRPr>
          </a:p>
        </p:txBody>
      </p:sp>
      <p:pic>
        <p:nvPicPr>
          <p:cNvPr id="41" name="object 4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55821" y="1644700"/>
            <a:ext cx="104774" cy="171450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83081" y="1644700"/>
            <a:ext cx="104774" cy="171450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342900" y="2270379"/>
            <a:ext cx="3203575" cy="9525"/>
          </a:xfrm>
          <a:custGeom>
            <a:avLst/>
            <a:gdLst/>
            <a:ahLst/>
            <a:cxnLst/>
            <a:rect l="l" t="t" r="r" b="b"/>
            <a:pathLst>
              <a:path w="3203575" h="9525">
                <a:moveTo>
                  <a:pt x="3203371" y="0"/>
                </a:moveTo>
                <a:lnTo>
                  <a:pt x="0" y="0"/>
                </a:lnTo>
                <a:lnTo>
                  <a:pt x="0" y="9525"/>
                </a:lnTo>
                <a:lnTo>
                  <a:pt x="3203371" y="9525"/>
                </a:lnTo>
                <a:lnTo>
                  <a:pt x="3203371" y="0"/>
                </a:lnTo>
                <a:close/>
              </a:path>
            </a:pathLst>
          </a:custGeom>
          <a:solidFill>
            <a:srgbClr val="2C2C3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" name="object 27"/>
          <p:cNvGrpSpPr/>
          <p:nvPr/>
        </p:nvGrpSpPr>
        <p:grpSpPr>
          <a:xfrm>
            <a:off x="7791056" y="1289050"/>
            <a:ext cx="4064635" cy="1188085"/>
            <a:chOff x="7791056" y="1289050"/>
            <a:chExt cx="4064635" cy="1188085"/>
          </a:xfrm>
        </p:grpSpPr>
        <p:sp>
          <p:nvSpPr>
            <p:cNvPr id="28" name="object 28"/>
            <p:cNvSpPr/>
            <p:nvPr/>
          </p:nvSpPr>
          <p:spPr>
            <a:xfrm>
              <a:off x="7797406" y="1295399"/>
              <a:ext cx="4051935" cy="1175385"/>
            </a:xfrm>
            <a:custGeom>
              <a:avLst/>
              <a:gdLst/>
              <a:ahLst/>
              <a:cxnLst/>
              <a:rect l="l" t="t" r="r" b="b"/>
              <a:pathLst>
                <a:path w="4051934" h="1175385">
                  <a:moveTo>
                    <a:pt x="3981348" y="0"/>
                  </a:moveTo>
                  <a:lnTo>
                    <a:pt x="70499" y="0"/>
                  </a:lnTo>
                  <a:lnTo>
                    <a:pt x="43168" y="5577"/>
                  </a:lnTo>
                  <a:lnTo>
                    <a:pt x="20746" y="20747"/>
                  </a:lnTo>
                  <a:lnTo>
                    <a:pt x="5576" y="43167"/>
                  </a:lnTo>
                  <a:lnTo>
                    <a:pt x="0" y="70497"/>
                  </a:lnTo>
                  <a:lnTo>
                    <a:pt x="0" y="1104493"/>
                  </a:lnTo>
                  <a:lnTo>
                    <a:pt x="5576" y="1131830"/>
                  </a:lnTo>
                  <a:lnTo>
                    <a:pt x="20746" y="1154255"/>
                  </a:lnTo>
                  <a:lnTo>
                    <a:pt x="43168" y="1169426"/>
                  </a:lnTo>
                  <a:lnTo>
                    <a:pt x="70499" y="1175003"/>
                  </a:lnTo>
                  <a:lnTo>
                    <a:pt x="3981348" y="1175003"/>
                  </a:lnTo>
                  <a:lnTo>
                    <a:pt x="4008678" y="1169426"/>
                  </a:lnTo>
                  <a:lnTo>
                    <a:pt x="4031099" y="1154255"/>
                  </a:lnTo>
                  <a:lnTo>
                    <a:pt x="4046269" y="1131830"/>
                  </a:lnTo>
                  <a:lnTo>
                    <a:pt x="4051846" y="1104493"/>
                  </a:lnTo>
                  <a:lnTo>
                    <a:pt x="4051846" y="70497"/>
                  </a:lnTo>
                  <a:lnTo>
                    <a:pt x="4046269" y="43167"/>
                  </a:lnTo>
                  <a:lnTo>
                    <a:pt x="4031099" y="20747"/>
                  </a:lnTo>
                  <a:lnTo>
                    <a:pt x="4008678" y="5577"/>
                  </a:lnTo>
                  <a:lnTo>
                    <a:pt x="3981348" y="0"/>
                  </a:lnTo>
                  <a:close/>
                </a:path>
              </a:pathLst>
            </a:custGeom>
            <a:solidFill>
              <a:srgbClr val="0F0F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797406" y="1295399"/>
              <a:ext cx="4051935" cy="1175385"/>
            </a:xfrm>
            <a:custGeom>
              <a:avLst/>
              <a:gdLst/>
              <a:ahLst/>
              <a:cxnLst/>
              <a:rect l="l" t="t" r="r" b="b"/>
              <a:pathLst>
                <a:path w="4051934" h="1175385">
                  <a:moveTo>
                    <a:pt x="0" y="70497"/>
                  </a:moveTo>
                  <a:lnTo>
                    <a:pt x="5576" y="43167"/>
                  </a:lnTo>
                  <a:lnTo>
                    <a:pt x="20746" y="20747"/>
                  </a:lnTo>
                  <a:lnTo>
                    <a:pt x="43168" y="5577"/>
                  </a:lnTo>
                  <a:lnTo>
                    <a:pt x="70499" y="0"/>
                  </a:lnTo>
                  <a:lnTo>
                    <a:pt x="3981348" y="0"/>
                  </a:lnTo>
                  <a:lnTo>
                    <a:pt x="4008678" y="5577"/>
                  </a:lnTo>
                  <a:lnTo>
                    <a:pt x="4031099" y="20747"/>
                  </a:lnTo>
                  <a:lnTo>
                    <a:pt x="4046269" y="43167"/>
                  </a:lnTo>
                  <a:lnTo>
                    <a:pt x="4051846" y="70497"/>
                  </a:lnTo>
                  <a:lnTo>
                    <a:pt x="4051846" y="1104493"/>
                  </a:lnTo>
                  <a:lnTo>
                    <a:pt x="4046269" y="1131830"/>
                  </a:lnTo>
                  <a:lnTo>
                    <a:pt x="4031099" y="1154255"/>
                  </a:lnTo>
                  <a:lnTo>
                    <a:pt x="4008678" y="1169426"/>
                  </a:lnTo>
                  <a:lnTo>
                    <a:pt x="3981348" y="1175003"/>
                  </a:lnTo>
                  <a:lnTo>
                    <a:pt x="70499" y="1175003"/>
                  </a:lnTo>
                  <a:lnTo>
                    <a:pt x="43168" y="1169426"/>
                  </a:lnTo>
                  <a:lnTo>
                    <a:pt x="20746" y="1154255"/>
                  </a:lnTo>
                  <a:lnTo>
                    <a:pt x="5576" y="1131830"/>
                  </a:lnTo>
                  <a:lnTo>
                    <a:pt x="0" y="1104493"/>
                  </a:lnTo>
                  <a:lnTo>
                    <a:pt x="0" y="70497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/>
          <p:nvPr/>
        </p:nvSpPr>
        <p:spPr>
          <a:xfrm>
            <a:off x="7921231" y="1843087"/>
            <a:ext cx="3804285" cy="9525"/>
          </a:xfrm>
          <a:custGeom>
            <a:avLst/>
            <a:gdLst/>
            <a:ahLst/>
            <a:cxnLst/>
            <a:rect l="l" t="t" r="r" b="b"/>
            <a:pathLst>
              <a:path w="3804284" h="9525">
                <a:moveTo>
                  <a:pt x="3804196" y="0"/>
                </a:moveTo>
                <a:lnTo>
                  <a:pt x="0" y="0"/>
                </a:lnTo>
                <a:lnTo>
                  <a:pt x="0" y="9525"/>
                </a:lnTo>
                <a:lnTo>
                  <a:pt x="3804196" y="9525"/>
                </a:lnTo>
                <a:lnTo>
                  <a:pt x="3804196" y="0"/>
                </a:lnTo>
                <a:close/>
              </a:path>
            </a:pathLst>
          </a:custGeom>
          <a:solidFill>
            <a:srgbClr val="2C2C3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0" name="object 5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2900" y="2327529"/>
            <a:ext cx="171450" cy="133350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228600" y="876300"/>
            <a:ext cx="3432175" cy="170878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650"/>
              </a:spcBef>
            </a:pPr>
            <a:r>
              <a:rPr sz="12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1</a:t>
            </a:r>
            <a:r>
              <a:rPr sz="1200" b="1" spc="365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baseline="6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SAMPLE</a:t>
            </a:r>
            <a:r>
              <a:rPr sz="1500" b="1" spc="-7" baseline="6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spc="-15" baseline="6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INPUT</a:t>
            </a:r>
            <a:endParaRPr sz="1500" baseline="60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</a:pPr>
            <a:endParaRPr sz="10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</a:pPr>
            <a:endParaRPr sz="10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</a:pPr>
            <a:endParaRPr sz="10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</a:pPr>
            <a:endParaRPr sz="10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</a:pPr>
            <a:endParaRPr sz="10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</a:pPr>
            <a:endParaRPr sz="10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</a:pPr>
            <a:endParaRPr sz="10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Arial" panose="020B0604020202090204"/>
              <a:cs typeface="Arial" panose="020B0604020202090204"/>
            </a:endParaRPr>
          </a:p>
          <a:p>
            <a:pPr marL="361950">
              <a:lnSpc>
                <a:spcPct val="100000"/>
              </a:lnSpc>
            </a:pPr>
            <a:r>
              <a:rPr sz="90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10</a:t>
            </a:r>
            <a:r>
              <a:rPr sz="900" b="1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applicants</a:t>
            </a:r>
            <a:r>
              <a:rPr sz="900" b="1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×</a:t>
            </a:r>
            <a:r>
              <a:rPr sz="900" b="1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20</a:t>
            </a:r>
            <a:r>
              <a:rPr sz="90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features</a:t>
            </a:r>
            <a:endParaRPr sz="9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955846" y="876300"/>
            <a:ext cx="3432175" cy="170878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650"/>
              </a:spcBef>
              <a:tabLst>
                <a:tab pos="423545" algn="l"/>
              </a:tabLst>
            </a:pPr>
            <a:r>
              <a:rPr sz="1200" b="1" spc="-5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2</a:t>
            </a:r>
            <a:r>
              <a:rPr sz="12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	</a:t>
            </a:r>
            <a:r>
              <a:rPr sz="1500" b="1" baseline="6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INPUT</a:t>
            </a:r>
            <a:r>
              <a:rPr sz="1500" b="1" spc="-30" baseline="6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500" b="1" spc="-15" baseline="6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VALIDATION</a:t>
            </a:r>
            <a:endParaRPr sz="1500" baseline="60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</a:pPr>
            <a:endParaRPr sz="10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000">
              <a:latin typeface="Arial" panose="020B0604020202090204"/>
              <a:cs typeface="Arial" panose="020B0604020202090204"/>
            </a:endParaRPr>
          </a:p>
          <a:p>
            <a:pPr marL="238125" marR="1741170">
              <a:lnSpc>
                <a:spcPct val="131000"/>
              </a:lnSpc>
            </a:pP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Exact</a:t>
            </a:r>
            <a:r>
              <a:rPr sz="1050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order</a:t>
            </a:r>
            <a:r>
              <a:rPr sz="1050" spc="-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match:</a:t>
            </a:r>
            <a:r>
              <a:rPr sz="1050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spc="-2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True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Missing</a:t>
            </a:r>
            <a:r>
              <a:rPr sz="1050" spc="-3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columns:</a:t>
            </a:r>
            <a:r>
              <a:rPr sz="1050" spc="-3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[]</a:t>
            </a:r>
            <a:r>
              <a:rPr sz="1050" spc="5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Extra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columns:</a:t>
            </a:r>
            <a:r>
              <a:rPr sz="1050" spc="-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[]</a:t>
            </a:r>
            <a:endParaRPr sz="10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683106" y="876300"/>
            <a:ext cx="4280535" cy="170878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650"/>
              </a:spcBef>
              <a:tabLst>
                <a:tab pos="423545" algn="l"/>
              </a:tabLst>
            </a:pPr>
            <a:r>
              <a:rPr sz="1200" b="1" spc="-5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3</a:t>
            </a:r>
            <a:r>
              <a:rPr sz="1200" b="1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	</a:t>
            </a:r>
            <a:r>
              <a:rPr sz="1500" b="1" spc="-15" baseline="6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PREPROCESSING</a:t>
            </a:r>
            <a:endParaRPr sz="1500" baseline="600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000">
              <a:latin typeface="Arial" panose="020B0604020202090204"/>
              <a:cs typeface="Arial" panose="020B0604020202090204"/>
            </a:endParaRPr>
          </a:p>
          <a:p>
            <a:pPr marL="238125">
              <a:lnSpc>
                <a:spcPct val="100000"/>
              </a:lnSpc>
            </a:pPr>
            <a:r>
              <a:rPr sz="1050" spc="-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2026-09-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28</a:t>
            </a:r>
            <a:r>
              <a:rPr sz="1050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13:18:03,980</a:t>
            </a:r>
            <a:r>
              <a:rPr sz="1050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-</a:t>
            </a:r>
            <a:r>
              <a:rPr sz="1050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INFO</a:t>
            </a:r>
            <a:r>
              <a:rPr sz="1050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-</a:t>
            </a:r>
            <a:r>
              <a:rPr sz="1050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Preprocessing</a:t>
            </a:r>
            <a:r>
              <a:rPr sz="1050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started.</a:t>
            </a:r>
            <a:endParaRPr sz="1050">
              <a:latin typeface="Arial" panose="020B0604020202090204"/>
              <a:cs typeface="Arial" panose="020B0604020202090204"/>
            </a:endParaRPr>
          </a:p>
          <a:p>
            <a:pPr marL="238125" marR="477520">
              <a:lnSpc>
                <a:spcPts val="1010"/>
              </a:lnSpc>
              <a:spcBef>
                <a:spcPts val="320"/>
              </a:spcBef>
            </a:pPr>
            <a:r>
              <a:rPr sz="1050" spc="-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2026-09-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28</a:t>
            </a:r>
            <a:r>
              <a:rPr sz="1050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13:18:04,987</a:t>
            </a:r>
            <a:r>
              <a:rPr sz="1050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-</a:t>
            </a:r>
            <a:r>
              <a:rPr sz="1050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INFO</a:t>
            </a:r>
            <a:r>
              <a:rPr sz="1050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-</a:t>
            </a:r>
            <a:r>
              <a:rPr sz="1050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Preprocessing</a:t>
            </a:r>
            <a:r>
              <a:rPr sz="1050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completed successfully.</a:t>
            </a:r>
            <a:endParaRPr sz="1050">
              <a:latin typeface="Arial" panose="020B0604020202090204"/>
              <a:cs typeface="Arial" panose="020B0604020202090204"/>
            </a:endParaRPr>
          </a:p>
          <a:p>
            <a:pPr marL="238125">
              <a:lnSpc>
                <a:spcPts val="1105"/>
              </a:lnSpc>
              <a:spcBef>
                <a:spcPts val="775"/>
              </a:spcBef>
            </a:pP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Raw</a:t>
            </a:r>
            <a:r>
              <a:rPr sz="1000" spc="-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input</a:t>
            </a:r>
            <a:r>
              <a:rPr sz="1000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shape:</a:t>
            </a:r>
            <a:r>
              <a:rPr sz="1000" spc="-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(10,</a:t>
            </a:r>
            <a:r>
              <a:rPr sz="1000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20)</a:t>
            </a:r>
            <a:endParaRPr sz="1000">
              <a:latin typeface="Arial" panose="020B0604020202090204"/>
              <a:cs typeface="Arial" panose="020B0604020202090204"/>
            </a:endParaRPr>
          </a:p>
          <a:p>
            <a:pPr marL="238125" marR="2038350">
              <a:lnSpc>
                <a:spcPts val="1010"/>
              </a:lnSpc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Transformed</a:t>
            </a:r>
            <a:r>
              <a:rPr sz="1000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output</a:t>
            </a:r>
            <a:r>
              <a:rPr sz="1000" spc="-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shape:</a:t>
            </a:r>
            <a:r>
              <a:rPr sz="1000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(10,</a:t>
            </a:r>
            <a:r>
              <a:rPr sz="1000" spc="-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61) </a:t>
            </a: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Transformed</a:t>
            </a:r>
            <a:r>
              <a:rPr sz="1000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data</a:t>
            </a:r>
            <a:r>
              <a:rPr sz="1000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type:</a:t>
            </a:r>
            <a:endParaRPr sz="100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2250" y="2692654"/>
            <a:ext cx="4886325" cy="3192780"/>
            <a:chOff x="222250" y="2692654"/>
            <a:chExt cx="4886325" cy="3192780"/>
          </a:xfrm>
        </p:grpSpPr>
        <p:sp>
          <p:nvSpPr>
            <p:cNvPr id="15" name="object 15"/>
            <p:cNvSpPr/>
            <p:nvPr/>
          </p:nvSpPr>
          <p:spPr>
            <a:xfrm>
              <a:off x="228599" y="2699003"/>
              <a:ext cx="4873625" cy="3180080"/>
            </a:xfrm>
            <a:custGeom>
              <a:avLst/>
              <a:gdLst/>
              <a:ahLst/>
              <a:cxnLst/>
              <a:rect l="l" t="t" r="r" b="b"/>
              <a:pathLst>
                <a:path w="4873625" h="3180079">
                  <a:moveTo>
                    <a:pt x="4778133" y="0"/>
                  </a:moveTo>
                  <a:lnTo>
                    <a:pt x="95386" y="0"/>
                  </a:lnTo>
                  <a:lnTo>
                    <a:pt x="58406" y="7544"/>
                  </a:lnTo>
                  <a:lnTo>
                    <a:pt x="28070" y="28068"/>
                  </a:lnTo>
                  <a:lnTo>
                    <a:pt x="7545" y="58405"/>
                  </a:lnTo>
                  <a:lnTo>
                    <a:pt x="0" y="95389"/>
                  </a:lnTo>
                  <a:lnTo>
                    <a:pt x="0" y="3084182"/>
                  </a:lnTo>
                  <a:lnTo>
                    <a:pt x="7545" y="3121159"/>
                  </a:lnTo>
                  <a:lnTo>
                    <a:pt x="28070" y="3151492"/>
                  </a:lnTo>
                  <a:lnTo>
                    <a:pt x="58406" y="3172014"/>
                  </a:lnTo>
                  <a:lnTo>
                    <a:pt x="95386" y="3179559"/>
                  </a:lnTo>
                  <a:lnTo>
                    <a:pt x="4778133" y="3179559"/>
                  </a:lnTo>
                  <a:lnTo>
                    <a:pt x="4815117" y="3172014"/>
                  </a:lnTo>
                  <a:lnTo>
                    <a:pt x="4845454" y="3151492"/>
                  </a:lnTo>
                  <a:lnTo>
                    <a:pt x="4865978" y="3121159"/>
                  </a:lnTo>
                  <a:lnTo>
                    <a:pt x="4873523" y="3084182"/>
                  </a:lnTo>
                  <a:lnTo>
                    <a:pt x="4873523" y="95389"/>
                  </a:lnTo>
                  <a:lnTo>
                    <a:pt x="4865978" y="58405"/>
                  </a:lnTo>
                  <a:lnTo>
                    <a:pt x="4845454" y="28068"/>
                  </a:lnTo>
                  <a:lnTo>
                    <a:pt x="4815117" y="7544"/>
                  </a:lnTo>
                  <a:lnTo>
                    <a:pt x="4778133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28599" y="2699003"/>
              <a:ext cx="4873625" cy="3180080"/>
            </a:xfrm>
            <a:custGeom>
              <a:avLst/>
              <a:gdLst/>
              <a:ahLst/>
              <a:cxnLst/>
              <a:rect l="l" t="t" r="r" b="b"/>
              <a:pathLst>
                <a:path w="4873625" h="3180079">
                  <a:moveTo>
                    <a:pt x="0" y="95389"/>
                  </a:moveTo>
                  <a:lnTo>
                    <a:pt x="7545" y="58405"/>
                  </a:lnTo>
                  <a:lnTo>
                    <a:pt x="28070" y="28068"/>
                  </a:lnTo>
                  <a:lnTo>
                    <a:pt x="58406" y="7544"/>
                  </a:lnTo>
                  <a:lnTo>
                    <a:pt x="95386" y="0"/>
                  </a:lnTo>
                  <a:lnTo>
                    <a:pt x="4778133" y="0"/>
                  </a:lnTo>
                  <a:lnTo>
                    <a:pt x="4815117" y="7544"/>
                  </a:lnTo>
                  <a:lnTo>
                    <a:pt x="4845454" y="28068"/>
                  </a:lnTo>
                  <a:lnTo>
                    <a:pt x="4865978" y="58405"/>
                  </a:lnTo>
                  <a:lnTo>
                    <a:pt x="4873523" y="95389"/>
                  </a:lnTo>
                  <a:lnTo>
                    <a:pt x="4873523" y="3084182"/>
                  </a:lnTo>
                  <a:lnTo>
                    <a:pt x="4865978" y="3121159"/>
                  </a:lnTo>
                  <a:lnTo>
                    <a:pt x="4845454" y="3151492"/>
                  </a:lnTo>
                  <a:lnTo>
                    <a:pt x="4815117" y="3172014"/>
                  </a:lnTo>
                  <a:lnTo>
                    <a:pt x="4778133" y="3179559"/>
                  </a:lnTo>
                  <a:lnTo>
                    <a:pt x="95386" y="3179559"/>
                  </a:lnTo>
                  <a:lnTo>
                    <a:pt x="58406" y="3172014"/>
                  </a:lnTo>
                  <a:lnTo>
                    <a:pt x="28070" y="3151492"/>
                  </a:lnTo>
                  <a:lnTo>
                    <a:pt x="7545" y="3121159"/>
                  </a:lnTo>
                  <a:lnTo>
                    <a:pt x="0" y="3084182"/>
                  </a:lnTo>
                  <a:lnTo>
                    <a:pt x="0" y="95389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387350" y="2769006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4</a:t>
            </a:r>
            <a:endParaRPr sz="1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20711" y="2783611"/>
            <a:ext cx="8089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PREDICTION</a:t>
            </a:r>
            <a:endParaRPr sz="1000">
              <a:latin typeface="Arial" panose="020B0604020202090204"/>
              <a:cs typeface="Arial" panose="020B0604020202090204"/>
            </a:endParaRPr>
          </a:p>
        </p:txBody>
      </p:sp>
      <p:pic>
        <p:nvPicPr>
          <p:cNvPr id="48" name="object 4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16373" y="2803779"/>
            <a:ext cx="152400" cy="152400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336550" y="3111754"/>
            <a:ext cx="4657725" cy="2659380"/>
            <a:chOff x="336550" y="3111754"/>
            <a:chExt cx="4657725" cy="2659380"/>
          </a:xfrm>
        </p:grpSpPr>
        <p:sp>
          <p:nvSpPr>
            <p:cNvPr id="31" name="object 31"/>
            <p:cNvSpPr/>
            <p:nvPr/>
          </p:nvSpPr>
          <p:spPr>
            <a:xfrm>
              <a:off x="342899" y="3118103"/>
              <a:ext cx="4645025" cy="2646680"/>
            </a:xfrm>
            <a:custGeom>
              <a:avLst/>
              <a:gdLst/>
              <a:ahLst/>
              <a:cxnLst/>
              <a:rect l="l" t="t" r="r" b="b"/>
              <a:pathLst>
                <a:path w="4645025" h="2646679">
                  <a:moveTo>
                    <a:pt x="4486160" y="0"/>
                  </a:moveTo>
                  <a:lnTo>
                    <a:pt x="158770" y="0"/>
                  </a:lnTo>
                  <a:lnTo>
                    <a:pt x="108812" y="8150"/>
                  </a:lnTo>
                  <a:lnTo>
                    <a:pt x="65256" y="30800"/>
                  </a:lnTo>
                  <a:lnTo>
                    <a:pt x="30802" y="65252"/>
                  </a:lnTo>
                  <a:lnTo>
                    <a:pt x="8150" y="108806"/>
                  </a:lnTo>
                  <a:lnTo>
                    <a:pt x="0" y="158762"/>
                  </a:lnTo>
                  <a:lnTo>
                    <a:pt x="0" y="2487396"/>
                  </a:lnTo>
                  <a:lnTo>
                    <a:pt x="8150" y="2537353"/>
                  </a:lnTo>
                  <a:lnTo>
                    <a:pt x="30802" y="2580906"/>
                  </a:lnTo>
                  <a:lnTo>
                    <a:pt x="65256" y="2615358"/>
                  </a:lnTo>
                  <a:lnTo>
                    <a:pt x="108812" y="2638009"/>
                  </a:lnTo>
                  <a:lnTo>
                    <a:pt x="158770" y="2646159"/>
                  </a:lnTo>
                  <a:lnTo>
                    <a:pt x="4486160" y="2646159"/>
                  </a:lnTo>
                  <a:lnTo>
                    <a:pt x="4536117" y="2638009"/>
                  </a:lnTo>
                  <a:lnTo>
                    <a:pt x="4579670" y="2615358"/>
                  </a:lnTo>
                  <a:lnTo>
                    <a:pt x="4614122" y="2580906"/>
                  </a:lnTo>
                  <a:lnTo>
                    <a:pt x="4636773" y="2537353"/>
                  </a:lnTo>
                  <a:lnTo>
                    <a:pt x="4644923" y="2487396"/>
                  </a:lnTo>
                  <a:lnTo>
                    <a:pt x="4644923" y="158762"/>
                  </a:lnTo>
                  <a:lnTo>
                    <a:pt x="4636773" y="108806"/>
                  </a:lnTo>
                  <a:lnTo>
                    <a:pt x="4614122" y="65252"/>
                  </a:lnTo>
                  <a:lnTo>
                    <a:pt x="4579670" y="30800"/>
                  </a:lnTo>
                  <a:lnTo>
                    <a:pt x="4536117" y="8150"/>
                  </a:lnTo>
                  <a:lnTo>
                    <a:pt x="4486160" y="0"/>
                  </a:lnTo>
                  <a:close/>
                </a:path>
              </a:pathLst>
            </a:custGeom>
            <a:solidFill>
              <a:srgbClr val="0F0F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42899" y="3118103"/>
              <a:ext cx="4645025" cy="2646680"/>
            </a:xfrm>
            <a:custGeom>
              <a:avLst/>
              <a:gdLst/>
              <a:ahLst/>
              <a:cxnLst/>
              <a:rect l="l" t="t" r="r" b="b"/>
              <a:pathLst>
                <a:path w="4645025" h="2646679">
                  <a:moveTo>
                    <a:pt x="0" y="158762"/>
                  </a:moveTo>
                  <a:lnTo>
                    <a:pt x="8150" y="108806"/>
                  </a:lnTo>
                  <a:lnTo>
                    <a:pt x="30802" y="65252"/>
                  </a:lnTo>
                  <a:lnTo>
                    <a:pt x="65256" y="30800"/>
                  </a:lnTo>
                  <a:lnTo>
                    <a:pt x="108812" y="8150"/>
                  </a:lnTo>
                  <a:lnTo>
                    <a:pt x="158770" y="0"/>
                  </a:lnTo>
                  <a:lnTo>
                    <a:pt x="4486160" y="0"/>
                  </a:lnTo>
                  <a:lnTo>
                    <a:pt x="4536117" y="8150"/>
                  </a:lnTo>
                  <a:lnTo>
                    <a:pt x="4579670" y="30800"/>
                  </a:lnTo>
                  <a:lnTo>
                    <a:pt x="4614122" y="65252"/>
                  </a:lnTo>
                  <a:lnTo>
                    <a:pt x="4636773" y="108806"/>
                  </a:lnTo>
                  <a:lnTo>
                    <a:pt x="4644923" y="158762"/>
                  </a:lnTo>
                  <a:lnTo>
                    <a:pt x="4644923" y="2487396"/>
                  </a:lnTo>
                  <a:lnTo>
                    <a:pt x="4636773" y="2537353"/>
                  </a:lnTo>
                  <a:lnTo>
                    <a:pt x="4614122" y="2580906"/>
                  </a:lnTo>
                  <a:lnTo>
                    <a:pt x="4579670" y="2615358"/>
                  </a:lnTo>
                  <a:lnTo>
                    <a:pt x="4536117" y="2638009"/>
                  </a:lnTo>
                  <a:lnTo>
                    <a:pt x="4486160" y="2646159"/>
                  </a:lnTo>
                  <a:lnTo>
                    <a:pt x="158770" y="2646159"/>
                  </a:lnTo>
                  <a:lnTo>
                    <a:pt x="108812" y="2638009"/>
                  </a:lnTo>
                  <a:lnTo>
                    <a:pt x="65256" y="2615358"/>
                  </a:lnTo>
                  <a:lnTo>
                    <a:pt x="30802" y="2580906"/>
                  </a:lnTo>
                  <a:lnTo>
                    <a:pt x="8150" y="2537353"/>
                  </a:lnTo>
                  <a:lnTo>
                    <a:pt x="0" y="2487396"/>
                  </a:lnTo>
                  <a:lnTo>
                    <a:pt x="0" y="158762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460375" y="4092079"/>
            <a:ext cx="4410075" cy="248285"/>
            <a:chOff x="460375" y="4092079"/>
            <a:chExt cx="4410075" cy="248285"/>
          </a:xfrm>
        </p:grpSpPr>
        <p:sp>
          <p:nvSpPr>
            <p:cNvPr id="39" name="object 39"/>
            <p:cNvSpPr/>
            <p:nvPr/>
          </p:nvSpPr>
          <p:spPr>
            <a:xfrm>
              <a:off x="466725" y="4098429"/>
              <a:ext cx="4397375" cy="235585"/>
            </a:xfrm>
            <a:custGeom>
              <a:avLst/>
              <a:gdLst/>
              <a:ahLst/>
              <a:cxnLst/>
              <a:rect l="l" t="t" r="r" b="b"/>
              <a:pathLst>
                <a:path w="4397375" h="235585">
                  <a:moveTo>
                    <a:pt x="4390910" y="0"/>
                  </a:moveTo>
                  <a:lnTo>
                    <a:pt x="6368" y="0"/>
                  </a:lnTo>
                  <a:lnTo>
                    <a:pt x="0" y="6362"/>
                  </a:lnTo>
                  <a:lnTo>
                    <a:pt x="0" y="14109"/>
                  </a:lnTo>
                  <a:lnTo>
                    <a:pt x="0" y="228777"/>
                  </a:lnTo>
                  <a:lnTo>
                    <a:pt x="6368" y="235153"/>
                  </a:lnTo>
                  <a:lnTo>
                    <a:pt x="4390910" y="235153"/>
                  </a:lnTo>
                  <a:lnTo>
                    <a:pt x="4397273" y="228777"/>
                  </a:lnTo>
                  <a:lnTo>
                    <a:pt x="4397273" y="6362"/>
                  </a:lnTo>
                  <a:lnTo>
                    <a:pt x="4390910" y="0"/>
                  </a:lnTo>
                  <a:close/>
                </a:path>
              </a:pathLst>
            </a:custGeom>
            <a:solidFill>
              <a:srgbClr val="0F0F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66725" y="4098429"/>
              <a:ext cx="4397375" cy="235585"/>
            </a:xfrm>
            <a:custGeom>
              <a:avLst/>
              <a:gdLst/>
              <a:ahLst/>
              <a:cxnLst/>
              <a:rect l="l" t="t" r="r" b="b"/>
              <a:pathLst>
                <a:path w="4397375" h="235585">
                  <a:moveTo>
                    <a:pt x="0" y="14109"/>
                  </a:moveTo>
                  <a:lnTo>
                    <a:pt x="0" y="6362"/>
                  </a:lnTo>
                  <a:lnTo>
                    <a:pt x="6368" y="0"/>
                  </a:lnTo>
                  <a:lnTo>
                    <a:pt x="14108" y="0"/>
                  </a:lnTo>
                  <a:lnTo>
                    <a:pt x="4383163" y="0"/>
                  </a:lnTo>
                  <a:lnTo>
                    <a:pt x="4390910" y="0"/>
                  </a:lnTo>
                  <a:lnTo>
                    <a:pt x="4397273" y="6362"/>
                  </a:lnTo>
                  <a:lnTo>
                    <a:pt x="4397273" y="14109"/>
                  </a:lnTo>
                  <a:lnTo>
                    <a:pt x="4397273" y="14109"/>
                  </a:lnTo>
                  <a:lnTo>
                    <a:pt x="4397273" y="221043"/>
                  </a:lnTo>
                  <a:lnTo>
                    <a:pt x="4397273" y="228777"/>
                  </a:lnTo>
                  <a:lnTo>
                    <a:pt x="4390910" y="235153"/>
                  </a:lnTo>
                  <a:lnTo>
                    <a:pt x="6368" y="235153"/>
                  </a:lnTo>
                  <a:lnTo>
                    <a:pt x="0" y="228777"/>
                  </a:lnTo>
                  <a:lnTo>
                    <a:pt x="0" y="221043"/>
                  </a:lnTo>
                  <a:lnTo>
                    <a:pt x="0" y="14109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3" name="object 4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97373" y="4203052"/>
            <a:ext cx="104774" cy="171450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5391048" y="2692654"/>
            <a:ext cx="6579234" cy="3192780"/>
            <a:chOff x="5391048" y="2692654"/>
            <a:chExt cx="6579234" cy="3192780"/>
          </a:xfrm>
        </p:grpSpPr>
        <p:sp>
          <p:nvSpPr>
            <p:cNvPr id="18" name="object 18"/>
            <p:cNvSpPr/>
            <p:nvPr/>
          </p:nvSpPr>
          <p:spPr>
            <a:xfrm>
              <a:off x="5397398" y="2699003"/>
              <a:ext cx="6566534" cy="3180080"/>
            </a:xfrm>
            <a:custGeom>
              <a:avLst/>
              <a:gdLst/>
              <a:ahLst/>
              <a:cxnLst/>
              <a:rect l="l" t="t" r="r" b="b"/>
              <a:pathLst>
                <a:path w="6566534" h="3180079">
                  <a:moveTo>
                    <a:pt x="6470611" y="0"/>
                  </a:moveTo>
                  <a:lnTo>
                    <a:pt x="95386" y="0"/>
                  </a:lnTo>
                  <a:lnTo>
                    <a:pt x="58406" y="7544"/>
                  </a:lnTo>
                  <a:lnTo>
                    <a:pt x="28070" y="28068"/>
                  </a:lnTo>
                  <a:lnTo>
                    <a:pt x="7545" y="58405"/>
                  </a:lnTo>
                  <a:lnTo>
                    <a:pt x="0" y="95389"/>
                  </a:lnTo>
                  <a:lnTo>
                    <a:pt x="0" y="3084182"/>
                  </a:lnTo>
                  <a:lnTo>
                    <a:pt x="7545" y="3121159"/>
                  </a:lnTo>
                  <a:lnTo>
                    <a:pt x="28070" y="3151492"/>
                  </a:lnTo>
                  <a:lnTo>
                    <a:pt x="58406" y="3172014"/>
                  </a:lnTo>
                  <a:lnTo>
                    <a:pt x="95386" y="3179559"/>
                  </a:lnTo>
                  <a:lnTo>
                    <a:pt x="6470611" y="3179559"/>
                  </a:lnTo>
                  <a:lnTo>
                    <a:pt x="6507590" y="3172014"/>
                  </a:lnTo>
                  <a:lnTo>
                    <a:pt x="6537928" y="3151492"/>
                  </a:lnTo>
                  <a:lnTo>
                    <a:pt x="6558455" y="3121159"/>
                  </a:lnTo>
                  <a:lnTo>
                    <a:pt x="6566001" y="3084182"/>
                  </a:lnTo>
                  <a:lnTo>
                    <a:pt x="6566001" y="95389"/>
                  </a:lnTo>
                  <a:lnTo>
                    <a:pt x="6558455" y="58405"/>
                  </a:lnTo>
                  <a:lnTo>
                    <a:pt x="6537928" y="28068"/>
                  </a:lnTo>
                  <a:lnTo>
                    <a:pt x="6507590" y="7544"/>
                  </a:lnTo>
                  <a:lnTo>
                    <a:pt x="6470611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397398" y="2699003"/>
              <a:ext cx="6566534" cy="3180080"/>
            </a:xfrm>
            <a:custGeom>
              <a:avLst/>
              <a:gdLst/>
              <a:ahLst/>
              <a:cxnLst/>
              <a:rect l="l" t="t" r="r" b="b"/>
              <a:pathLst>
                <a:path w="6566534" h="3180079">
                  <a:moveTo>
                    <a:pt x="0" y="95389"/>
                  </a:moveTo>
                  <a:lnTo>
                    <a:pt x="7545" y="58405"/>
                  </a:lnTo>
                  <a:lnTo>
                    <a:pt x="28070" y="28068"/>
                  </a:lnTo>
                  <a:lnTo>
                    <a:pt x="58406" y="7544"/>
                  </a:lnTo>
                  <a:lnTo>
                    <a:pt x="95386" y="0"/>
                  </a:lnTo>
                  <a:lnTo>
                    <a:pt x="6470611" y="0"/>
                  </a:lnTo>
                  <a:lnTo>
                    <a:pt x="6507590" y="7544"/>
                  </a:lnTo>
                  <a:lnTo>
                    <a:pt x="6537928" y="28068"/>
                  </a:lnTo>
                  <a:lnTo>
                    <a:pt x="6558455" y="58405"/>
                  </a:lnTo>
                  <a:lnTo>
                    <a:pt x="6566001" y="95389"/>
                  </a:lnTo>
                  <a:lnTo>
                    <a:pt x="6566001" y="3084182"/>
                  </a:lnTo>
                  <a:lnTo>
                    <a:pt x="6558455" y="3121159"/>
                  </a:lnTo>
                  <a:lnTo>
                    <a:pt x="6537928" y="3151492"/>
                  </a:lnTo>
                  <a:lnTo>
                    <a:pt x="6507590" y="3172014"/>
                  </a:lnTo>
                  <a:lnTo>
                    <a:pt x="6470611" y="3179559"/>
                  </a:lnTo>
                  <a:lnTo>
                    <a:pt x="95386" y="3179559"/>
                  </a:lnTo>
                  <a:lnTo>
                    <a:pt x="58406" y="3172014"/>
                  </a:lnTo>
                  <a:lnTo>
                    <a:pt x="28070" y="3151492"/>
                  </a:lnTo>
                  <a:lnTo>
                    <a:pt x="7545" y="3121159"/>
                  </a:lnTo>
                  <a:lnTo>
                    <a:pt x="0" y="3084182"/>
                  </a:lnTo>
                  <a:lnTo>
                    <a:pt x="0" y="95389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5556148" y="2769006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E1001A"/>
                </a:solidFill>
                <a:latin typeface="Arial" panose="020B0604020202090204"/>
                <a:cs typeface="Arial" panose="020B0604020202090204"/>
              </a:rPr>
              <a:t>5</a:t>
            </a:r>
            <a:endParaRPr sz="12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808560" y="2783611"/>
            <a:ext cx="10261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FINAL</a:t>
            </a:r>
            <a:r>
              <a:rPr sz="1000" b="1" spc="-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RESULTS</a:t>
            </a:r>
            <a:endParaRPr sz="1000">
              <a:latin typeface="Arial" panose="020B0604020202090204"/>
              <a:cs typeface="Arial" panose="020B0604020202090204"/>
            </a:endParaRPr>
          </a:p>
        </p:txBody>
      </p:sp>
      <p:pic>
        <p:nvPicPr>
          <p:cNvPr id="49" name="object 4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15750" y="2803779"/>
            <a:ext cx="114300" cy="152400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454025" y="3336328"/>
            <a:ext cx="4114800" cy="75692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1100"/>
              </a:lnSpc>
              <a:spcBef>
                <a:spcPts val="270"/>
              </a:spcBef>
            </a:pPr>
            <a:r>
              <a:rPr sz="1050" spc="-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2026-09-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28</a:t>
            </a:r>
            <a:r>
              <a:rPr sz="1050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13:18:03,980</a:t>
            </a:r>
            <a:r>
              <a:rPr sz="1050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-</a:t>
            </a:r>
            <a:r>
              <a:rPr sz="1050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INFO</a:t>
            </a:r>
            <a:r>
              <a:rPr sz="1050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-</a:t>
            </a:r>
            <a:r>
              <a:rPr sz="1050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Prediction</a:t>
            </a:r>
            <a:r>
              <a:rPr sz="1050" spc="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completed</a:t>
            </a:r>
            <a:r>
              <a:rPr sz="1050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successfully. </a:t>
            </a:r>
            <a:r>
              <a:rPr sz="1050" spc="-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2026-09-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28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13:18:03,982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-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INFO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-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Inference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latency: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18.628</a:t>
            </a:r>
            <a:r>
              <a:rPr sz="105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ms</a:t>
            </a:r>
            <a:endParaRPr sz="105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050">
              <a:latin typeface="Arial" panose="020B0604020202090204"/>
              <a:cs typeface="Arial" panose="020B06040202020902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Predicted</a:t>
            </a:r>
            <a:r>
              <a:rPr sz="1050" b="1" spc="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classes:</a:t>
            </a:r>
            <a:endParaRPr sz="1050">
              <a:latin typeface="Arial" panose="020B0604020202090204"/>
              <a:cs typeface="Arial" panose="020B0604020202090204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467248" y="3168154"/>
            <a:ext cx="6426835" cy="2565400"/>
            <a:chOff x="5467248" y="3168154"/>
            <a:chExt cx="6426835" cy="2565400"/>
          </a:xfrm>
        </p:grpSpPr>
        <p:sp>
          <p:nvSpPr>
            <p:cNvPr id="34" name="object 34"/>
            <p:cNvSpPr/>
            <p:nvPr/>
          </p:nvSpPr>
          <p:spPr>
            <a:xfrm>
              <a:off x="5473598" y="3174504"/>
              <a:ext cx="6414135" cy="2552700"/>
            </a:xfrm>
            <a:custGeom>
              <a:avLst/>
              <a:gdLst/>
              <a:ahLst/>
              <a:cxnLst/>
              <a:rect l="l" t="t" r="r" b="b"/>
              <a:pathLst>
                <a:path w="6414134" h="2552700">
                  <a:moveTo>
                    <a:pt x="6260465" y="0"/>
                  </a:moveTo>
                  <a:lnTo>
                    <a:pt x="153135" y="0"/>
                  </a:lnTo>
                  <a:lnTo>
                    <a:pt x="104950" y="7861"/>
                  </a:lnTo>
                  <a:lnTo>
                    <a:pt x="62940" y="29709"/>
                  </a:lnTo>
                  <a:lnTo>
                    <a:pt x="29709" y="62939"/>
                  </a:lnTo>
                  <a:lnTo>
                    <a:pt x="7861" y="104950"/>
                  </a:lnTo>
                  <a:lnTo>
                    <a:pt x="0" y="153136"/>
                  </a:lnTo>
                  <a:lnTo>
                    <a:pt x="0" y="2399118"/>
                  </a:lnTo>
                  <a:lnTo>
                    <a:pt x="7861" y="2447305"/>
                  </a:lnTo>
                  <a:lnTo>
                    <a:pt x="29709" y="2489315"/>
                  </a:lnTo>
                  <a:lnTo>
                    <a:pt x="62940" y="2522546"/>
                  </a:lnTo>
                  <a:lnTo>
                    <a:pt x="104950" y="2544394"/>
                  </a:lnTo>
                  <a:lnTo>
                    <a:pt x="153135" y="2552255"/>
                  </a:lnTo>
                  <a:lnTo>
                    <a:pt x="6260465" y="2552255"/>
                  </a:lnTo>
                  <a:lnTo>
                    <a:pt x="6308651" y="2544394"/>
                  </a:lnTo>
                  <a:lnTo>
                    <a:pt x="6350661" y="2522546"/>
                  </a:lnTo>
                  <a:lnTo>
                    <a:pt x="6383892" y="2489315"/>
                  </a:lnTo>
                  <a:lnTo>
                    <a:pt x="6405740" y="2447305"/>
                  </a:lnTo>
                  <a:lnTo>
                    <a:pt x="6413601" y="2399118"/>
                  </a:lnTo>
                  <a:lnTo>
                    <a:pt x="6413601" y="153136"/>
                  </a:lnTo>
                  <a:lnTo>
                    <a:pt x="6405740" y="104950"/>
                  </a:lnTo>
                  <a:lnTo>
                    <a:pt x="6383892" y="62939"/>
                  </a:lnTo>
                  <a:lnTo>
                    <a:pt x="6350661" y="29709"/>
                  </a:lnTo>
                  <a:lnTo>
                    <a:pt x="6308651" y="7861"/>
                  </a:lnTo>
                  <a:lnTo>
                    <a:pt x="6260465" y="0"/>
                  </a:lnTo>
                  <a:close/>
                </a:path>
              </a:pathLst>
            </a:custGeom>
            <a:solidFill>
              <a:srgbClr val="0F0F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473598" y="3174504"/>
              <a:ext cx="6414135" cy="2552700"/>
            </a:xfrm>
            <a:custGeom>
              <a:avLst/>
              <a:gdLst/>
              <a:ahLst/>
              <a:cxnLst/>
              <a:rect l="l" t="t" r="r" b="b"/>
              <a:pathLst>
                <a:path w="6414134" h="2552700">
                  <a:moveTo>
                    <a:pt x="0" y="153136"/>
                  </a:moveTo>
                  <a:lnTo>
                    <a:pt x="7861" y="104950"/>
                  </a:lnTo>
                  <a:lnTo>
                    <a:pt x="29709" y="62939"/>
                  </a:lnTo>
                  <a:lnTo>
                    <a:pt x="62940" y="29709"/>
                  </a:lnTo>
                  <a:lnTo>
                    <a:pt x="104950" y="7861"/>
                  </a:lnTo>
                  <a:lnTo>
                    <a:pt x="153135" y="0"/>
                  </a:lnTo>
                  <a:lnTo>
                    <a:pt x="6260465" y="0"/>
                  </a:lnTo>
                  <a:lnTo>
                    <a:pt x="6308651" y="7861"/>
                  </a:lnTo>
                  <a:lnTo>
                    <a:pt x="6350661" y="29709"/>
                  </a:lnTo>
                  <a:lnTo>
                    <a:pt x="6383892" y="62939"/>
                  </a:lnTo>
                  <a:lnTo>
                    <a:pt x="6405740" y="104950"/>
                  </a:lnTo>
                  <a:lnTo>
                    <a:pt x="6413601" y="153136"/>
                  </a:lnTo>
                  <a:lnTo>
                    <a:pt x="6413601" y="2399118"/>
                  </a:lnTo>
                  <a:lnTo>
                    <a:pt x="6405740" y="2447305"/>
                  </a:lnTo>
                  <a:lnTo>
                    <a:pt x="6383892" y="2489315"/>
                  </a:lnTo>
                  <a:lnTo>
                    <a:pt x="6350661" y="2522546"/>
                  </a:lnTo>
                  <a:lnTo>
                    <a:pt x="6308651" y="2544394"/>
                  </a:lnTo>
                  <a:lnTo>
                    <a:pt x="6260465" y="2552255"/>
                  </a:lnTo>
                  <a:lnTo>
                    <a:pt x="153135" y="2552255"/>
                  </a:lnTo>
                  <a:lnTo>
                    <a:pt x="104950" y="2544394"/>
                  </a:lnTo>
                  <a:lnTo>
                    <a:pt x="62940" y="2522546"/>
                  </a:lnTo>
                  <a:lnTo>
                    <a:pt x="29709" y="2489315"/>
                  </a:lnTo>
                  <a:lnTo>
                    <a:pt x="7861" y="2447305"/>
                  </a:lnTo>
                  <a:lnTo>
                    <a:pt x="0" y="2399118"/>
                  </a:lnTo>
                  <a:lnTo>
                    <a:pt x="0" y="153136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/>
          <p:nvPr/>
        </p:nvSpPr>
        <p:spPr>
          <a:xfrm>
            <a:off x="5521223" y="3668852"/>
            <a:ext cx="6366510" cy="223520"/>
          </a:xfrm>
          <a:custGeom>
            <a:avLst/>
            <a:gdLst/>
            <a:ahLst/>
            <a:cxnLst/>
            <a:rect l="l" t="t" r="r" b="b"/>
            <a:pathLst>
              <a:path w="6366509" h="223520">
                <a:moveTo>
                  <a:pt x="3096361" y="0"/>
                </a:moveTo>
                <a:lnTo>
                  <a:pt x="1538135" y="0"/>
                </a:lnTo>
                <a:lnTo>
                  <a:pt x="285750" y="0"/>
                </a:lnTo>
                <a:lnTo>
                  <a:pt x="0" y="0"/>
                </a:lnTo>
                <a:lnTo>
                  <a:pt x="0" y="223367"/>
                </a:lnTo>
                <a:lnTo>
                  <a:pt x="285750" y="223367"/>
                </a:lnTo>
                <a:lnTo>
                  <a:pt x="1538135" y="223367"/>
                </a:lnTo>
                <a:lnTo>
                  <a:pt x="3096361" y="223367"/>
                </a:lnTo>
                <a:lnTo>
                  <a:pt x="3096361" y="0"/>
                </a:lnTo>
                <a:close/>
              </a:path>
              <a:path w="6366509" h="223520">
                <a:moveTo>
                  <a:pt x="6365976" y="0"/>
                </a:moveTo>
                <a:lnTo>
                  <a:pt x="4654601" y="0"/>
                </a:lnTo>
                <a:lnTo>
                  <a:pt x="3096374" y="0"/>
                </a:lnTo>
                <a:lnTo>
                  <a:pt x="3096374" y="223367"/>
                </a:lnTo>
                <a:lnTo>
                  <a:pt x="4654601" y="223367"/>
                </a:lnTo>
                <a:lnTo>
                  <a:pt x="6365976" y="223367"/>
                </a:lnTo>
                <a:lnTo>
                  <a:pt x="6365976" y="0"/>
                </a:lnTo>
                <a:close/>
              </a:path>
            </a:pathLst>
          </a:custGeom>
          <a:solidFill>
            <a:srgbClr val="0F0F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466725" y="4098429"/>
            <a:ext cx="4397375" cy="23558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45"/>
              </a:spcBef>
            </a:pPr>
            <a:r>
              <a:rPr sz="10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[1</a:t>
            </a:r>
            <a:r>
              <a:rPr sz="105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2</a:t>
            </a:r>
            <a:r>
              <a:rPr sz="1050" b="1" spc="-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1</a:t>
            </a:r>
            <a:r>
              <a:rPr sz="105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1</a:t>
            </a:r>
            <a:r>
              <a:rPr sz="1050" b="1" spc="-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1</a:t>
            </a:r>
            <a:r>
              <a:rPr sz="1050" b="1" spc="-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2</a:t>
            </a:r>
            <a:r>
              <a:rPr sz="105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1</a:t>
            </a:r>
            <a:r>
              <a:rPr sz="1050" b="1" spc="-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1</a:t>
            </a:r>
            <a:r>
              <a:rPr sz="1050" b="1" spc="-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1</a:t>
            </a:r>
            <a:r>
              <a:rPr sz="105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spc="-2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2]</a:t>
            </a:r>
            <a:endParaRPr sz="10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521223" y="4115574"/>
            <a:ext cx="6366510" cy="223520"/>
          </a:xfrm>
          <a:custGeom>
            <a:avLst/>
            <a:gdLst/>
            <a:ahLst/>
            <a:cxnLst/>
            <a:rect l="l" t="t" r="r" b="b"/>
            <a:pathLst>
              <a:path w="6366509" h="223520">
                <a:moveTo>
                  <a:pt x="3096361" y="0"/>
                </a:moveTo>
                <a:lnTo>
                  <a:pt x="1538135" y="0"/>
                </a:lnTo>
                <a:lnTo>
                  <a:pt x="285750" y="0"/>
                </a:lnTo>
                <a:lnTo>
                  <a:pt x="0" y="0"/>
                </a:lnTo>
                <a:lnTo>
                  <a:pt x="0" y="223367"/>
                </a:lnTo>
                <a:lnTo>
                  <a:pt x="285750" y="223367"/>
                </a:lnTo>
                <a:lnTo>
                  <a:pt x="1538135" y="223367"/>
                </a:lnTo>
                <a:lnTo>
                  <a:pt x="3096361" y="223367"/>
                </a:lnTo>
                <a:lnTo>
                  <a:pt x="3096361" y="0"/>
                </a:lnTo>
                <a:close/>
              </a:path>
              <a:path w="6366509" h="223520">
                <a:moveTo>
                  <a:pt x="6365976" y="0"/>
                </a:moveTo>
                <a:lnTo>
                  <a:pt x="4654601" y="0"/>
                </a:lnTo>
                <a:lnTo>
                  <a:pt x="3096374" y="0"/>
                </a:lnTo>
                <a:lnTo>
                  <a:pt x="3096374" y="223367"/>
                </a:lnTo>
                <a:lnTo>
                  <a:pt x="4654601" y="223367"/>
                </a:lnTo>
                <a:lnTo>
                  <a:pt x="6365976" y="223367"/>
                </a:lnTo>
                <a:lnTo>
                  <a:pt x="6365976" y="0"/>
                </a:lnTo>
                <a:close/>
              </a:path>
            </a:pathLst>
          </a:custGeom>
          <a:solidFill>
            <a:srgbClr val="0F0F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454025" y="4592739"/>
            <a:ext cx="2152015" cy="9347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3848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Probability</a:t>
            </a:r>
            <a:r>
              <a:rPr sz="1050" b="1" spc="-5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matrix</a:t>
            </a:r>
            <a:r>
              <a:rPr sz="1050" b="1" spc="-5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shape: </a:t>
            </a:r>
            <a:r>
              <a:rPr sz="105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(10,</a:t>
            </a:r>
            <a:r>
              <a:rPr sz="1050" b="1" spc="-35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spc="-25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2)</a:t>
            </a:r>
            <a:endParaRPr sz="1050">
              <a:latin typeface="Arial" panose="020B0604020202090204"/>
              <a:cs typeface="Arial" panose="020B0604020202090204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050">
              <a:latin typeface="Arial" panose="020B0604020202090204"/>
              <a:cs typeface="Arial" panose="020B0604020202090204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0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First</a:t>
            </a:r>
            <a:r>
              <a:rPr sz="1050" b="1" spc="-2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applicant</a:t>
            </a:r>
            <a:r>
              <a:rPr sz="1050" b="1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probability</a:t>
            </a:r>
            <a:r>
              <a:rPr sz="1050" b="1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values: </a:t>
            </a:r>
            <a:r>
              <a:rPr sz="1050" b="1" spc="-1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[0.98442688</a:t>
            </a:r>
            <a:r>
              <a:rPr sz="1050" b="1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50" b="1" spc="-10" dirty="0">
                <a:solidFill>
                  <a:srgbClr val="FF0000"/>
                </a:solidFill>
                <a:latin typeface="Arial" panose="020B0604020202090204"/>
                <a:cs typeface="Arial" panose="020B0604020202090204"/>
              </a:rPr>
              <a:t>0.01557312]</a:t>
            </a:r>
            <a:endParaRPr sz="1050">
              <a:latin typeface="Arial" panose="020B0604020202090204"/>
              <a:cs typeface="Arial" panose="020B0604020202090204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521223" y="4562309"/>
            <a:ext cx="6366510" cy="223520"/>
          </a:xfrm>
          <a:custGeom>
            <a:avLst/>
            <a:gdLst/>
            <a:ahLst/>
            <a:cxnLst/>
            <a:rect l="l" t="t" r="r" b="b"/>
            <a:pathLst>
              <a:path w="6366509" h="223520">
                <a:moveTo>
                  <a:pt x="3096361" y="0"/>
                </a:moveTo>
                <a:lnTo>
                  <a:pt x="1538135" y="0"/>
                </a:lnTo>
                <a:lnTo>
                  <a:pt x="285750" y="0"/>
                </a:lnTo>
                <a:lnTo>
                  <a:pt x="0" y="0"/>
                </a:lnTo>
                <a:lnTo>
                  <a:pt x="0" y="223367"/>
                </a:lnTo>
                <a:lnTo>
                  <a:pt x="285750" y="223367"/>
                </a:lnTo>
                <a:lnTo>
                  <a:pt x="1538135" y="223367"/>
                </a:lnTo>
                <a:lnTo>
                  <a:pt x="3096361" y="223367"/>
                </a:lnTo>
                <a:lnTo>
                  <a:pt x="3096361" y="0"/>
                </a:lnTo>
                <a:close/>
              </a:path>
              <a:path w="6366509" h="223520">
                <a:moveTo>
                  <a:pt x="6365976" y="0"/>
                </a:moveTo>
                <a:lnTo>
                  <a:pt x="4654601" y="0"/>
                </a:lnTo>
                <a:lnTo>
                  <a:pt x="3096374" y="0"/>
                </a:lnTo>
                <a:lnTo>
                  <a:pt x="3096374" y="223367"/>
                </a:lnTo>
                <a:lnTo>
                  <a:pt x="4654601" y="223367"/>
                </a:lnTo>
                <a:lnTo>
                  <a:pt x="6365976" y="223367"/>
                </a:lnTo>
                <a:lnTo>
                  <a:pt x="6365976" y="0"/>
                </a:lnTo>
                <a:close/>
              </a:path>
            </a:pathLst>
          </a:custGeom>
          <a:solidFill>
            <a:srgbClr val="0F0F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521223" y="5009032"/>
            <a:ext cx="6366510" cy="223520"/>
          </a:xfrm>
          <a:custGeom>
            <a:avLst/>
            <a:gdLst/>
            <a:ahLst/>
            <a:cxnLst/>
            <a:rect l="l" t="t" r="r" b="b"/>
            <a:pathLst>
              <a:path w="6366509" h="223520">
                <a:moveTo>
                  <a:pt x="3096361" y="0"/>
                </a:moveTo>
                <a:lnTo>
                  <a:pt x="1538135" y="0"/>
                </a:lnTo>
                <a:lnTo>
                  <a:pt x="285750" y="0"/>
                </a:lnTo>
                <a:lnTo>
                  <a:pt x="0" y="0"/>
                </a:lnTo>
                <a:lnTo>
                  <a:pt x="0" y="223367"/>
                </a:lnTo>
                <a:lnTo>
                  <a:pt x="285750" y="223367"/>
                </a:lnTo>
                <a:lnTo>
                  <a:pt x="1538135" y="223367"/>
                </a:lnTo>
                <a:lnTo>
                  <a:pt x="3096361" y="223367"/>
                </a:lnTo>
                <a:lnTo>
                  <a:pt x="3096361" y="0"/>
                </a:lnTo>
                <a:close/>
              </a:path>
              <a:path w="6366509" h="223520">
                <a:moveTo>
                  <a:pt x="6365976" y="0"/>
                </a:moveTo>
                <a:lnTo>
                  <a:pt x="4654601" y="0"/>
                </a:lnTo>
                <a:lnTo>
                  <a:pt x="3096374" y="0"/>
                </a:lnTo>
                <a:lnTo>
                  <a:pt x="3096374" y="223367"/>
                </a:lnTo>
                <a:lnTo>
                  <a:pt x="4654601" y="223367"/>
                </a:lnTo>
                <a:lnTo>
                  <a:pt x="6365976" y="223367"/>
                </a:lnTo>
                <a:lnTo>
                  <a:pt x="6365976" y="0"/>
                </a:lnTo>
                <a:close/>
              </a:path>
            </a:pathLst>
          </a:custGeom>
          <a:solidFill>
            <a:srgbClr val="0F0F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521223" y="5455754"/>
            <a:ext cx="6366510" cy="223520"/>
          </a:xfrm>
          <a:custGeom>
            <a:avLst/>
            <a:gdLst/>
            <a:ahLst/>
            <a:cxnLst/>
            <a:rect l="l" t="t" r="r" b="b"/>
            <a:pathLst>
              <a:path w="6366509" h="223520">
                <a:moveTo>
                  <a:pt x="3096361" y="0"/>
                </a:moveTo>
                <a:lnTo>
                  <a:pt x="1538135" y="0"/>
                </a:lnTo>
                <a:lnTo>
                  <a:pt x="285750" y="0"/>
                </a:lnTo>
                <a:lnTo>
                  <a:pt x="0" y="0"/>
                </a:lnTo>
                <a:lnTo>
                  <a:pt x="0" y="223367"/>
                </a:lnTo>
                <a:lnTo>
                  <a:pt x="285750" y="223367"/>
                </a:lnTo>
                <a:lnTo>
                  <a:pt x="1538135" y="223367"/>
                </a:lnTo>
                <a:lnTo>
                  <a:pt x="3096361" y="223367"/>
                </a:lnTo>
                <a:lnTo>
                  <a:pt x="3096361" y="0"/>
                </a:lnTo>
                <a:close/>
              </a:path>
              <a:path w="6366509" h="223520">
                <a:moveTo>
                  <a:pt x="6365976" y="0"/>
                </a:moveTo>
                <a:lnTo>
                  <a:pt x="4654601" y="0"/>
                </a:lnTo>
                <a:lnTo>
                  <a:pt x="3096374" y="0"/>
                </a:lnTo>
                <a:lnTo>
                  <a:pt x="3096374" y="223367"/>
                </a:lnTo>
                <a:lnTo>
                  <a:pt x="4654601" y="223367"/>
                </a:lnTo>
                <a:lnTo>
                  <a:pt x="6365976" y="223367"/>
                </a:lnTo>
                <a:lnTo>
                  <a:pt x="6365976" y="0"/>
                </a:lnTo>
                <a:close/>
              </a:path>
            </a:pathLst>
          </a:custGeom>
          <a:solidFill>
            <a:srgbClr val="0F0F12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5521223" y="3222129"/>
          <a:ext cx="6518909" cy="2415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595"/>
                <a:gridCol w="1243965"/>
                <a:gridCol w="1536064"/>
                <a:gridCol w="1551939"/>
                <a:gridCol w="1716405"/>
                <a:gridCol w="75564"/>
              </a:tblGrid>
              <a:tr h="222885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b="1" spc="-25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::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E1001A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Predicted_Class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E1001A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Probability_Class_1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E1001A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Probability_Class_2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E1001A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b="1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Prediction_Confidence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E100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</a:tr>
              <a:tr h="222885">
                <a:tc>
                  <a:txBody>
                    <a:bodyPr/>
                    <a:lstStyle/>
                    <a:p>
                      <a:pPr marL="10731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1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b="1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1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0.984427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0.015573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0.984427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</a:tr>
              <a:tr h="222885">
                <a:tc>
                  <a:txBody>
                    <a:bodyPr/>
                    <a:lstStyle/>
                    <a:p>
                      <a:pPr marL="10731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2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b="1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2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0.168370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0.831630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0.831630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</a:tr>
              <a:tr h="222885">
                <a:tc>
                  <a:txBody>
                    <a:bodyPr/>
                    <a:lstStyle/>
                    <a:p>
                      <a:pPr marL="10731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3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b="1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1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0.923147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0.076853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0.923147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</a:tr>
              <a:tr h="222885">
                <a:tc>
                  <a:txBody>
                    <a:bodyPr/>
                    <a:lstStyle/>
                    <a:p>
                      <a:pPr marL="10731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4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b="1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1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0.751106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0.248894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0.751106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</a:tr>
              <a:tr h="222885">
                <a:tc>
                  <a:txBody>
                    <a:bodyPr/>
                    <a:lstStyle/>
                    <a:p>
                      <a:pPr marL="10731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5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b="1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1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0.857885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0.142115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0.857885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</a:tr>
              <a:tr h="222885">
                <a:tc>
                  <a:txBody>
                    <a:bodyPr/>
                    <a:lstStyle/>
                    <a:p>
                      <a:pPr marL="10731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6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b="1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2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0.359173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0.640827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0.640827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</a:tr>
              <a:tr h="222885">
                <a:tc>
                  <a:txBody>
                    <a:bodyPr/>
                    <a:lstStyle/>
                    <a:p>
                      <a:pPr marL="10731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7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b="1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1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0.984427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0.015573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0.984427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</a:tr>
              <a:tr h="222885">
                <a:tc>
                  <a:txBody>
                    <a:bodyPr/>
                    <a:lstStyle/>
                    <a:p>
                      <a:pPr marL="10731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8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b="1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2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0.168370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0.831630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0.831630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</a:tr>
              <a:tr h="222885">
                <a:tc>
                  <a:txBody>
                    <a:bodyPr/>
                    <a:lstStyle/>
                    <a:p>
                      <a:pPr marL="10731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9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b="1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1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0.923147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0.076853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0.923147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1616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</a:tr>
              <a:tr h="186690">
                <a:tc>
                  <a:txBody>
                    <a:bodyPr/>
                    <a:lstStyle/>
                    <a:p>
                      <a:pPr marL="71755">
                        <a:lnSpc>
                          <a:spcPts val="1110"/>
                        </a:lnSpc>
                        <a:spcBef>
                          <a:spcPts val="255"/>
                        </a:spcBef>
                      </a:pPr>
                      <a:r>
                        <a:rPr sz="1000" spc="-25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10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ts val="1110"/>
                        </a:lnSpc>
                        <a:spcBef>
                          <a:spcPts val="255"/>
                        </a:spcBef>
                      </a:pPr>
                      <a:r>
                        <a:rPr sz="1000" b="1" spc="-5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1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11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0.751106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11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0.248894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110"/>
                        </a:lnSpc>
                        <a:spcBef>
                          <a:spcPts val="255"/>
                        </a:spcBef>
                      </a:pPr>
                      <a:r>
                        <a:rPr sz="1000" spc="-10" dirty="0">
                          <a:solidFill>
                            <a:srgbClr val="FFFFFF"/>
                          </a:solidFill>
                          <a:latin typeface="Arial" panose="020B0604020202090204"/>
                          <a:cs typeface="Arial" panose="020B0604020202090204"/>
                        </a:rPr>
                        <a:t>0.751106</a:t>
                      </a:r>
                      <a:endParaRPr sz="1000">
                        <a:latin typeface="Arial" panose="020B0604020202090204"/>
                        <a:cs typeface="Arial" panose="020B0604020202090204"/>
                      </a:endParaRPr>
                    </a:p>
                  </a:txBody>
                  <a:tcPr marL="0" marR="0" marT="32384" marB="0"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2" name="object 2"/>
          <p:cNvGrpSpPr/>
          <p:nvPr/>
        </p:nvGrpSpPr>
        <p:grpSpPr>
          <a:xfrm>
            <a:off x="222250" y="5986513"/>
            <a:ext cx="11747500" cy="725805"/>
            <a:chOff x="222250" y="5986513"/>
            <a:chExt cx="11747500" cy="725805"/>
          </a:xfrm>
        </p:grpSpPr>
        <p:sp>
          <p:nvSpPr>
            <p:cNvPr id="3" name="object 3"/>
            <p:cNvSpPr/>
            <p:nvPr/>
          </p:nvSpPr>
          <p:spPr>
            <a:xfrm>
              <a:off x="228599" y="5992863"/>
              <a:ext cx="11734800" cy="713105"/>
            </a:xfrm>
            <a:custGeom>
              <a:avLst/>
              <a:gdLst/>
              <a:ahLst/>
              <a:cxnLst/>
              <a:rect l="l" t="t" r="r" b="b"/>
              <a:pathLst>
                <a:path w="11734800" h="713104">
                  <a:moveTo>
                    <a:pt x="11713425" y="0"/>
                  </a:moveTo>
                  <a:lnTo>
                    <a:pt x="21377" y="0"/>
                  </a:lnTo>
                  <a:lnTo>
                    <a:pt x="13089" y="1691"/>
                  </a:lnTo>
                  <a:lnTo>
                    <a:pt x="6291" y="6291"/>
                  </a:lnTo>
                  <a:lnTo>
                    <a:pt x="1691" y="13089"/>
                  </a:lnTo>
                  <a:lnTo>
                    <a:pt x="0" y="21374"/>
                  </a:lnTo>
                  <a:lnTo>
                    <a:pt x="0" y="691210"/>
                  </a:lnTo>
                  <a:lnTo>
                    <a:pt x="1691" y="699495"/>
                  </a:lnTo>
                  <a:lnTo>
                    <a:pt x="6291" y="706293"/>
                  </a:lnTo>
                  <a:lnTo>
                    <a:pt x="13089" y="710893"/>
                  </a:lnTo>
                  <a:lnTo>
                    <a:pt x="21377" y="712584"/>
                  </a:lnTo>
                  <a:lnTo>
                    <a:pt x="11713425" y="712584"/>
                  </a:lnTo>
                  <a:lnTo>
                    <a:pt x="11721710" y="710893"/>
                  </a:lnTo>
                  <a:lnTo>
                    <a:pt x="11728508" y="706293"/>
                  </a:lnTo>
                  <a:lnTo>
                    <a:pt x="11733108" y="699495"/>
                  </a:lnTo>
                  <a:lnTo>
                    <a:pt x="11734800" y="691210"/>
                  </a:lnTo>
                  <a:lnTo>
                    <a:pt x="11734800" y="21374"/>
                  </a:lnTo>
                  <a:lnTo>
                    <a:pt x="11733108" y="13089"/>
                  </a:lnTo>
                  <a:lnTo>
                    <a:pt x="11728508" y="6291"/>
                  </a:lnTo>
                  <a:lnTo>
                    <a:pt x="11721710" y="1691"/>
                  </a:lnTo>
                  <a:lnTo>
                    <a:pt x="11713425" y="0"/>
                  </a:lnTo>
                  <a:close/>
                </a:path>
              </a:pathLst>
            </a:custGeom>
            <a:solidFill>
              <a:srgbClr val="1616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28599" y="5992863"/>
              <a:ext cx="11734800" cy="713105"/>
            </a:xfrm>
            <a:custGeom>
              <a:avLst/>
              <a:gdLst/>
              <a:ahLst/>
              <a:cxnLst/>
              <a:rect l="l" t="t" r="r" b="b"/>
              <a:pathLst>
                <a:path w="11734800" h="713104">
                  <a:moveTo>
                    <a:pt x="0" y="21374"/>
                  </a:moveTo>
                  <a:lnTo>
                    <a:pt x="1691" y="13089"/>
                  </a:lnTo>
                  <a:lnTo>
                    <a:pt x="6291" y="6291"/>
                  </a:lnTo>
                  <a:lnTo>
                    <a:pt x="13089" y="1691"/>
                  </a:lnTo>
                  <a:lnTo>
                    <a:pt x="21377" y="0"/>
                  </a:lnTo>
                  <a:lnTo>
                    <a:pt x="11713425" y="0"/>
                  </a:lnTo>
                  <a:lnTo>
                    <a:pt x="11721710" y="1691"/>
                  </a:lnTo>
                  <a:lnTo>
                    <a:pt x="11728508" y="6291"/>
                  </a:lnTo>
                  <a:lnTo>
                    <a:pt x="11733108" y="13089"/>
                  </a:lnTo>
                  <a:lnTo>
                    <a:pt x="11734800" y="21374"/>
                  </a:lnTo>
                  <a:lnTo>
                    <a:pt x="11734800" y="691210"/>
                  </a:lnTo>
                  <a:lnTo>
                    <a:pt x="11733108" y="699495"/>
                  </a:lnTo>
                  <a:lnTo>
                    <a:pt x="11728508" y="706293"/>
                  </a:lnTo>
                  <a:lnTo>
                    <a:pt x="11721710" y="710893"/>
                  </a:lnTo>
                  <a:lnTo>
                    <a:pt x="11713425" y="712584"/>
                  </a:lnTo>
                  <a:lnTo>
                    <a:pt x="21377" y="712584"/>
                  </a:lnTo>
                  <a:lnTo>
                    <a:pt x="13089" y="710893"/>
                  </a:lnTo>
                  <a:lnTo>
                    <a:pt x="6291" y="706293"/>
                  </a:lnTo>
                  <a:lnTo>
                    <a:pt x="1691" y="699495"/>
                  </a:lnTo>
                  <a:lnTo>
                    <a:pt x="0" y="691210"/>
                  </a:lnTo>
                  <a:lnTo>
                    <a:pt x="0" y="21374"/>
                  </a:lnTo>
                  <a:close/>
                </a:path>
              </a:pathLst>
            </a:custGeom>
            <a:ln w="12699">
              <a:solidFill>
                <a:srgbClr val="2C2C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6" name="object 4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8150" y="6149136"/>
            <a:ext cx="400050" cy="400050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958850" y="6032174"/>
            <a:ext cx="2700020" cy="55689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20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LOGGING</a:t>
            </a:r>
            <a:endParaRPr sz="1200">
              <a:latin typeface="Arial" panose="020B0604020202090204"/>
              <a:cs typeface="Arial" panose="020B0604020202090204"/>
            </a:endParaRPr>
          </a:p>
          <a:p>
            <a:pPr marL="203200" indent="-76200">
              <a:lnSpc>
                <a:spcPts val="1160"/>
              </a:lnSpc>
              <a:spcBef>
                <a:spcPts val="195"/>
              </a:spcBef>
              <a:buSzPct val="85000"/>
              <a:buChar char="•"/>
              <a:tabLst>
                <a:tab pos="203200" algn="l"/>
              </a:tabLst>
            </a:pP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Prediction</a:t>
            </a:r>
            <a:r>
              <a:rPr sz="1000" spc="-4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completed</a:t>
            </a:r>
            <a:r>
              <a:rPr sz="1000" spc="-4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successfully.</a:t>
            </a:r>
            <a:endParaRPr sz="1000">
              <a:latin typeface="Arial" panose="020B0604020202090204"/>
              <a:cs typeface="Arial" panose="020B0604020202090204"/>
            </a:endParaRPr>
          </a:p>
          <a:p>
            <a:pPr marL="203200" indent="-76200">
              <a:lnSpc>
                <a:spcPts val="1160"/>
              </a:lnSpc>
              <a:buSzPct val="85000"/>
              <a:buChar char="•"/>
              <a:tabLst>
                <a:tab pos="203200" algn="l"/>
              </a:tabLst>
            </a:pP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Inference</a:t>
            </a:r>
            <a:r>
              <a:rPr sz="1000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latency</a:t>
            </a:r>
            <a:r>
              <a:rPr sz="1000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logged</a:t>
            </a:r>
            <a:r>
              <a:rPr sz="100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for</a:t>
            </a:r>
            <a:r>
              <a:rPr sz="1000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the</a:t>
            </a:r>
            <a:r>
              <a:rPr sz="100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full</a:t>
            </a:r>
            <a:r>
              <a:rPr sz="1000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pipeline.</a:t>
            </a:r>
            <a:endParaRPr sz="10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86437" y="6155525"/>
            <a:ext cx="19050" cy="387350"/>
          </a:xfrm>
          <a:custGeom>
            <a:avLst/>
            <a:gdLst/>
            <a:ahLst/>
            <a:cxnLst/>
            <a:rect l="l" t="t" r="r" b="b"/>
            <a:pathLst>
              <a:path w="19050" h="387350">
                <a:moveTo>
                  <a:pt x="19049" y="0"/>
                </a:moveTo>
                <a:lnTo>
                  <a:pt x="0" y="0"/>
                </a:lnTo>
                <a:lnTo>
                  <a:pt x="0" y="387096"/>
                </a:lnTo>
                <a:lnTo>
                  <a:pt x="19049" y="387096"/>
                </a:lnTo>
                <a:lnTo>
                  <a:pt x="19049" y="0"/>
                </a:lnTo>
                <a:close/>
              </a:path>
            </a:pathLst>
          </a:custGeom>
          <a:solidFill>
            <a:srgbClr val="2C2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8464550" y="6090615"/>
            <a:ext cx="15297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INFERENCE</a:t>
            </a:r>
            <a:r>
              <a:rPr sz="1100" b="1" spc="-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LATENCY</a:t>
            </a:r>
            <a:endParaRPr sz="1100">
              <a:latin typeface="Arial" panose="020B0604020202090204"/>
              <a:cs typeface="Arial" panose="020B0604020202090204"/>
            </a:endParaRPr>
          </a:p>
        </p:txBody>
      </p:sp>
      <p:pic>
        <p:nvPicPr>
          <p:cNvPr id="44" name="object 4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58150" y="6301536"/>
            <a:ext cx="266700" cy="304800"/>
          </a:xfrm>
          <a:prstGeom prst="rect">
            <a:avLst/>
          </a:prstGeom>
        </p:spPr>
      </p:pic>
      <p:sp>
        <p:nvSpPr>
          <p:cNvPr id="69" name="object 69"/>
          <p:cNvSpPr txBox="1"/>
          <p:nvPr/>
        </p:nvSpPr>
        <p:spPr>
          <a:xfrm>
            <a:off x="8464550" y="6239522"/>
            <a:ext cx="1482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1E3B"/>
                </a:solidFill>
                <a:latin typeface="Arial" panose="020B0604020202090204"/>
                <a:cs typeface="Arial" panose="020B0604020202090204"/>
              </a:rPr>
              <a:t>18.628</a:t>
            </a:r>
            <a:r>
              <a:rPr sz="2400" b="1" spc="-95" dirty="0">
                <a:solidFill>
                  <a:srgbClr val="FF1E3B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2400" b="1" spc="-25" dirty="0">
                <a:solidFill>
                  <a:srgbClr val="FF1E3B"/>
                </a:solidFill>
                <a:latin typeface="Arial" panose="020B0604020202090204"/>
                <a:cs typeface="Arial" panose="020B0604020202090204"/>
              </a:rPr>
              <a:t>ms</a:t>
            </a:r>
            <a:endParaRPr sz="2400">
              <a:latin typeface="Arial" panose="020B0604020202090204"/>
              <a:cs typeface="Arial" panose="020B0604020202090204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0112375" y="6395681"/>
            <a:ext cx="17938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(~0.019</a:t>
            </a:r>
            <a:r>
              <a:rPr sz="1000" b="1" spc="-15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sec</a:t>
            </a:r>
            <a:r>
              <a:rPr sz="100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for</a:t>
            </a:r>
            <a:r>
              <a:rPr sz="100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10</a:t>
            </a:r>
            <a:r>
              <a:rPr sz="1000" b="1" spc="-10" dirty="0">
                <a:solidFill>
                  <a:srgbClr val="FFFFFF"/>
                </a:solidFill>
                <a:latin typeface="Arial" panose="020B0604020202090204"/>
                <a:cs typeface="Arial" panose="020B0604020202090204"/>
              </a:rPr>
              <a:t> applicants)</a:t>
            </a:r>
            <a:endParaRPr sz="1000">
              <a:latin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65934" y="2248433"/>
            <a:ext cx="818451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530" dirty="0"/>
              <a:t>THAN</a:t>
            </a:r>
            <a:r>
              <a:rPr sz="10000" spc="-70" dirty="0"/>
              <a:t>K</a:t>
            </a:r>
            <a:r>
              <a:rPr sz="10000" spc="1195" dirty="0"/>
              <a:t> </a:t>
            </a:r>
            <a:r>
              <a:rPr sz="10000" spc="525" dirty="0"/>
              <a:t>YO</a:t>
            </a:r>
            <a:r>
              <a:rPr sz="10000" spc="-75" dirty="0"/>
              <a:t>U</a:t>
            </a:r>
            <a:endParaRPr sz="10000"/>
          </a:p>
        </p:txBody>
      </p:sp>
      <p:sp>
        <p:nvSpPr>
          <p:cNvPr id="3" name="object 3"/>
          <p:cNvSpPr/>
          <p:nvPr/>
        </p:nvSpPr>
        <p:spPr>
          <a:xfrm>
            <a:off x="5547359" y="4000004"/>
            <a:ext cx="1097280" cy="64135"/>
          </a:xfrm>
          <a:custGeom>
            <a:avLst/>
            <a:gdLst/>
            <a:ahLst/>
            <a:cxnLst/>
            <a:rect l="l" t="t" r="r" b="b"/>
            <a:pathLst>
              <a:path w="1097279" h="64135">
                <a:moveTo>
                  <a:pt x="1097280" y="0"/>
                </a:moveTo>
                <a:lnTo>
                  <a:pt x="0" y="0"/>
                </a:lnTo>
                <a:lnTo>
                  <a:pt x="0" y="64007"/>
                </a:lnTo>
                <a:lnTo>
                  <a:pt x="1097280" y="64007"/>
                </a:lnTo>
                <a:lnTo>
                  <a:pt x="1097280" y="0"/>
                </a:lnTo>
                <a:close/>
              </a:path>
            </a:pathLst>
          </a:custGeom>
          <a:solidFill>
            <a:srgbClr val="E1001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4926</Words>
  <Application>WPS Writer</Application>
  <PresentationFormat>On-screen Show (4:3)</PresentationFormat>
  <Paragraphs>460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Arial</vt:lpstr>
      <vt:lpstr>Yu Gothic</vt:lpstr>
      <vt:lpstr>Thonburi</vt:lpstr>
      <vt:lpstr>Times New Roman</vt:lpstr>
      <vt:lpstr>Microsoft YaHei</vt:lpstr>
      <vt:lpstr>汉仪旗黑</vt:lpstr>
      <vt:lpstr>Arial Unicode MS</vt:lpstr>
      <vt:lpstr>Calibri</vt:lpstr>
      <vt:lpstr>Helvetica Neue</vt:lpstr>
      <vt:lpstr>宋体-简</vt:lpstr>
      <vt:lpstr>Office Theme</vt:lpstr>
      <vt:lpstr>CREDIT RISK PREDICTION</vt:lpstr>
      <vt:lpstr>PROBLEM STATEMENT &amp; OBJECTIVE</vt:lpstr>
      <vt:lpstr>UCI Statlog (German Credit Data)</vt:lpstr>
      <vt:lpstr>DATA PREPARATION &amp; EDA</vt:lpstr>
      <vt:lpstr>EXPLORATORY DATA ANALYSIS</vt:lpstr>
      <vt:lpstr>MACHINE LEARNING APPROACH</vt:lpstr>
      <vt:lpstr>MODEL EVALUATION</vt:lpstr>
      <vt:lpstr>LIVE DEMO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PREDICTION</dc:title>
  <dc:creator/>
  <cp:lastModifiedBy>tejash reddy</cp:lastModifiedBy>
  <cp:revision>1</cp:revision>
  <dcterms:created xsi:type="dcterms:W3CDTF">2026-09-30T06:35:58Z</dcterms:created>
  <dcterms:modified xsi:type="dcterms:W3CDTF">2026-09-30T06:35:58Z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2026-09-30T05:30:00Z</vt:filetime>
  </property>
  <property fmtid="{D5CDD505-2E9C-101B-9397-08002B2CF9AE}" pid="4" name="LastSaved">
    <vt:filetime>2026-09-30T05:30:00Z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ICV">
    <vt:lpwstr>280369BD0D10F262CEADBC6A2B61847F_42</vt:lpwstr>
  </property>
  <property fmtid="{D5CDD505-2E9C-101B-9397-08002B2CF9AE}" pid="7" name="KSOProductBuildVer">
    <vt:lpwstr>1033-6.13.1.8709</vt:lpwstr>
  </property>
</Properties>
</file>